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1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1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29.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4.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49.xml" ContentType="application/vnd.openxmlformats-officedocument.presentationml.slide+xml"/>
  <Override PartName="/ppt/slides/slide20.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42.xml" ContentType="application/vnd.openxmlformats-officedocument.presentationml.slide+xml"/>
  <Override PartName="/ppt/slides/slide12.xml" ContentType="application/vnd.openxmlformats-officedocument.presentationml.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pPr algn="ctr" defTabSz="457200">
              <a:tabLst>
                <a:tab pos="0" algn="l"/>
              </a:tabLst>
            </a:pPr>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5"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66"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67"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68"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DAE6639-E8D8-4379-A62F-50BDDD73923B}"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2" name="PlaceHolder 1"/>
          <p:cNvSpPr>
            <a:spLocks noGrp="1"/>
          </p:cNvSpPr>
          <p:nvPr>
            <p:ph type="sldImg"/>
          </p:nvPr>
        </p:nvSpPr>
        <p:spPr>
          <a:xfrm>
            <a:off x="777240" y="942840"/>
            <a:ext cx="6217200" cy="2545560"/>
          </a:xfrm>
          <a:prstGeom prst="rect">
            <a:avLst/>
          </a:prstGeom>
          <a:ln w="0">
            <a:noFill/>
          </a:ln>
        </p:spPr>
      </p:sp>
      <p:sp>
        <p:nvSpPr>
          <p:cNvPr id="1003" name="PlaceHolder 2"/>
          <p:cNvSpPr>
            <a:spLocks noGrp="1"/>
          </p:cNvSpPr>
          <p:nvPr>
            <p:ph type="body"/>
          </p:nvPr>
        </p:nvSpPr>
        <p:spPr>
          <a:xfrm>
            <a:off x="777240" y="3630240"/>
            <a:ext cx="6217200" cy="296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4" name="PlaceHolder 3"/>
          <p:cNvSpPr>
            <a:spLocks noGrp="1"/>
          </p:cNvSpPr>
          <p:nvPr>
            <p:ph type="sldNum" idx="37"/>
          </p:nvPr>
        </p:nvSpPr>
        <p:spPr>
          <a:xfrm>
            <a:off x="4402440" y="7165080"/>
            <a:ext cx="3367440" cy="3776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27B46F2-811C-410F-B926-ABD64854EA0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83425F5E-3CC8-4CE8-BD91-D4A613F48E4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6" name="PlaceHolder 5"/>
          <p:cNvSpPr>
            <a:spLocks noGrp="1"/>
          </p:cNvSpPr>
          <p:nvPr>
            <p:ph type="body"/>
          </p:nvPr>
        </p:nvSpPr>
        <p:spPr>
          <a:xfrm>
            <a:off x="609480" y="1604520"/>
            <a:ext cx="10972080" cy="3976200"/>
          </a:xfrm>
          <a:prstGeom prst="rect">
            <a:avLst/>
          </a:prstGeom>
          <a:noFill/>
          <a:ln w="0">
            <a:noFill/>
          </a:ln>
        </p:spPr>
        <p:txBody>
          <a:bodyPr lIns="0" tIns="0" rIns="0" bIns="0" anchor="t">
            <a:norm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lnSpc>
                <a:spcPct val="100000"/>
              </a:lnSpc>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lnSpc>
                <a:spcPct val="100000"/>
              </a:lnSpc>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lnSpc>
                <a:spcPct val="100000"/>
              </a:lnSpc>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lnSpc>
                <a:spcPct val="100000"/>
              </a:lnSpc>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2880"/>
            <a:ext cx="3007440" cy="116136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a:t>
            </a:r>
            <a:r>
              <a:rPr lang="en-US" sz="2000" b="1" u="none" strike="noStrike">
                <a:solidFill>
                  <a:schemeClr val="dk1"/>
                </a:solidFill>
                <a:effectLst/>
                <a:uFillTx/>
                <a:latin typeface="Calibri"/>
              </a:rPr>
              <a:t>Master title style</a:t>
            </a:r>
            <a:endParaRPr lang="en-US" sz="2000" b="1" u="none" strike="noStrike">
              <a:solidFill>
                <a:schemeClr val="dk1"/>
              </a:solidFill>
              <a:effectLst/>
              <a:uFillTx/>
              <a:latin typeface="Calibri"/>
            </a:endParaRPr>
          </a:p>
        </p:txBody>
      </p:sp>
      <p:sp>
        <p:nvSpPr>
          <p:cNvPr id="8" name="PlaceHolder 2"/>
          <p:cNvSpPr>
            <a:spLocks noGrp="1"/>
          </p:cNvSpPr>
          <p:nvPr>
            <p:ph type="body"/>
          </p:nvPr>
        </p:nvSpPr>
        <p:spPr>
          <a:xfrm>
            <a:off x="3575160" y="272880"/>
            <a:ext cx="5110920" cy="585252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9" name="PlaceHolder 3"/>
          <p:cNvSpPr>
            <a:spLocks noGrp="1"/>
          </p:cNvSpPr>
          <p:nvPr>
            <p:ph type="body"/>
          </p:nvPr>
        </p:nvSpPr>
        <p:spPr>
          <a:xfrm>
            <a:off x="457200" y="1434960"/>
            <a:ext cx="3007440" cy="46904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0" name="PlaceHolder 4"/>
          <p:cNvSpPr>
            <a:spLocks noGrp="1"/>
          </p:cNvSpPr>
          <p:nvPr>
            <p:ph type="dt" idx="4"/>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B6A4FF1E-8124-4D51-9C40-E7CDAEB6DE1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792440" y="4800600"/>
            <a:ext cx="5485680" cy="56592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2000" b="1" u="none" strike="noStrike">
                <a:solidFill>
                  <a:schemeClr val="dk1"/>
                </a:solidFill>
                <a:effectLst/>
                <a:uFillTx/>
                <a:latin typeface="Calibri"/>
              </a:defRPr>
            </a:lvl1pPr>
          </a:lstStyle>
          <a:p>
            <a:pPr indent="0" algn="l" defTabSz="4572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14" name="PlaceHolder 2"/>
          <p:cNvSpPr>
            <a:spLocks noGrp="1"/>
          </p:cNvSpPr>
          <p:nvPr>
            <p:ph type="pic"/>
          </p:nvPr>
        </p:nvSpPr>
        <p:spPr>
          <a:xfrm>
            <a:off x="1792440" y="612720"/>
            <a:ext cx="5485680" cy="4114080"/>
          </a:xfrm>
          <a:prstGeom prst="rect">
            <a:avLst/>
          </a:prstGeom>
          <a:noFill/>
          <a:ln w="0">
            <a:noFill/>
          </a:ln>
        </p:spPr>
        <p:txBody>
          <a:bodyPr lIns="90000" tIns="45000" rIns="90000" bIns="45000" anchor="t">
            <a:noAutofit/>
          </a:bodyPr>
          <a:p>
            <a:pPr indent="0" algn="l">
              <a:buNone/>
            </a:pPr>
            <a:r>
              <a:rPr lang="en-US" sz="1800" b="0" u="none" strike="noStrike">
                <a:solidFill>
                  <a:srgbClr val="000000"/>
                </a:solidFill>
                <a:effectLst/>
                <a:uFillTx/>
                <a:latin typeface="Arial"/>
              </a:rPr>
              <a:t>Double-click to add </a:t>
            </a:r>
            <a:r>
              <a:rPr lang="en-US" sz="1800" b="0" u="none" strike="noStrike">
                <a:solidFill>
                  <a:srgbClr val="000000"/>
                </a:solidFill>
                <a:effectLst/>
                <a:uFillTx/>
                <a:latin typeface="Arial"/>
              </a:rPr>
              <a:t>an Image</a:t>
            </a:r>
            <a:endParaRPr lang="en-US" sz="1800" b="0" u="none" strike="noStrike">
              <a:solidFill>
                <a:srgbClr val="000000"/>
              </a:solidFill>
              <a:effectLst/>
              <a:uFillTx/>
              <a:latin typeface="Arial"/>
            </a:endParaRPr>
          </a:p>
        </p:txBody>
      </p:sp>
      <p:sp>
        <p:nvSpPr>
          <p:cNvPr id="15" name="PlaceHolder 3"/>
          <p:cNvSpPr>
            <a:spLocks noGrp="1"/>
          </p:cNvSpPr>
          <p:nvPr>
            <p:ph type="body"/>
          </p:nvPr>
        </p:nvSpPr>
        <p:spPr>
          <a:xfrm>
            <a:off x="1792440" y="5367240"/>
            <a:ext cx="5485680" cy="80424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16" name="PlaceHolder 4"/>
          <p:cNvSpPr>
            <a:spLocks noGrp="1"/>
          </p:cNvSpPr>
          <p:nvPr>
            <p:ph type="dt" idx="7"/>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7" name="PlaceHolder 5"/>
          <p:cNvSpPr>
            <a:spLocks noGrp="1"/>
          </p:cNvSpPr>
          <p:nvPr>
            <p:ph type="ftr" idx="8"/>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8" name="PlaceHolder 6"/>
          <p:cNvSpPr>
            <a:spLocks noGrp="1"/>
          </p:cNvSpPr>
          <p:nvPr>
            <p:ph type="sldNum" idx="9"/>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3D65366-0495-4837-8C9B-E14C3A165CE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0" name="PlaceHolder 2"/>
          <p:cNvSpPr>
            <a:spLocks noGrp="1"/>
          </p:cNvSpPr>
          <p:nvPr>
            <p:ph type="dt" idx="10"/>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1" name="PlaceHolder 3"/>
          <p:cNvSpPr>
            <a:spLocks noGrp="1"/>
          </p:cNvSpPr>
          <p:nvPr>
            <p:ph type="ftr" idx="1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 name="PlaceHolder 4"/>
          <p:cNvSpPr>
            <a:spLocks noGrp="1"/>
          </p:cNvSpPr>
          <p:nvPr>
            <p:ph type="sldNum" idx="12"/>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B17A5143-9B47-4838-A04B-3CA753987CD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5" name="PlaceHolder 3"/>
          <p:cNvSpPr>
            <a:spLocks noGrp="1"/>
          </p:cNvSpPr>
          <p:nvPr>
            <p:ph type="dt" idx="13"/>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08F37452-3280-42AC-861B-B906F50B6EB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629400" y="274680"/>
            <a:ext cx="2056680" cy="5850720"/>
          </a:xfrm>
          <a:prstGeom prst="rect">
            <a:avLst/>
          </a:prstGeom>
          <a:noFill/>
          <a:ln w="0">
            <a:noFill/>
          </a:ln>
        </p:spPr>
        <p:txBody>
          <a:bodyPr lIns="91440" tIns="45720" rIns="91440" bIns="45720" anchor="ctr" vert="eaVert">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c</a:t>
            </a:r>
            <a:r>
              <a:rPr lang="en-US" sz="4400" b="0" u="none" strike="noStrike">
                <a:solidFill>
                  <a:schemeClr val="dk1"/>
                </a:solidFill>
                <a:effectLst/>
                <a:uFillTx/>
                <a:latin typeface="Calibri"/>
              </a:rPr>
              <a:t>k</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o</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r </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i</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 </a:t>
            </a:r>
            <a:r>
              <a:rPr lang="en-US" sz="4400" b="0" u="none" strike="noStrike">
                <a:solidFill>
                  <a:schemeClr val="dk1"/>
                </a:solidFill>
                <a:effectLst/>
                <a:uFillTx/>
                <a:latin typeface="Calibri"/>
              </a:rPr>
              <a:t>s</a:t>
            </a:r>
            <a:r>
              <a:rPr lang="en-US" sz="4400" b="0" u="none" strike="noStrike">
                <a:solidFill>
                  <a:schemeClr val="dk1"/>
                </a:solidFill>
                <a:effectLst/>
                <a:uFillTx/>
                <a:latin typeface="Calibri"/>
              </a:rPr>
              <a:t>t</a:t>
            </a:r>
            <a:r>
              <a:rPr lang="en-US" sz="4400" b="0" u="none" strike="noStrike">
                <a:solidFill>
                  <a:schemeClr val="dk1"/>
                </a:solidFill>
                <a:effectLst/>
                <a:uFillTx/>
                <a:latin typeface="Calibri"/>
              </a:rPr>
              <a:t>y</a:t>
            </a:r>
            <a:r>
              <a:rPr lang="en-US" sz="4400" b="0" u="none" strike="noStrike">
                <a:solidFill>
                  <a:schemeClr val="dk1"/>
                </a:solidFill>
                <a:effectLst/>
                <a:uFillTx/>
                <a:latin typeface="Calibri"/>
              </a:rPr>
              <a:t>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29" name="PlaceHolder 2"/>
          <p:cNvSpPr>
            <a:spLocks noGrp="1"/>
          </p:cNvSpPr>
          <p:nvPr>
            <p:ph type="body"/>
          </p:nvPr>
        </p:nvSpPr>
        <p:spPr>
          <a:xfrm>
            <a:off x="457200" y="274680"/>
            <a:ext cx="6019200" cy="585072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0" name="PlaceHolder 3"/>
          <p:cNvSpPr>
            <a:spLocks noGrp="1"/>
          </p:cNvSpPr>
          <p:nvPr>
            <p:ph type="dt" idx="16"/>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5"/>
          <p:cNvSpPr>
            <a:spLocks noGrp="1"/>
          </p:cNvSpPr>
          <p:nvPr>
            <p:ph type="sldNum" idx="18"/>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A64A517E-865C-475A-97E2-57F2548C083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35" name="PlaceHolder 3"/>
          <p:cNvSpPr>
            <a:spLocks noGrp="1"/>
          </p:cNvSpPr>
          <p:nvPr>
            <p:ph type="dt" idx="19"/>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6" name="PlaceHolder 4"/>
          <p:cNvSpPr>
            <a:spLocks noGrp="1"/>
          </p:cNvSpPr>
          <p:nvPr>
            <p:ph type="ftr" idx="20"/>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7" name="PlaceHolder 5"/>
          <p:cNvSpPr>
            <a:spLocks noGrp="1"/>
          </p:cNvSpPr>
          <p:nvPr>
            <p:ph type="sldNum" idx="21"/>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98BC4D2C-77A9-491A-A4FB-B264C482E39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2160" y="4406760"/>
            <a:ext cx="7771680" cy="13615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000" b="1" u="none" strike="noStrike" cap="all">
                <a:solidFill>
                  <a:schemeClr val="dk1"/>
                </a:solidFill>
                <a:effectLst/>
                <a:uFillTx/>
                <a:latin typeface="Calibri"/>
              </a:defRPr>
            </a:lvl1pPr>
          </a:lstStyle>
          <a:p>
            <a:pPr indent="0" algn="l" defTabSz="457200">
              <a:lnSpc>
                <a:spcPct val="100000"/>
              </a:lnSpc>
              <a:buNone/>
              <a:tabLst>
                <a:tab pos="0" algn="l"/>
              </a:tabLst>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39" name="PlaceHolder 2"/>
          <p:cNvSpPr>
            <a:spLocks noGrp="1"/>
          </p:cNvSpPr>
          <p:nvPr>
            <p:ph type="body"/>
          </p:nvPr>
        </p:nvSpPr>
        <p:spPr>
          <a:xfrm>
            <a:off x="722160" y="2906640"/>
            <a:ext cx="7771680" cy="149940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40" name="PlaceHolder 3"/>
          <p:cNvSpPr>
            <a:spLocks noGrp="1"/>
          </p:cNvSpPr>
          <p:nvPr>
            <p:ph type="dt" idx="22"/>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1" name="PlaceHolder 4"/>
          <p:cNvSpPr>
            <a:spLocks noGrp="1"/>
          </p:cNvSpPr>
          <p:nvPr>
            <p:ph type="ftr" idx="23"/>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2" name="PlaceHolder 5"/>
          <p:cNvSpPr>
            <a:spLocks noGrp="1"/>
          </p:cNvSpPr>
          <p:nvPr>
            <p:ph type="sldNum" idx="24"/>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9ABA7BF8-72B8-4C4E-8F75-3A888A6146D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a:t>
            </a:r>
            <a:r>
              <a:rPr lang="en-US" sz="4400" b="0" u="none" strike="noStrike">
                <a:solidFill>
                  <a:schemeClr val="dk1"/>
                </a:solidFill>
                <a:effectLst/>
                <a:uFillTx/>
                <a:latin typeface="Calibri"/>
              </a:rPr>
              <a:t>Master title </a:t>
            </a:r>
            <a:r>
              <a:rPr lang="en-US" sz="4400" b="0" u="none" strike="noStrike">
                <a:solidFill>
                  <a:schemeClr val="dk1"/>
                </a:solidFill>
                <a:effectLst/>
                <a:uFillTx/>
                <a:latin typeface="Calibri"/>
              </a:rPr>
              <a:t>style</a:t>
            </a:r>
            <a:endParaRPr lang="en-US" sz="4400" b="0" u="none" strike="noStrike">
              <a:solidFill>
                <a:schemeClr val="dk1"/>
              </a:solidFill>
              <a:effectLst/>
              <a:uFillTx/>
              <a:latin typeface="Calibri"/>
            </a:endParaRPr>
          </a:p>
        </p:txBody>
      </p:sp>
      <p:sp>
        <p:nvSpPr>
          <p:cNvPr id="44" name="PlaceHolder 2"/>
          <p:cNvSpPr>
            <a:spLocks noGrp="1"/>
          </p:cNvSpPr>
          <p:nvPr>
            <p:ph type="body"/>
          </p:nvPr>
        </p:nvSpPr>
        <p:spPr>
          <a:xfrm>
            <a:off x="45720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5" name="PlaceHolder 3"/>
          <p:cNvSpPr>
            <a:spLocks noGrp="1"/>
          </p:cNvSpPr>
          <p:nvPr>
            <p:ph type="body"/>
          </p:nvPr>
        </p:nvSpPr>
        <p:spPr>
          <a:xfrm>
            <a:off x="4648320" y="1600200"/>
            <a:ext cx="4037760" cy="452520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6" name="PlaceHolder 4"/>
          <p:cNvSpPr>
            <a:spLocks noGrp="1"/>
          </p:cNvSpPr>
          <p:nvPr>
            <p:ph type="dt" idx="25"/>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7" name="PlaceHolder 5"/>
          <p:cNvSpPr>
            <a:spLocks noGrp="1"/>
          </p:cNvSpPr>
          <p:nvPr>
            <p:ph type="ftr" idx="26"/>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8" name="PlaceHolder 6"/>
          <p:cNvSpPr>
            <a:spLocks noGrp="1"/>
          </p:cNvSpPr>
          <p:nvPr>
            <p:ph type="sldNum" idx="27"/>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74D4E47B-BF72-4FFA-91A7-E66634F47C4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0" name="PlaceHolder 2"/>
          <p:cNvSpPr>
            <a:spLocks noGrp="1"/>
          </p:cNvSpPr>
          <p:nvPr>
            <p:ph type="body"/>
          </p:nvPr>
        </p:nvSpPr>
        <p:spPr>
          <a:xfrm>
            <a:off x="457200" y="1535040"/>
            <a:ext cx="403956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1" name="PlaceHolder 3"/>
          <p:cNvSpPr>
            <a:spLocks noGrp="1"/>
          </p:cNvSpPr>
          <p:nvPr>
            <p:ph type="body"/>
          </p:nvPr>
        </p:nvSpPr>
        <p:spPr>
          <a:xfrm>
            <a:off x="457200" y="2174760"/>
            <a:ext cx="403956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2" name="PlaceHolder 4"/>
          <p:cNvSpPr>
            <a:spLocks noGrp="1"/>
          </p:cNvSpPr>
          <p:nvPr>
            <p:ph type="body"/>
          </p:nvPr>
        </p:nvSpPr>
        <p:spPr>
          <a:xfrm>
            <a:off x="4645080" y="1535040"/>
            <a:ext cx="4041000" cy="63900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3" name="PlaceHolder 5"/>
          <p:cNvSpPr>
            <a:spLocks noGrp="1"/>
          </p:cNvSpPr>
          <p:nvPr>
            <p:ph type="body"/>
          </p:nvPr>
        </p:nvSpPr>
        <p:spPr>
          <a:xfrm>
            <a:off x="4645080" y="2174760"/>
            <a:ext cx="4041000" cy="395064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4" name="PlaceHolder 6"/>
          <p:cNvSpPr>
            <a:spLocks noGrp="1"/>
          </p:cNvSpPr>
          <p:nvPr>
            <p:ph type="dt" idx="28"/>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5" name="PlaceHolder 7"/>
          <p:cNvSpPr>
            <a:spLocks noGrp="1"/>
          </p:cNvSpPr>
          <p:nvPr>
            <p:ph type="ftr" idx="29"/>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6" name="PlaceHolder 8"/>
          <p:cNvSpPr>
            <a:spLocks noGrp="1"/>
          </p:cNvSpPr>
          <p:nvPr>
            <p:ph type="sldNum" idx="30"/>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3A6042C6-80B9-420A-BA56-04782FD10CA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8" name="PlaceHolder 2"/>
          <p:cNvSpPr>
            <a:spLocks noGrp="1"/>
          </p:cNvSpPr>
          <p:nvPr>
            <p:ph type="dt" idx="3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3"/>
          <p:cNvSpPr>
            <a:spLocks noGrp="1"/>
          </p:cNvSpPr>
          <p:nvPr>
            <p:ph type="ftr" idx="3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4"/>
          <p:cNvSpPr>
            <a:spLocks noGrp="1"/>
          </p:cNvSpPr>
          <p:nvPr>
            <p:ph type="sldNum" idx="3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defRPr>
            </a:lvl1pPr>
          </a:lstStyle>
          <a:p>
            <a:pPr indent="0" algn="r" defTabSz="457200">
              <a:lnSpc>
                <a:spcPct val="100000"/>
              </a:lnSpc>
              <a:buNone/>
              <a:tabLst>
                <a:tab pos="0" algn="l"/>
              </a:tabLst>
            </a:pPr>
            <a:fld id="{63423CB0-441B-4388-BC4C-8BDDE01F4993}"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Calibri"/>
              </a:defRPr>
            </a:lvl1pPr>
          </a:lstStyle>
          <a:p>
            <a:pPr indent="0" algn="l">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62"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4"/>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1"/>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48"/>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4"/>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1"/>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1"/>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1"/>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a:spcBef>
                <a:spcPts val="1414"/>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1"/>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48"/>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4"/>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1"/>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1"/>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1"/>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hyperlink" Target="https://wkf.ms/4sDluV8" TargetMode="External"/><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hyperlink" Target="mailto:email.address@email.com" TargetMode="External"/><Relationship Id="rId2" Type="http://schemas.openxmlformats.org/officeDocument/2006/relationships/hyperlink" Target="mailto:email.address@email.com" TargetMode="External"/><Relationship Id="rId3" Type="http://schemas.openxmlformats.org/officeDocument/2006/relationships/hyperlink" Target="mailto:email.address@email.com" TargetMode="External"/><Relationship Id="rId4" Type="http://schemas.openxmlformats.org/officeDocument/2006/relationships/hyperlink" Target="mailto:email.address@email.com" TargetMode="External"/><Relationship Id="rId5" Type="http://schemas.openxmlformats.org/officeDocument/2006/relationships/hyperlink" Target="mailto:email.address@email.com" TargetMode="External"/><Relationship Id="rId6"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8.png"/><Relationship Id="rId3"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9.png"/><Relationship Id="rId3"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0.png"/><Relationship Id="rId3" Type="http://schemas.openxmlformats.org/officeDocument/2006/relationships/image" Target="../media/image10.png"/><Relationship Id="rId4"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0.png"/><Relationship Id="rId3" Type="http://schemas.openxmlformats.org/officeDocument/2006/relationships/image" Target="../media/image10.png"/><Relationship Id="rId4"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hyperlink" Target="https://wkf.ms/4sDluV8" TargetMode="External"/><Relationship Id="rId2" Type="http://schemas.openxmlformats.org/officeDocument/2006/relationships/image" Target="../media/image13.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hyperlink" Target="mailto:email.address@email.com" TargetMode="External"/><Relationship Id="rId2" Type="http://schemas.openxmlformats.org/officeDocument/2006/relationships/hyperlink" Target="mailto:email.address@email.com" TargetMode="External"/><Relationship Id="rId3" Type="http://schemas.openxmlformats.org/officeDocument/2006/relationships/hyperlink" Target="mailto:email.address@email.com" TargetMode="External"/><Relationship Id="rId4" Type="http://schemas.openxmlformats.org/officeDocument/2006/relationships/hyperlink" Target="mailto:email.address@email.com" TargetMode="External"/><Relationship Id="rId5" Type="http://schemas.openxmlformats.org/officeDocument/2006/relationships/hyperlink" Target="mailto:email.address@email.com" TargetMode="External"/><Relationship Id="rId6"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8.png"/><Relationship Id="rId3"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9.png"/><Relationship Id="rId3"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9" name="Picture 1" descr="image.png"/>
          <p:cNvPicPr/>
          <p:nvPr/>
        </p:nvPicPr>
        <p:blipFill>
          <a:blip r:embed="rId1"/>
          <a:stretch/>
        </p:blipFill>
        <p:spPr>
          <a:xfrm>
            <a:off x="11125800" y="6246720"/>
            <a:ext cx="847440" cy="332280"/>
          </a:xfrm>
          <a:prstGeom prst="rect">
            <a:avLst/>
          </a:prstGeom>
          <a:noFill/>
          <a:ln w="0">
            <a:noFill/>
          </a:ln>
        </p:spPr>
      </p:pic>
      <p:sp>
        <p:nvSpPr>
          <p:cNvPr id="70" name="Rectangle 2"/>
          <p:cNvSpPr/>
          <p:nvPr/>
        </p:nvSpPr>
        <p:spPr>
          <a:xfrm>
            <a:off x="0" y="0"/>
            <a:ext cx="12191400" cy="5999400"/>
          </a:xfrm>
          <a:prstGeom prst="rect">
            <a:avLst/>
          </a:prstGeom>
          <a:solidFill>
            <a:srgbClr val="E0E0E0"/>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pic>
        <p:nvPicPr>
          <p:cNvPr id="71" name="Picture 3" descr="image.png"/>
          <p:cNvPicPr/>
          <p:nvPr/>
        </p:nvPicPr>
        <p:blipFill>
          <a:blip r:embed="rId2"/>
          <a:stretch/>
        </p:blipFill>
        <p:spPr>
          <a:xfrm>
            <a:off x="0" y="0"/>
            <a:ext cx="12191400" cy="5999400"/>
          </a:xfrm>
          <a:prstGeom prst="rect">
            <a:avLst/>
          </a:prstGeom>
          <a:noFill/>
          <a:ln w="0">
            <a:noFill/>
          </a:ln>
        </p:spPr>
      </p:pic>
      <p:sp>
        <p:nvSpPr>
          <p:cNvPr id="72" name="TextBox 4"/>
          <p:cNvSpPr/>
          <p:nvPr/>
        </p:nvSpPr>
        <p:spPr>
          <a:xfrm>
            <a:off x="288000" y="2012760"/>
            <a:ext cx="4709160" cy="608400"/>
          </a:xfrm>
          <a:prstGeom prst="rect">
            <a:avLst/>
          </a:prstGeom>
          <a:noFill/>
          <a:ln w="0">
            <a:noFill/>
          </a:ln>
        </p:spPr>
        <p:style>
          <a:lnRef idx="0"/>
          <a:fillRef idx="0"/>
          <a:effectRef idx="0"/>
          <a:fontRef idx="minor"/>
        </p:style>
        <p:txBody>
          <a:bodyPr lIns="0" tIns="0" rIns="0" bIns="0" anchor="t">
            <a:noAutofit/>
          </a:bodyPr>
          <a:p>
            <a:pPr defTabSz="457200">
              <a:lnSpc>
                <a:spcPts val="4949"/>
              </a:lnSpc>
            </a:pPr>
            <a:r>
              <a:rPr lang="en-US" sz="4300" b="0" u="none" strike="noStrike">
                <a:solidFill>
                  <a:srgbClr val="000000"/>
                </a:solidFill>
                <a:effectLst/>
                <a:uFillTx/>
                <a:latin typeface="Arial"/>
              </a:rPr>
              <a:t>Design da Solução</a:t>
            </a:r>
            <a:endParaRPr lang="en-US" sz="4300" b="0" u="none" strike="noStrike">
              <a:solidFill>
                <a:srgbClr val="000000"/>
              </a:solidFill>
              <a:effectLst/>
              <a:uFillTx/>
              <a:latin typeface="Arial"/>
            </a:endParaRPr>
          </a:p>
        </p:txBody>
      </p:sp>
      <p:sp>
        <p:nvSpPr>
          <p:cNvPr id="73" name="TextBox 5"/>
          <p:cNvSpPr/>
          <p:nvPr/>
        </p:nvSpPr>
        <p:spPr>
          <a:xfrm>
            <a:off x="288000" y="6405120"/>
            <a:ext cx="139392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Líder da equipe: </a:t>
            </a:r>
            <a:endParaRPr lang="en-US" sz="1400" b="0" u="none" strike="noStrike">
              <a:solidFill>
                <a:srgbClr val="000000"/>
              </a:solidFill>
              <a:effectLst/>
              <a:uFillTx/>
              <a:latin typeface="Arial"/>
            </a:endParaRPr>
          </a:p>
        </p:txBody>
      </p:sp>
      <p:sp>
        <p:nvSpPr>
          <p:cNvPr id="74" name="TextBox 6"/>
          <p:cNvSpPr/>
          <p:nvPr/>
        </p:nvSpPr>
        <p:spPr>
          <a:xfrm>
            <a:off x="288000" y="3027240"/>
            <a:ext cx="1871640" cy="25416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0" u="none" strike="noStrike">
                <a:solidFill>
                  <a:srgbClr val="000000"/>
                </a:solidFill>
                <a:effectLst/>
                <a:uFillTx/>
                <a:latin typeface="Arial"/>
              </a:rPr>
              <a:t>Nome da equipe: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TextBox 1"/>
          <p:cNvSpPr/>
          <p:nvPr/>
        </p:nvSpPr>
        <p:spPr>
          <a:xfrm>
            <a:off x="285120" y="1727280"/>
            <a:ext cx="7144560" cy="571680"/>
          </a:xfrm>
          <a:prstGeom prst="rect">
            <a:avLst/>
          </a:prstGeom>
          <a:noFill/>
          <a:ln w="0">
            <a:noFill/>
          </a:ln>
        </p:spPr>
        <p:style>
          <a:lnRef idx="0"/>
          <a:fillRef idx="0"/>
          <a:effectRef idx="0"/>
          <a:fontRef idx="minor"/>
        </p:style>
        <p:txBody>
          <a:bodyPr lIns="0" tIns="0" rIns="0" bIns="0" anchor="t">
            <a:noAutofit/>
          </a:bodyPr>
          <a:p>
            <a:pPr defTabSz="457200">
              <a:lnSpc>
                <a:spcPts val="1585"/>
              </a:lnSpc>
            </a:pPr>
            <a:r>
              <a:rPr lang="en-US" sz="1200" b="1" u="none" strike="noStrike">
                <a:solidFill>
                  <a:srgbClr val="000000"/>
                </a:solidFill>
                <a:effectLst/>
                <a:uFillTx/>
                <a:latin typeface="Arial"/>
              </a:rPr>
              <a:t>Objetivo:</a:t>
            </a:r>
            <a:r>
              <a:rPr lang="en-US" sz="1200" b="0" u="none" strike="noStrike">
                <a:solidFill>
                  <a:srgbClr val="000000"/>
                </a:solidFill>
                <a:effectLst/>
                <a:uFillTx/>
                <a:latin typeface="Arial"/>
              </a:rPr>
              <a:t> Este guia oferece um modelo para as equipes registrarem informações essenciais. Ele visa ajudar você a avançar de semana em semana, concluindo exercícios fundamentais para entregar uma solução inovadora e centrada no usuário ao final da semana 10.</a:t>
            </a:r>
            <a:endParaRPr lang="en-US" sz="1200" b="0" u="none" strike="noStrike">
              <a:solidFill>
                <a:srgbClr val="000000"/>
              </a:solidFill>
              <a:effectLst/>
              <a:uFillTx/>
              <a:latin typeface="Arial"/>
            </a:endParaRPr>
          </a:p>
        </p:txBody>
      </p:sp>
      <p:sp>
        <p:nvSpPr>
          <p:cNvPr id="76" name="TextBox 2"/>
          <p:cNvSpPr/>
          <p:nvPr/>
        </p:nvSpPr>
        <p:spPr>
          <a:xfrm>
            <a:off x="285120" y="2532240"/>
            <a:ext cx="7111080" cy="18396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1" u="none" strike="noStrike">
                <a:solidFill>
                  <a:srgbClr val="000000"/>
                </a:solidFill>
                <a:effectLst/>
                <a:uFillTx/>
                <a:latin typeface="Arial"/>
              </a:rPr>
              <a:t>Observações importantes:</a:t>
            </a:r>
            <a:endParaRPr lang="en-US" sz="1200" b="0" u="none" strike="noStrike">
              <a:solidFill>
                <a:srgbClr val="000000"/>
              </a:solidFill>
              <a:effectLst/>
              <a:uFillTx/>
              <a:latin typeface="Arial"/>
            </a:endParaRPr>
          </a:p>
          <a:p>
            <a:pPr defTabSz="457200">
              <a:lnSpc>
                <a:spcPts val="1843"/>
              </a:lnSpc>
              <a:spcBef>
                <a:spcPts val="136"/>
              </a:spcBef>
            </a:pPr>
            <a:r>
              <a:rPr lang="en-US" sz="1600" b="1" u="none" strike="noStrike">
                <a:solidFill>
                  <a:srgbClr val="FF0000"/>
                </a:solidFill>
                <a:effectLst/>
                <a:uFillTx/>
                <a:latin typeface="Arial"/>
              </a:rPr>
              <a:t>!!</a:t>
            </a:r>
            <a:r>
              <a:rPr lang="en-US" sz="1200" b="0" u="none" strike="noStrike">
                <a:solidFill>
                  <a:srgbClr val="000000"/>
                </a:solidFill>
                <a:effectLst/>
                <a:uFillTx/>
                <a:latin typeface="Arial"/>
              </a:rPr>
              <a:t>Cada slide possui uma indicação de quando recomendamos que você conclua essas tarefas, no </a:t>
            </a:r>
            <a:endParaRPr lang="en-US" sz="1200" b="0" u="none" strike="noStrike">
              <a:solidFill>
                <a:srgbClr val="000000"/>
              </a:solidFill>
              <a:effectLst/>
              <a:uFillTx/>
              <a:latin typeface="Arial"/>
            </a:endParaRPr>
          </a:p>
          <a:p>
            <a:pPr defTabSz="457200">
              <a:lnSpc>
                <a:spcPts val="1380"/>
              </a:lnSpc>
              <a:spcBef>
                <a:spcPts val="334"/>
              </a:spcBef>
            </a:pPr>
            <a:r>
              <a:rPr lang="en-US" sz="1200" b="0" u="none" strike="noStrike">
                <a:solidFill>
                  <a:srgbClr val="000000"/>
                </a:solidFill>
                <a:effectLst/>
                <a:uFillTx/>
                <a:latin typeface="Arial"/>
              </a:rPr>
              <a:t>entanto, se desejar, você pode adiantar ou adiar o trabalho de acordo com o seu cronograma.</a:t>
            </a:r>
            <a:endParaRPr lang="en-US" sz="1200" b="0" u="none" strike="noStrike">
              <a:solidFill>
                <a:srgbClr val="000000"/>
              </a:solidFill>
              <a:effectLst/>
              <a:uFillTx/>
              <a:latin typeface="Arial"/>
            </a:endParaRPr>
          </a:p>
          <a:p>
            <a:pPr defTabSz="457200">
              <a:lnSpc>
                <a:spcPts val="1843"/>
              </a:lnSpc>
              <a:spcBef>
                <a:spcPts val="139"/>
              </a:spcBef>
            </a:pPr>
            <a:r>
              <a:rPr lang="en-US" sz="1600" b="1" u="none" strike="noStrike">
                <a:solidFill>
                  <a:srgbClr val="FF0000"/>
                </a:solidFill>
                <a:effectLst/>
                <a:uFillTx/>
                <a:latin typeface="Arial"/>
              </a:rPr>
              <a:t>!!</a:t>
            </a:r>
            <a:r>
              <a:rPr lang="en-US" sz="1200" b="0" u="none" strike="noStrike">
                <a:solidFill>
                  <a:srgbClr val="000000"/>
                </a:solidFill>
                <a:effectLst/>
                <a:uFillTx/>
                <a:latin typeface="Arial"/>
              </a:rPr>
              <a:t>Espera-se que as equipes se organizem, compartilhem tarefas, encontrem horários para se reunir e </a:t>
            </a:r>
            <a:endParaRPr lang="en-US" sz="1200" b="0" u="none" strike="noStrike">
              <a:solidFill>
                <a:srgbClr val="000000"/>
              </a:solidFill>
              <a:effectLst/>
              <a:uFillTx/>
              <a:latin typeface="Arial"/>
            </a:endParaRPr>
          </a:p>
          <a:p>
            <a:pPr defTabSz="457200">
              <a:lnSpc>
                <a:spcPts val="1378"/>
              </a:lnSpc>
              <a:spcBef>
                <a:spcPts val="334"/>
              </a:spcBef>
            </a:pPr>
            <a:r>
              <a:rPr lang="en-US" sz="1200" b="0" u="none" strike="noStrike">
                <a:solidFill>
                  <a:srgbClr val="000000"/>
                </a:solidFill>
                <a:effectLst/>
                <a:uFillTx/>
                <a:latin typeface="Arial"/>
              </a:rPr>
              <a:t>concluam as tarefas e exercícios.</a:t>
            </a:r>
            <a:endParaRPr lang="en-US" sz="1200" b="0" u="none" strike="noStrike">
              <a:solidFill>
                <a:srgbClr val="000000"/>
              </a:solidFill>
              <a:effectLst/>
              <a:uFillTx/>
              <a:latin typeface="Arial"/>
            </a:endParaRPr>
          </a:p>
          <a:p>
            <a:pPr defTabSz="457200">
              <a:lnSpc>
                <a:spcPts val="1843"/>
              </a:lnSpc>
              <a:spcBef>
                <a:spcPts val="136"/>
              </a:spcBef>
            </a:pPr>
            <a:r>
              <a:rPr lang="en-US" sz="1600" b="1" u="none" strike="noStrike">
                <a:solidFill>
                  <a:srgbClr val="FF0000"/>
                </a:solidFill>
                <a:effectLst/>
                <a:uFillTx/>
                <a:latin typeface="Arial"/>
              </a:rPr>
              <a:t>!!</a:t>
            </a:r>
            <a:r>
              <a:rPr lang="en-US" sz="1200" b="0" u="none" strike="noStrike">
                <a:solidFill>
                  <a:srgbClr val="000000"/>
                </a:solidFill>
                <a:effectLst/>
                <a:uFillTx/>
                <a:latin typeface="Arial"/>
              </a:rPr>
              <a:t> Seu prazo final e improrrogável é o fim da semana 10. Até lá, sua equipe deve enviar um MVP </a:t>
            </a:r>
            <a:endParaRPr lang="en-US" sz="1200" b="0" u="none" strike="noStrike">
              <a:solidFill>
                <a:srgbClr val="000000"/>
              </a:solidFill>
              <a:effectLst/>
              <a:uFillTx/>
              <a:latin typeface="Arial"/>
            </a:endParaRPr>
          </a:p>
          <a:p>
            <a:pPr defTabSz="457200">
              <a:lnSpc>
                <a:spcPts val="1378"/>
              </a:lnSpc>
              <a:spcBef>
                <a:spcPts val="334"/>
              </a:spcBef>
            </a:pPr>
            <a:r>
              <a:rPr lang="en-US" sz="1200" b="0" u="none" strike="noStrike">
                <a:solidFill>
                  <a:srgbClr val="000000"/>
                </a:solidFill>
                <a:effectLst/>
                <a:uFillTx/>
                <a:latin typeface="Arial"/>
              </a:rPr>
              <a:t>funcional, a documentação do projeto e a demonstração da solução.</a:t>
            </a:r>
            <a:endParaRPr lang="en-US" sz="1200" b="0" u="none" strike="noStrike">
              <a:solidFill>
                <a:srgbClr val="000000"/>
              </a:solidFill>
              <a:effectLst/>
              <a:uFillTx/>
              <a:latin typeface="Arial"/>
            </a:endParaRPr>
          </a:p>
          <a:p>
            <a:pPr defTabSz="457200">
              <a:lnSpc>
                <a:spcPts val="1843"/>
              </a:lnSpc>
              <a:spcBef>
                <a:spcPts val="136"/>
              </a:spcBef>
            </a:pPr>
            <a:r>
              <a:rPr lang="en-US" sz="1600" b="1" u="none" strike="noStrike">
                <a:solidFill>
                  <a:srgbClr val="FF0000"/>
                </a:solidFill>
                <a:effectLst/>
                <a:uFillTx/>
                <a:latin typeface="Arial"/>
              </a:rPr>
              <a:t>!!</a:t>
            </a:r>
            <a:r>
              <a:rPr lang="en-US" sz="1200" b="0" u="none" strike="noStrike">
                <a:solidFill>
                  <a:srgbClr val="000000"/>
                </a:solidFill>
                <a:effectLst/>
                <a:uFillTx/>
                <a:latin typeface="Arial"/>
              </a:rPr>
              <a:t> Envie seus entregáveis semanais através dos formulários:</a:t>
            </a:r>
            <a:r>
              <a:rPr lang="en-US" sz="1200" b="0" u="sng" strike="noStrike">
                <a:solidFill>
                  <a:srgbClr val="0000FF"/>
                </a:solidFill>
                <a:effectLst/>
                <a:uFillTx/>
                <a:latin typeface="Arial"/>
                <a:hlinkClick r:id="rId1"/>
              </a:rPr>
              <a:t> https://wkf.ms/4sDluV8</a:t>
            </a:r>
            <a:endParaRPr lang="en-US" sz="1200" b="0" u="none" strike="noStrike">
              <a:solidFill>
                <a:srgbClr val="000000"/>
              </a:solidFill>
              <a:effectLst/>
              <a:uFillTx/>
              <a:latin typeface="Arial"/>
            </a:endParaRPr>
          </a:p>
        </p:txBody>
      </p:sp>
      <p:sp>
        <p:nvSpPr>
          <p:cNvPr id="77" name="Rectangle 3"/>
          <p:cNvSpPr/>
          <p:nvPr/>
        </p:nvSpPr>
        <p:spPr>
          <a:xfrm>
            <a:off x="4444920" y="4345200"/>
            <a:ext cx="1548360" cy="10800"/>
          </a:xfrm>
          <a:prstGeom prst="rect">
            <a:avLst/>
          </a:prstGeom>
          <a:solidFill>
            <a:srgbClr val="0F62FE"/>
          </a:solidFill>
          <a:ln w="0">
            <a:noFill/>
          </a:ln>
        </p:spPr>
        <p:style>
          <a:lnRef idx="0"/>
          <a:fillRef idx="0"/>
          <a:effectRef idx="0"/>
          <a:fontRef idx="minor"/>
        </p:style>
        <p:txBody>
          <a:bodyPr lIns="90000" tIns="-33480" rIns="90000" bIns="-33480" anchor="ctr">
            <a:noAutofit/>
          </a:bodyPr>
          <a:p>
            <a:pPr/>
            <a:endParaRPr lang="en-US" sz="1800" b="0" u="none" strike="noStrike">
              <a:solidFill>
                <a:schemeClr val="dk1"/>
              </a:solidFill>
              <a:effectLst/>
              <a:uFillTx/>
              <a:latin typeface="Calibri"/>
            </a:endParaRPr>
          </a:p>
        </p:txBody>
      </p:sp>
      <p:sp>
        <p:nvSpPr>
          <p:cNvPr id="78" name="TextBox 4"/>
          <p:cNvSpPr/>
          <p:nvPr/>
        </p:nvSpPr>
        <p:spPr>
          <a:xfrm>
            <a:off x="285120" y="4610880"/>
            <a:ext cx="49752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1" u="none" strike="noStrike">
                <a:solidFill>
                  <a:srgbClr val="000000"/>
                </a:solidFill>
                <a:effectLst/>
                <a:uFillTx/>
                <a:latin typeface="Arial"/>
              </a:rPr>
              <a:t>Dicas:</a:t>
            </a:r>
            <a:endParaRPr lang="en-US" sz="1200" b="0" u="none" strike="noStrike">
              <a:solidFill>
                <a:srgbClr val="000000"/>
              </a:solidFill>
              <a:effectLst/>
              <a:uFillTx/>
              <a:latin typeface="Arial"/>
            </a:endParaRPr>
          </a:p>
        </p:txBody>
      </p:sp>
      <p:pic>
        <p:nvPicPr>
          <p:cNvPr id="79" name="Picture 5" descr="image.png"/>
          <p:cNvPicPr/>
          <p:nvPr/>
        </p:nvPicPr>
        <p:blipFill>
          <a:blip r:embed="rId2"/>
          <a:stretch/>
        </p:blipFill>
        <p:spPr>
          <a:xfrm>
            <a:off x="192600" y="4754880"/>
            <a:ext cx="392040" cy="318960"/>
          </a:xfrm>
          <a:prstGeom prst="rect">
            <a:avLst/>
          </a:prstGeom>
          <a:noFill/>
          <a:ln w="0">
            <a:noFill/>
          </a:ln>
        </p:spPr>
      </p:pic>
      <p:sp>
        <p:nvSpPr>
          <p:cNvPr id="80" name="TextBox 6"/>
          <p:cNvSpPr/>
          <p:nvPr/>
        </p:nvSpPr>
        <p:spPr>
          <a:xfrm>
            <a:off x="285120" y="4812120"/>
            <a:ext cx="6812640" cy="370440"/>
          </a:xfrm>
          <a:prstGeom prst="rect">
            <a:avLst/>
          </a:prstGeom>
          <a:noFill/>
          <a:ln w="0">
            <a:noFill/>
          </a:ln>
        </p:spPr>
        <p:style>
          <a:lnRef idx="0"/>
          <a:fillRef idx="0"/>
          <a:effectRef idx="0"/>
          <a:fontRef idx="minor"/>
        </p:style>
        <p:txBody>
          <a:bodyPr lIns="0" tIns="0" rIns="0" bIns="0" anchor="t">
            <a:noAutofit/>
          </a:bodyPr>
          <a:p>
            <a:pPr marL="251280" defTabSz="457200">
              <a:lnSpc>
                <a:spcPts val="1378"/>
              </a:lnSpc>
              <a:tabLst>
                <a:tab pos="0" algn="l"/>
              </a:tabLst>
            </a:pPr>
            <a:r>
              <a:rPr lang="en-US" sz="1200" b="0" u="none" strike="noStrike">
                <a:solidFill>
                  <a:srgbClr val="000000"/>
                </a:solidFill>
                <a:effectLst/>
                <a:uFillTx/>
                <a:latin typeface="Arial"/>
              </a:rPr>
              <a:t>Mantenha a linguagem focada no usuário, evite jargões técnicos e escreva em frases curtas e </a:t>
            </a:r>
            <a:endParaRPr lang="en-US" sz="1200" b="0" u="none" strike="noStrike">
              <a:solidFill>
                <a:srgbClr val="000000"/>
              </a:solidFill>
              <a:effectLst/>
              <a:uFillTx/>
              <a:latin typeface="Arial"/>
            </a:endParaRPr>
          </a:p>
          <a:p>
            <a:pPr defTabSz="457200">
              <a:lnSpc>
                <a:spcPts val="1378"/>
              </a:lnSpc>
              <a:spcBef>
                <a:spcPts val="204"/>
              </a:spcBef>
              <a:tabLst>
                <a:tab pos="0" algn="l"/>
              </a:tabLst>
            </a:pPr>
            <a:r>
              <a:rPr lang="en-US" sz="1200" b="0" u="none" strike="noStrike">
                <a:solidFill>
                  <a:srgbClr val="000000"/>
                </a:solidFill>
                <a:effectLst/>
                <a:uFillTx/>
                <a:latin typeface="Arial"/>
              </a:rPr>
              <a:t>claras.</a:t>
            </a:r>
            <a:endParaRPr lang="en-US" sz="1200" b="0" u="none" strike="noStrike">
              <a:solidFill>
                <a:srgbClr val="000000"/>
              </a:solidFill>
              <a:effectLst/>
              <a:uFillTx/>
              <a:latin typeface="Arial"/>
            </a:endParaRPr>
          </a:p>
        </p:txBody>
      </p:sp>
      <p:pic>
        <p:nvPicPr>
          <p:cNvPr id="81" name="Picture 7" descr="image.png"/>
          <p:cNvPicPr/>
          <p:nvPr/>
        </p:nvPicPr>
        <p:blipFill>
          <a:blip r:embed="rId3"/>
          <a:stretch/>
        </p:blipFill>
        <p:spPr>
          <a:xfrm>
            <a:off x="192600" y="5157360"/>
            <a:ext cx="392040" cy="318960"/>
          </a:xfrm>
          <a:prstGeom prst="rect">
            <a:avLst/>
          </a:prstGeom>
          <a:noFill/>
          <a:ln w="0">
            <a:noFill/>
          </a:ln>
        </p:spPr>
      </p:pic>
      <p:sp>
        <p:nvSpPr>
          <p:cNvPr id="82" name="TextBox 8"/>
          <p:cNvSpPr/>
          <p:nvPr/>
        </p:nvSpPr>
        <p:spPr>
          <a:xfrm>
            <a:off x="285120" y="5214240"/>
            <a:ext cx="6917760" cy="370440"/>
          </a:xfrm>
          <a:prstGeom prst="rect">
            <a:avLst/>
          </a:prstGeom>
          <a:noFill/>
          <a:ln w="0">
            <a:noFill/>
          </a:ln>
        </p:spPr>
        <p:style>
          <a:lnRef idx="0"/>
          <a:fillRef idx="0"/>
          <a:effectRef idx="0"/>
          <a:fontRef idx="minor"/>
        </p:style>
        <p:txBody>
          <a:bodyPr lIns="0" tIns="0" rIns="0" bIns="0" anchor="t">
            <a:noAutofit/>
          </a:bodyPr>
          <a:p>
            <a:pPr marL="251280" defTabSz="457200">
              <a:lnSpc>
                <a:spcPts val="1378"/>
              </a:lnSpc>
              <a:tabLst>
                <a:tab pos="0" algn="l"/>
              </a:tabLst>
            </a:pPr>
            <a:r>
              <a:rPr lang="en-US" sz="1200" b="0" u="none" strike="noStrike">
                <a:solidFill>
                  <a:srgbClr val="000000"/>
                </a:solidFill>
                <a:effectLst/>
                <a:uFillTx/>
                <a:latin typeface="Arial"/>
              </a:rPr>
              <a:t>Use imagens e ilustrações, uma imagem vale mais que 1000 palavras. Copie aqui imagens dos </a:t>
            </a:r>
            <a:endParaRPr lang="en-US" sz="1200" b="0" u="none" strike="noStrike">
              <a:solidFill>
                <a:srgbClr val="000000"/>
              </a:solidFill>
              <a:effectLst/>
              <a:uFillTx/>
              <a:latin typeface="Arial"/>
            </a:endParaRPr>
          </a:p>
          <a:p>
            <a:pPr defTabSz="457200">
              <a:lnSpc>
                <a:spcPts val="1378"/>
              </a:lnSpc>
              <a:spcBef>
                <a:spcPts val="204"/>
              </a:spcBef>
              <a:tabLst>
                <a:tab pos="0" algn="l"/>
              </a:tabLst>
            </a:pPr>
            <a:r>
              <a:rPr lang="en-US" sz="1200" b="0" u="none" strike="noStrike">
                <a:solidFill>
                  <a:srgbClr val="000000"/>
                </a:solidFill>
                <a:effectLst/>
                <a:uFillTx/>
                <a:latin typeface="Arial"/>
              </a:rPr>
              <a:t>seus quadros virtuais, designs, etc. ou use imagens ilustrativas.</a:t>
            </a:r>
            <a:endParaRPr lang="en-US" sz="1200" b="0" u="none" strike="noStrike">
              <a:solidFill>
                <a:srgbClr val="000000"/>
              </a:solidFill>
              <a:effectLst/>
              <a:uFillTx/>
              <a:latin typeface="Arial"/>
            </a:endParaRPr>
          </a:p>
        </p:txBody>
      </p:sp>
      <p:pic>
        <p:nvPicPr>
          <p:cNvPr id="83" name="Picture 9" descr="image.png"/>
          <p:cNvPicPr/>
          <p:nvPr/>
        </p:nvPicPr>
        <p:blipFill>
          <a:blip r:embed="rId4"/>
          <a:stretch/>
        </p:blipFill>
        <p:spPr>
          <a:xfrm>
            <a:off x="192600" y="5559480"/>
            <a:ext cx="392040" cy="318960"/>
          </a:xfrm>
          <a:prstGeom prst="rect">
            <a:avLst/>
          </a:prstGeom>
          <a:noFill/>
          <a:ln w="0">
            <a:noFill/>
          </a:ln>
        </p:spPr>
      </p:pic>
      <p:sp>
        <p:nvSpPr>
          <p:cNvPr id="84" name="TextBox 10"/>
          <p:cNvSpPr/>
          <p:nvPr/>
        </p:nvSpPr>
        <p:spPr>
          <a:xfrm>
            <a:off x="285120" y="5616360"/>
            <a:ext cx="6696000" cy="370440"/>
          </a:xfrm>
          <a:prstGeom prst="rect">
            <a:avLst/>
          </a:prstGeom>
          <a:noFill/>
          <a:ln w="0">
            <a:noFill/>
          </a:ln>
        </p:spPr>
        <p:style>
          <a:lnRef idx="0"/>
          <a:fillRef idx="0"/>
          <a:effectRef idx="0"/>
          <a:fontRef idx="minor"/>
        </p:style>
        <p:txBody>
          <a:bodyPr lIns="0" tIns="0" rIns="0" bIns="0" anchor="t">
            <a:noAutofit/>
          </a:bodyPr>
          <a:p>
            <a:pPr marL="251280" defTabSz="457200">
              <a:lnSpc>
                <a:spcPts val="1380"/>
              </a:lnSpc>
              <a:tabLst>
                <a:tab pos="0" algn="l"/>
              </a:tabLst>
            </a:pPr>
            <a:r>
              <a:rPr lang="en-US" sz="1200" b="0" u="none" strike="noStrike">
                <a:solidFill>
                  <a:srgbClr val="000000"/>
                </a:solidFill>
                <a:effectLst/>
                <a:uFillTx/>
                <a:latin typeface="Arial"/>
              </a:rPr>
              <a:t>Customize de acordo com suas necessidades, sinta-se à vontade para alterar ou adaptar os </a:t>
            </a:r>
            <a:endParaRPr lang="en-US" sz="1200" b="0" u="none" strike="noStrike">
              <a:solidFill>
                <a:srgbClr val="000000"/>
              </a:solidFill>
              <a:effectLst/>
              <a:uFillTx/>
              <a:latin typeface="Arial"/>
            </a:endParaRPr>
          </a:p>
          <a:p>
            <a:pPr defTabSz="457200">
              <a:lnSpc>
                <a:spcPts val="1378"/>
              </a:lnSpc>
              <a:spcBef>
                <a:spcPts val="204"/>
              </a:spcBef>
              <a:tabLst>
                <a:tab pos="0" algn="l"/>
              </a:tabLst>
            </a:pPr>
            <a:r>
              <a:rPr lang="en-US" sz="1200" b="0" u="none" strike="noStrike">
                <a:solidFill>
                  <a:srgbClr val="000000"/>
                </a:solidFill>
                <a:effectLst/>
                <a:uFillTx/>
                <a:latin typeface="Arial"/>
              </a:rPr>
              <a:t>modelos.</a:t>
            </a:r>
            <a:endParaRPr lang="en-US" sz="1200" b="0" u="none" strike="noStrike">
              <a:solidFill>
                <a:srgbClr val="000000"/>
              </a:solidFill>
              <a:effectLst/>
              <a:uFillTx/>
              <a:latin typeface="Arial"/>
            </a:endParaRPr>
          </a:p>
        </p:txBody>
      </p:sp>
      <p:sp>
        <p:nvSpPr>
          <p:cNvPr id="85" name="TextBox 11"/>
          <p:cNvSpPr/>
          <p:nvPr/>
        </p:nvSpPr>
        <p:spPr>
          <a:xfrm>
            <a:off x="11848680" y="6477120"/>
            <a:ext cx="885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2</a:t>
            </a:r>
            <a:endParaRPr lang="en-US" sz="800" b="0" u="none" strike="noStrike">
              <a:solidFill>
                <a:srgbClr val="000000"/>
              </a:solidFill>
              <a:effectLst/>
              <a:uFillTx/>
              <a:latin typeface="Arial"/>
            </a:endParaRPr>
          </a:p>
        </p:txBody>
      </p:sp>
      <p:sp>
        <p:nvSpPr>
          <p:cNvPr id="86" name="TextBox 12"/>
          <p:cNvSpPr/>
          <p:nvPr/>
        </p:nvSpPr>
        <p:spPr>
          <a:xfrm>
            <a:off x="288000" y="300240"/>
            <a:ext cx="181476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Como usar este guia</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TextBox 1"/>
          <p:cNvSpPr/>
          <p:nvPr/>
        </p:nvSpPr>
        <p:spPr>
          <a:xfrm>
            <a:off x="288000" y="303120"/>
            <a:ext cx="143100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Nome da equipe</a:t>
            </a:r>
            <a:endParaRPr lang="en-US" sz="1400" b="0" u="none" strike="noStrike">
              <a:solidFill>
                <a:srgbClr val="000000"/>
              </a:solidFill>
              <a:effectLst/>
              <a:uFillTx/>
              <a:latin typeface="Arial"/>
            </a:endParaRPr>
          </a:p>
        </p:txBody>
      </p:sp>
      <p:sp>
        <p:nvSpPr>
          <p:cNvPr id="88" name="Rectangle 2"/>
          <p:cNvSpPr/>
          <p:nvPr/>
        </p:nvSpPr>
        <p:spPr>
          <a:xfrm>
            <a:off x="288000" y="1333440"/>
            <a:ext cx="1235880" cy="1237320"/>
          </a:xfrm>
          <a:prstGeom prst="rect">
            <a:avLst/>
          </a:prstGeom>
          <a:solidFill>
            <a:srgbClr val="E0E0E0"/>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9" name="TextBox 3"/>
          <p:cNvSpPr/>
          <p:nvPr/>
        </p:nvSpPr>
        <p:spPr>
          <a:xfrm>
            <a:off x="1714320" y="1348920"/>
            <a:ext cx="150336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Carlos Eduardo Fernandes Farias</a:t>
            </a:r>
            <a:endParaRPr lang="en-US" sz="1400" b="0" u="none" strike="noStrike">
              <a:solidFill>
                <a:srgbClr val="000000"/>
              </a:solidFill>
              <a:effectLst/>
              <a:uFillTx/>
              <a:latin typeface="Arial"/>
            </a:endParaRPr>
          </a:p>
        </p:txBody>
      </p:sp>
      <p:sp>
        <p:nvSpPr>
          <p:cNvPr id="90" name="TextBox 4"/>
          <p:cNvSpPr/>
          <p:nvPr/>
        </p:nvSpPr>
        <p:spPr>
          <a:xfrm>
            <a:off x="1714320" y="1818360"/>
            <a:ext cx="2526120" cy="66672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Função na equipe</a:t>
            </a:r>
            <a:endParaRPr lang="en-US" sz="1400" b="0" u="none" strike="noStrike">
              <a:solidFill>
                <a:srgbClr val="000000"/>
              </a:solidFill>
              <a:effectLst/>
              <a:uFillTx/>
              <a:latin typeface="Arial"/>
            </a:endParaRPr>
          </a:p>
          <a:p>
            <a:pPr defTabSz="457200">
              <a:lnSpc>
                <a:spcPts val="1607"/>
              </a:lnSpc>
              <a:spcBef>
                <a:spcPts val="241"/>
              </a:spcBef>
            </a:pPr>
            <a:r>
              <a:rPr lang="en-US" sz="1400" b="0" u="none" strike="noStrike">
                <a:solidFill>
                  <a:srgbClr val="000000"/>
                </a:solidFill>
                <a:effectLst/>
                <a:uFillTx/>
                <a:latin typeface="Arial"/>
              </a:rPr>
              <a:t>—</a:t>
            </a:r>
            <a:endParaRPr lang="en-US" sz="1400" b="0" u="none" strike="noStrike">
              <a:solidFill>
                <a:srgbClr val="000000"/>
              </a:solidFill>
              <a:effectLst/>
              <a:uFillTx/>
              <a:latin typeface="Arial"/>
            </a:endParaRPr>
          </a:p>
          <a:p>
            <a:pPr defTabSz="457200">
              <a:lnSpc>
                <a:spcPts val="1607"/>
              </a:lnSpc>
              <a:spcBef>
                <a:spcPts val="241"/>
              </a:spcBef>
            </a:pPr>
            <a:r>
              <a:rPr lang="en-US" sz="1400" b="0" u="sng" strike="noStrike">
                <a:solidFill>
                  <a:srgbClr val="0000FF"/>
                </a:solidFill>
                <a:effectLst/>
                <a:uFillTx/>
                <a:latin typeface="Arial"/>
                <a:hlinkClick r:id="rId1"/>
              </a:rPr>
              <a:t>email.address@email.com/edu</a:t>
            </a:r>
            <a:endParaRPr lang="en-US" sz="1400" b="0" u="none" strike="noStrike">
              <a:solidFill>
                <a:srgbClr val="000000"/>
              </a:solidFill>
              <a:effectLst/>
              <a:uFillTx/>
              <a:latin typeface="Arial"/>
            </a:endParaRPr>
          </a:p>
        </p:txBody>
      </p:sp>
      <p:sp>
        <p:nvSpPr>
          <p:cNvPr id="91" name="Rectangle 5"/>
          <p:cNvSpPr/>
          <p:nvPr/>
        </p:nvSpPr>
        <p:spPr>
          <a:xfrm>
            <a:off x="1714320" y="2467080"/>
            <a:ext cx="2445840" cy="12240"/>
          </a:xfrm>
          <a:prstGeom prst="rect">
            <a:avLst/>
          </a:prstGeom>
          <a:solidFill>
            <a:srgbClr val="0F62FE"/>
          </a:solidFill>
          <a:ln w="0">
            <a:noFill/>
          </a:ln>
        </p:spPr>
        <p:style>
          <a:lnRef idx="0"/>
          <a:fillRef idx="0"/>
          <a:effectRef idx="0"/>
          <a:fontRef idx="minor"/>
        </p:style>
        <p:txBody>
          <a:bodyPr lIns="90000" tIns="-32040" rIns="90000" bIns="-32040" anchor="ctr">
            <a:noAutofit/>
          </a:bodyPr>
          <a:p>
            <a:pPr/>
            <a:endParaRPr lang="en-US" sz="1800" b="0" u="none" strike="noStrike">
              <a:solidFill>
                <a:schemeClr val="dk1"/>
              </a:solidFill>
              <a:effectLst/>
              <a:uFillTx/>
              <a:latin typeface="Calibri"/>
            </a:endParaRPr>
          </a:p>
        </p:txBody>
      </p:sp>
      <p:sp>
        <p:nvSpPr>
          <p:cNvPr id="92" name="Rectangle 6"/>
          <p:cNvSpPr/>
          <p:nvPr/>
        </p:nvSpPr>
        <p:spPr>
          <a:xfrm>
            <a:off x="288000" y="3060360"/>
            <a:ext cx="1235880" cy="1237320"/>
          </a:xfrm>
          <a:prstGeom prst="rect">
            <a:avLst/>
          </a:prstGeom>
          <a:solidFill>
            <a:srgbClr val="E0E0E0"/>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93" name="Rectangle 7"/>
          <p:cNvSpPr/>
          <p:nvPr/>
        </p:nvSpPr>
        <p:spPr>
          <a:xfrm>
            <a:off x="288000" y="4762080"/>
            <a:ext cx="1235880" cy="1237320"/>
          </a:xfrm>
          <a:prstGeom prst="rect">
            <a:avLst/>
          </a:prstGeom>
          <a:solidFill>
            <a:srgbClr val="E0E0E0"/>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94" name="Rectangle 8"/>
          <p:cNvSpPr/>
          <p:nvPr/>
        </p:nvSpPr>
        <p:spPr>
          <a:xfrm>
            <a:off x="6377760" y="1333440"/>
            <a:ext cx="1235880" cy="1237320"/>
          </a:xfrm>
          <a:prstGeom prst="rect">
            <a:avLst/>
          </a:prstGeom>
          <a:solidFill>
            <a:srgbClr val="E0E0E0"/>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95" name="Rectangle 9"/>
          <p:cNvSpPr/>
          <p:nvPr/>
        </p:nvSpPr>
        <p:spPr>
          <a:xfrm>
            <a:off x="6377760" y="3060360"/>
            <a:ext cx="1235880" cy="1237320"/>
          </a:xfrm>
          <a:prstGeom prst="rect">
            <a:avLst/>
          </a:prstGeom>
          <a:solidFill>
            <a:srgbClr val="E0E0E0"/>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96" name="TextBox 10"/>
          <p:cNvSpPr/>
          <p:nvPr/>
        </p:nvSpPr>
        <p:spPr>
          <a:xfrm>
            <a:off x="11848680" y="6477120"/>
            <a:ext cx="885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3</a:t>
            </a:r>
            <a:endParaRPr lang="en-US" sz="800" b="0" u="none" strike="noStrike">
              <a:solidFill>
                <a:srgbClr val="000000"/>
              </a:solidFill>
              <a:effectLst/>
              <a:uFillTx/>
              <a:latin typeface="Arial"/>
            </a:endParaRPr>
          </a:p>
        </p:txBody>
      </p:sp>
      <p:sp>
        <p:nvSpPr>
          <p:cNvPr id="97" name="TextBox 11"/>
          <p:cNvSpPr/>
          <p:nvPr/>
        </p:nvSpPr>
        <p:spPr>
          <a:xfrm>
            <a:off x="1714320" y="3076200"/>
            <a:ext cx="150336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Nome Sobrenome</a:t>
            </a:r>
            <a:endParaRPr lang="en-US" sz="1400" b="0" u="none" strike="noStrike">
              <a:solidFill>
                <a:srgbClr val="000000"/>
              </a:solidFill>
              <a:effectLst/>
              <a:uFillTx/>
              <a:latin typeface="Arial"/>
            </a:endParaRPr>
          </a:p>
        </p:txBody>
      </p:sp>
      <p:sp>
        <p:nvSpPr>
          <p:cNvPr id="98" name="TextBox 12"/>
          <p:cNvSpPr/>
          <p:nvPr/>
        </p:nvSpPr>
        <p:spPr>
          <a:xfrm>
            <a:off x="1714320" y="3545280"/>
            <a:ext cx="2526120" cy="66672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Função na equipe</a:t>
            </a:r>
            <a:endParaRPr lang="en-US" sz="1400" b="0" u="none" strike="noStrike">
              <a:solidFill>
                <a:srgbClr val="000000"/>
              </a:solidFill>
              <a:effectLst/>
              <a:uFillTx/>
              <a:latin typeface="Arial"/>
            </a:endParaRPr>
          </a:p>
          <a:p>
            <a:pPr defTabSz="457200">
              <a:lnSpc>
                <a:spcPts val="1607"/>
              </a:lnSpc>
              <a:spcBef>
                <a:spcPts val="238"/>
              </a:spcBef>
            </a:pPr>
            <a:r>
              <a:rPr lang="en-US" sz="1400" b="0" u="none" strike="noStrike">
                <a:solidFill>
                  <a:srgbClr val="000000"/>
                </a:solidFill>
                <a:effectLst/>
                <a:uFillTx/>
                <a:latin typeface="Arial"/>
              </a:rPr>
              <a:t>—</a:t>
            </a:r>
            <a:endParaRPr lang="en-US" sz="1400" b="0" u="none" strike="noStrike">
              <a:solidFill>
                <a:srgbClr val="000000"/>
              </a:solidFill>
              <a:effectLst/>
              <a:uFillTx/>
              <a:latin typeface="Arial"/>
            </a:endParaRPr>
          </a:p>
          <a:p>
            <a:pPr defTabSz="457200">
              <a:lnSpc>
                <a:spcPts val="1607"/>
              </a:lnSpc>
              <a:spcBef>
                <a:spcPts val="241"/>
              </a:spcBef>
            </a:pPr>
            <a:r>
              <a:rPr lang="en-US" sz="1400" b="0" u="sng" strike="noStrike">
                <a:solidFill>
                  <a:srgbClr val="0000FF"/>
                </a:solidFill>
                <a:effectLst/>
                <a:uFillTx/>
                <a:latin typeface="Arial"/>
                <a:hlinkClick r:id="rId2"/>
              </a:rPr>
              <a:t>email.address@email.com/edu</a:t>
            </a:r>
            <a:endParaRPr lang="en-US" sz="1400" b="0" u="none" strike="noStrike">
              <a:solidFill>
                <a:srgbClr val="000000"/>
              </a:solidFill>
              <a:effectLst/>
              <a:uFillTx/>
              <a:latin typeface="Arial"/>
            </a:endParaRPr>
          </a:p>
        </p:txBody>
      </p:sp>
      <p:sp>
        <p:nvSpPr>
          <p:cNvPr id="99" name="Rectangle 13"/>
          <p:cNvSpPr/>
          <p:nvPr/>
        </p:nvSpPr>
        <p:spPr>
          <a:xfrm>
            <a:off x="1714320" y="4194000"/>
            <a:ext cx="2445840" cy="12240"/>
          </a:xfrm>
          <a:prstGeom prst="rect">
            <a:avLst/>
          </a:prstGeom>
          <a:solidFill>
            <a:srgbClr val="0F62FE"/>
          </a:solidFill>
          <a:ln w="0">
            <a:noFill/>
          </a:ln>
        </p:spPr>
        <p:style>
          <a:lnRef idx="0"/>
          <a:fillRef idx="0"/>
          <a:effectRef idx="0"/>
          <a:fontRef idx="minor"/>
        </p:style>
        <p:txBody>
          <a:bodyPr lIns="90000" tIns="-32040" rIns="90000" bIns="-32040" anchor="ctr">
            <a:noAutofit/>
          </a:bodyPr>
          <a:p>
            <a:pPr/>
            <a:endParaRPr lang="en-US" sz="1800" b="0" u="none" strike="noStrike">
              <a:solidFill>
                <a:schemeClr val="dk1"/>
              </a:solidFill>
              <a:effectLst/>
              <a:uFillTx/>
              <a:latin typeface="Calibri"/>
            </a:endParaRPr>
          </a:p>
        </p:txBody>
      </p:sp>
      <p:sp>
        <p:nvSpPr>
          <p:cNvPr id="100" name="TextBox 14"/>
          <p:cNvSpPr/>
          <p:nvPr/>
        </p:nvSpPr>
        <p:spPr>
          <a:xfrm>
            <a:off x="1714320" y="4777920"/>
            <a:ext cx="150336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Nome Sobrenome</a:t>
            </a:r>
            <a:endParaRPr lang="en-US" sz="1400" b="0" u="none" strike="noStrike">
              <a:solidFill>
                <a:srgbClr val="000000"/>
              </a:solidFill>
              <a:effectLst/>
              <a:uFillTx/>
              <a:latin typeface="Arial"/>
            </a:endParaRPr>
          </a:p>
        </p:txBody>
      </p:sp>
      <p:sp>
        <p:nvSpPr>
          <p:cNvPr id="101" name="TextBox 15"/>
          <p:cNvSpPr/>
          <p:nvPr/>
        </p:nvSpPr>
        <p:spPr>
          <a:xfrm>
            <a:off x="1714320" y="5247360"/>
            <a:ext cx="2526120" cy="66672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Função na equipe</a:t>
            </a:r>
            <a:endParaRPr lang="en-US" sz="1400" b="0" u="none" strike="noStrike">
              <a:solidFill>
                <a:srgbClr val="000000"/>
              </a:solidFill>
              <a:effectLst/>
              <a:uFillTx/>
              <a:latin typeface="Arial"/>
            </a:endParaRPr>
          </a:p>
          <a:p>
            <a:pPr defTabSz="457200">
              <a:lnSpc>
                <a:spcPts val="1607"/>
              </a:lnSpc>
              <a:spcBef>
                <a:spcPts val="241"/>
              </a:spcBef>
            </a:pPr>
            <a:r>
              <a:rPr lang="en-US" sz="1400" b="0" u="none" strike="noStrike">
                <a:solidFill>
                  <a:srgbClr val="000000"/>
                </a:solidFill>
                <a:effectLst/>
                <a:uFillTx/>
                <a:latin typeface="Arial"/>
              </a:rPr>
              <a:t>—</a:t>
            </a:r>
            <a:endParaRPr lang="en-US" sz="1400" b="0" u="none" strike="noStrike">
              <a:solidFill>
                <a:srgbClr val="000000"/>
              </a:solidFill>
              <a:effectLst/>
              <a:uFillTx/>
              <a:latin typeface="Arial"/>
            </a:endParaRPr>
          </a:p>
          <a:p>
            <a:pPr defTabSz="457200">
              <a:lnSpc>
                <a:spcPts val="1607"/>
              </a:lnSpc>
              <a:spcBef>
                <a:spcPts val="241"/>
              </a:spcBef>
            </a:pPr>
            <a:r>
              <a:rPr lang="en-US" sz="1400" b="0" u="sng" strike="noStrike">
                <a:solidFill>
                  <a:srgbClr val="0000FF"/>
                </a:solidFill>
                <a:effectLst/>
                <a:uFillTx/>
                <a:latin typeface="Arial"/>
                <a:hlinkClick r:id="rId3"/>
              </a:rPr>
              <a:t>email.address@email.com/edu</a:t>
            </a:r>
            <a:endParaRPr lang="en-US" sz="1400" b="0" u="none" strike="noStrike">
              <a:solidFill>
                <a:srgbClr val="000000"/>
              </a:solidFill>
              <a:effectLst/>
              <a:uFillTx/>
              <a:latin typeface="Arial"/>
            </a:endParaRPr>
          </a:p>
        </p:txBody>
      </p:sp>
      <p:sp>
        <p:nvSpPr>
          <p:cNvPr id="102" name="Rectangle 16"/>
          <p:cNvSpPr/>
          <p:nvPr/>
        </p:nvSpPr>
        <p:spPr>
          <a:xfrm>
            <a:off x="1714320" y="5895720"/>
            <a:ext cx="2445840" cy="12240"/>
          </a:xfrm>
          <a:prstGeom prst="rect">
            <a:avLst/>
          </a:prstGeom>
          <a:solidFill>
            <a:srgbClr val="0F62FE"/>
          </a:solidFill>
          <a:ln w="0">
            <a:noFill/>
          </a:ln>
        </p:spPr>
        <p:style>
          <a:lnRef idx="0"/>
          <a:fillRef idx="0"/>
          <a:effectRef idx="0"/>
          <a:fontRef idx="minor"/>
        </p:style>
        <p:txBody>
          <a:bodyPr lIns="90000" tIns="-32040" rIns="90000" bIns="-32040" anchor="ctr">
            <a:noAutofit/>
          </a:bodyPr>
          <a:p>
            <a:pPr/>
            <a:endParaRPr lang="en-US" sz="1800" b="0" u="none" strike="noStrike">
              <a:solidFill>
                <a:schemeClr val="dk1"/>
              </a:solidFill>
              <a:effectLst/>
              <a:uFillTx/>
              <a:latin typeface="Calibri"/>
            </a:endParaRPr>
          </a:p>
        </p:txBody>
      </p:sp>
      <p:sp>
        <p:nvSpPr>
          <p:cNvPr id="103" name="TextBox 17"/>
          <p:cNvSpPr/>
          <p:nvPr/>
        </p:nvSpPr>
        <p:spPr>
          <a:xfrm>
            <a:off x="7808400" y="3076200"/>
            <a:ext cx="150336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Nome Sobrenome</a:t>
            </a:r>
            <a:endParaRPr lang="en-US" sz="1400" b="0" u="none" strike="noStrike">
              <a:solidFill>
                <a:srgbClr val="000000"/>
              </a:solidFill>
              <a:effectLst/>
              <a:uFillTx/>
              <a:latin typeface="Arial"/>
            </a:endParaRPr>
          </a:p>
        </p:txBody>
      </p:sp>
      <p:sp>
        <p:nvSpPr>
          <p:cNvPr id="104" name="TextBox 18"/>
          <p:cNvSpPr/>
          <p:nvPr/>
        </p:nvSpPr>
        <p:spPr>
          <a:xfrm>
            <a:off x="7808400" y="3545280"/>
            <a:ext cx="2526120" cy="66672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Função na equipe</a:t>
            </a:r>
            <a:endParaRPr lang="en-US" sz="1400" b="0" u="none" strike="noStrike">
              <a:solidFill>
                <a:srgbClr val="000000"/>
              </a:solidFill>
              <a:effectLst/>
              <a:uFillTx/>
              <a:latin typeface="Arial"/>
            </a:endParaRPr>
          </a:p>
          <a:p>
            <a:pPr defTabSz="457200">
              <a:lnSpc>
                <a:spcPts val="1607"/>
              </a:lnSpc>
              <a:spcBef>
                <a:spcPts val="238"/>
              </a:spcBef>
            </a:pPr>
            <a:r>
              <a:rPr lang="en-US" sz="1400" b="0" u="none" strike="noStrike">
                <a:solidFill>
                  <a:srgbClr val="000000"/>
                </a:solidFill>
                <a:effectLst/>
                <a:uFillTx/>
                <a:latin typeface="Arial"/>
              </a:rPr>
              <a:t>—</a:t>
            </a:r>
            <a:endParaRPr lang="en-US" sz="1400" b="0" u="none" strike="noStrike">
              <a:solidFill>
                <a:srgbClr val="000000"/>
              </a:solidFill>
              <a:effectLst/>
              <a:uFillTx/>
              <a:latin typeface="Arial"/>
            </a:endParaRPr>
          </a:p>
          <a:p>
            <a:pPr defTabSz="457200">
              <a:lnSpc>
                <a:spcPts val="1607"/>
              </a:lnSpc>
              <a:spcBef>
                <a:spcPts val="241"/>
              </a:spcBef>
            </a:pPr>
            <a:r>
              <a:rPr lang="en-US" sz="1400" b="0" u="sng" strike="noStrike">
                <a:solidFill>
                  <a:srgbClr val="0000FF"/>
                </a:solidFill>
                <a:effectLst/>
                <a:uFillTx/>
                <a:latin typeface="Arial"/>
                <a:hlinkClick r:id="rId4"/>
              </a:rPr>
              <a:t>email.address@email.com/edu</a:t>
            </a:r>
            <a:endParaRPr lang="en-US" sz="1400" b="0" u="none" strike="noStrike">
              <a:solidFill>
                <a:srgbClr val="000000"/>
              </a:solidFill>
              <a:effectLst/>
              <a:uFillTx/>
              <a:latin typeface="Arial"/>
            </a:endParaRPr>
          </a:p>
        </p:txBody>
      </p:sp>
      <p:sp>
        <p:nvSpPr>
          <p:cNvPr id="105" name="Rectangle 19"/>
          <p:cNvSpPr/>
          <p:nvPr/>
        </p:nvSpPr>
        <p:spPr>
          <a:xfrm>
            <a:off x="7808040" y="4194000"/>
            <a:ext cx="2445840" cy="12240"/>
          </a:xfrm>
          <a:prstGeom prst="rect">
            <a:avLst/>
          </a:prstGeom>
          <a:solidFill>
            <a:srgbClr val="0F62FE"/>
          </a:solidFill>
          <a:ln w="0">
            <a:noFill/>
          </a:ln>
        </p:spPr>
        <p:style>
          <a:lnRef idx="0"/>
          <a:fillRef idx="0"/>
          <a:effectRef idx="0"/>
          <a:fontRef idx="minor"/>
        </p:style>
        <p:txBody>
          <a:bodyPr lIns="90000" tIns="-32040" rIns="90000" bIns="-32040" anchor="ctr">
            <a:noAutofit/>
          </a:bodyPr>
          <a:p>
            <a:pPr/>
            <a:endParaRPr lang="en-US" sz="1800" b="0" u="none" strike="noStrike">
              <a:solidFill>
                <a:schemeClr val="dk1"/>
              </a:solidFill>
              <a:effectLst/>
              <a:uFillTx/>
              <a:latin typeface="Calibri"/>
            </a:endParaRPr>
          </a:p>
        </p:txBody>
      </p:sp>
      <p:sp>
        <p:nvSpPr>
          <p:cNvPr id="106" name="TextBox 20"/>
          <p:cNvSpPr/>
          <p:nvPr/>
        </p:nvSpPr>
        <p:spPr>
          <a:xfrm>
            <a:off x="7808400" y="1348920"/>
            <a:ext cx="150336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Nome Sobrenome</a:t>
            </a:r>
            <a:endParaRPr lang="en-US" sz="1400" b="0" u="none" strike="noStrike">
              <a:solidFill>
                <a:srgbClr val="000000"/>
              </a:solidFill>
              <a:effectLst/>
              <a:uFillTx/>
              <a:latin typeface="Arial"/>
            </a:endParaRPr>
          </a:p>
        </p:txBody>
      </p:sp>
      <p:sp>
        <p:nvSpPr>
          <p:cNvPr id="107" name="TextBox 21"/>
          <p:cNvSpPr/>
          <p:nvPr/>
        </p:nvSpPr>
        <p:spPr>
          <a:xfrm>
            <a:off x="7808400" y="1818360"/>
            <a:ext cx="2526120" cy="66672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Função na equipe</a:t>
            </a:r>
            <a:endParaRPr lang="en-US" sz="1400" b="0" u="none" strike="noStrike">
              <a:solidFill>
                <a:srgbClr val="000000"/>
              </a:solidFill>
              <a:effectLst/>
              <a:uFillTx/>
              <a:latin typeface="Arial"/>
            </a:endParaRPr>
          </a:p>
          <a:p>
            <a:pPr defTabSz="457200">
              <a:lnSpc>
                <a:spcPts val="1607"/>
              </a:lnSpc>
              <a:spcBef>
                <a:spcPts val="241"/>
              </a:spcBef>
            </a:pPr>
            <a:r>
              <a:rPr lang="en-US" sz="1400" b="0" u="none" strike="noStrike">
                <a:solidFill>
                  <a:srgbClr val="000000"/>
                </a:solidFill>
                <a:effectLst/>
                <a:uFillTx/>
                <a:latin typeface="Arial"/>
              </a:rPr>
              <a:t>—</a:t>
            </a:r>
            <a:endParaRPr lang="en-US" sz="1400" b="0" u="none" strike="noStrike">
              <a:solidFill>
                <a:srgbClr val="000000"/>
              </a:solidFill>
              <a:effectLst/>
              <a:uFillTx/>
              <a:latin typeface="Arial"/>
            </a:endParaRPr>
          </a:p>
          <a:p>
            <a:pPr defTabSz="457200">
              <a:lnSpc>
                <a:spcPts val="1607"/>
              </a:lnSpc>
              <a:spcBef>
                <a:spcPts val="241"/>
              </a:spcBef>
            </a:pPr>
            <a:r>
              <a:rPr lang="en-US" sz="1400" b="0" u="sng" strike="noStrike">
                <a:solidFill>
                  <a:srgbClr val="0000FF"/>
                </a:solidFill>
                <a:effectLst/>
                <a:uFillTx/>
                <a:latin typeface="Arial"/>
                <a:hlinkClick r:id="rId5"/>
              </a:rPr>
              <a:t>email.address@email.com/edu</a:t>
            </a:r>
            <a:endParaRPr lang="en-US" sz="1400" b="0" u="none" strike="noStrike">
              <a:solidFill>
                <a:srgbClr val="000000"/>
              </a:solidFill>
              <a:effectLst/>
              <a:uFillTx/>
              <a:latin typeface="Arial"/>
            </a:endParaRPr>
          </a:p>
        </p:txBody>
      </p:sp>
      <p:sp>
        <p:nvSpPr>
          <p:cNvPr id="108" name="Rectangle 22"/>
          <p:cNvSpPr/>
          <p:nvPr/>
        </p:nvSpPr>
        <p:spPr>
          <a:xfrm>
            <a:off x="7808040" y="2467080"/>
            <a:ext cx="2445840" cy="12240"/>
          </a:xfrm>
          <a:prstGeom prst="rect">
            <a:avLst/>
          </a:prstGeom>
          <a:solidFill>
            <a:srgbClr val="0F62FE"/>
          </a:solidFill>
          <a:ln w="0">
            <a:noFill/>
          </a:ln>
        </p:spPr>
        <p:style>
          <a:lnRef idx="0"/>
          <a:fillRef idx="0"/>
          <a:effectRef idx="0"/>
          <a:fontRef idx="minor"/>
        </p:style>
        <p:txBody>
          <a:bodyPr lIns="90000" tIns="-32040" rIns="90000" bIns="-32040" anchor="ctr">
            <a:noAutofit/>
          </a:bodyPr>
          <a:p>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Rectangle 1"/>
          <p:cNvSpPr/>
          <p:nvPr/>
        </p:nvSpPr>
        <p:spPr>
          <a:xfrm>
            <a:off x="0" y="0"/>
            <a:ext cx="12191400" cy="5999400"/>
          </a:xfrm>
          <a:prstGeom prst="rect">
            <a:avLst/>
          </a:prstGeom>
          <a:solidFill>
            <a:srgbClr val="E5F6FF"/>
          </a:solidFill>
          <a:ln w="9523">
            <a:solidFill>
              <a:srgbClr val="E5F6FF"/>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pic>
        <p:nvPicPr>
          <p:cNvPr id="110" name="Picture 2" descr="image.png"/>
          <p:cNvPicPr/>
          <p:nvPr/>
        </p:nvPicPr>
        <p:blipFill>
          <a:blip r:embed="rId1"/>
          <a:stretch/>
        </p:blipFill>
        <p:spPr>
          <a:xfrm>
            <a:off x="11125800" y="6246720"/>
            <a:ext cx="847440" cy="332280"/>
          </a:xfrm>
          <a:prstGeom prst="rect">
            <a:avLst/>
          </a:prstGeom>
          <a:noFill/>
          <a:ln w="0">
            <a:noFill/>
          </a:ln>
        </p:spPr>
      </p:pic>
      <p:sp>
        <p:nvSpPr>
          <p:cNvPr id="111" name="TextBox 3"/>
          <p:cNvSpPr/>
          <p:nvPr/>
        </p:nvSpPr>
        <p:spPr>
          <a:xfrm>
            <a:off x="288000" y="228960"/>
            <a:ext cx="4926240" cy="1263600"/>
          </a:xfrm>
          <a:prstGeom prst="rect">
            <a:avLst/>
          </a:prstGeom>
          <a:noFill/>
          <a:ln w="0">
            <a:noFill/>
          </a:ln>
        </p:spPr>
        <p:style>
          <a:lnRef idx="0"/>
          <a:fillRef idx="0"/>
          <a:effectRef idx="0"/>
          <a:fontRef idx="minor"/>
        </p:style>
        <p:txBody>
          <a:bodyPr lIns="0" tIns="0" rIns="0" bIns="0" anchor="t">
            <a:noAutofit/>
          </a:bodyPr>
          <a:p>
            <a:pPr defTabSz="457200">
              <a:lnSpc>
                <a:spcPts val="5159"/>
              </a:lnSpc>
            </a:pPr>
            <a:r>
              <a:rPr lang="en-US" sz="4300" b="0" u="none" strike="noStrike">
                <a:solidFill>
                  <a:srgbClr val="000000"/>
                </a:solidFill>
                <a:effectLst/>
                <a:uFillTx/>
                <a:latin typeface="Arial"/>
              </a:rPr>
              <a:t>Enquadramento da oportunidade</a:t>
            </a:r>
            <a:endParaRPr lang="en-US" sz="4300" b="0" u="none" strike="noStrike">
              <a:solidFill>
                <a:srgbClr val="000000"/>
              </a:solidFill>
              <a:effectLst/>
              <a:uFillTx/>
              <a:latin typeface="Arial"/>
            </a:endParaRPr>
          </a:p>
        </p:txBody>
      </p:sp>
      <p:sp>
        <p:nvSpPr>
          <p:cNvPr id="112" name="TextBox 4"/>
          <p:cNvSpPr/>
          <p:nvPr/>
        </p:nvSpPr>
        <p:spPr>
          <a:xfrm>
            <a:off x="288000" y="2194560"/>
            <a:ext cx="5762880" cy="2573640"/>
          </a:xfrm>
          <a:prstGeom prst="rect">
            <a:avLst/>
          </a:prstGeom>
          <a:noFill/>
          <a:ln w="0">
            <a:noFill/>
          </a:ln>
        </p:spPr>
        <p:style>
          <a:lnRef idx="0"/>
          <a:fillRef idx="0"/>
          <a:effectRef idx="0"/>
          <a:fontRef idx="minor"/>
        </p:style>
        <p:txBody>
          <a:bodyPr lIns="0" tIns="0" rIns="0" bIns="0" anchor="t">
            <a:noAutofit/>
          </a:bodyPr>
          <a:p>
            <a:pPr defTabSz="457200">
              <a:lnSpc>
                <a:spcPts val="5159"/>
              </a:lnSpc>
            </a:pPr>
            <a:r>
              <a:rPr lang="en-US" sz="4300" b="0" i="1" u="none" strike="noStrike">
                <a:solidFill>
                  <a:srgbClr val="000000"/>
                </a:solidFill>
                <a:effectLst/>
                <a:uFillTx/>
                <a:latin typeface="Arial"/>
              </a:rPr>
              <a:t>Do problema do setor para uma </a:t>
            </a:r>
            <a:endParaRPr lang="en-US" sz="4300" b="0" u="none" strike="noStrike">
              <a:solidFill>
                <a:srgbClr val="000000"/>
              </a:solidFill>
              <a:effectLst/>
              <a:uFillTx/>
              <a:latin typeface="Arial"/>
            </a:endParaRPr>
          </a:p>
          <a:p>
            <a:pPr defTabSz="457200">
              <a:lnSpc>
                <a:spcPts val="5159"/>
              </a:lnSpc>
            </a:pPr>
            <a:r>
              <a:rPr lang="en-US" sz="4300" b="0" i="1" u="none" strike="noStrike">
                <a:solidFill>
                  <a:srgbClr val="000000"/>
                </a:solidFill>
                <a:effectLst/>
                <a:uFillTx/>
                <a:latin typeface="Arial"/>
              </a:rPr>
              <a:t>oportunidade centrada no usuário</a:t>
            </a:r>
            <a:endParaRPr lang="en-US" sz="4300" b="0" u="none" strike="noStrike">
              <a:solidFill>
                <a:srgbClr val="000000"/>
              </a:solidFill>
              <a:effectLst/>
              <a:uFillTx/>
              <a:latin typeface="Arial"/>
            </a:endParaRPr>
          </a:p>
        </p:txBody>
      </p:sp>
      <p:sp>
        <p:nvSpPr>
          <p:cNvPr id="113" name="Rectangle 5"/>
          <p:cNvSpPr/>
          <p:nvPr/>
        </p:nvSpPr>
        <p:spPr>
          <a:xfrm>
            <a:off x="285840" y="2094120"/>
            <a:ext cx="7228440" cy="3479760"/>
          </a:xfrm>
          <a:prstGeom prst="rect">
            <a:avLst/>
          </a:prstGeom>
          <a:solidFill>
            <a:srgbClr val="E5F6FF"/>
          </a:solidFill>
          <a:ln w="9523">
            <a:solidFill>
              <a:srgbClr val="E5F6FF"/>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14" name="TextBox 6"/>
          <p:cNvSpPr/>
          <p:nvPr/>
        </p:nvSpPr>
        <p:spPr>
          <a:xfrm>
            <a:off x="331560" y="2148480"/>
            <a:ext cx="7217640" cy="29376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u="none" strike="noStrike">
                <a:solidFill>
                  <a:srgbClr val="000000"/>
                </a:solidFill>
                <a:effectLst/>
                <a:uFillTx/>
                <a:latin typeface="Arial"/>
              </a:rPr>
              <a:t>Antes de preencher a seção de Enquadramento da oportunidade, as equipes são fortemente incentivadas a realizar primeiro dois exercícios fundamentais:</a:t>
            </a:r>
            <a:endParaRPr lang="en-US" sz="1000" b="0" u="none" strike="noStrike">
              <a:solidFill>
                <a:srgbClr val="000000"/>
              </a:solidFill>
              <a:effectLst/>
              <a:uFillTx/>
              <a:latin typeface="Arial"/>
            </a:endParaRPr>
          </a:p>
        </p:txBody>
      </p:sp>
      <p:sp>
        <p:nvSpPr>
          <p:cNvPr id="115" name="TextBox 7"/>
          <p:cNvSpPr/>
          <p:nvPr/>
        </p:nvSpPr>
        <p:spPr>
          <a:xfrm>
            <a:off x="331560" y="2605680"/>
            <a:ext cx="7231320" cy="2934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Mapa de empatia: Ajuda você a entender profundamente a perspectiva, as emoções e as motivações do usuário. Garante que o enquadramento da oportunidade seja fundamentado em necessidades reais do usuário, e não em suposições.</a:t>
            </a:r>
            <a:endParaRPr lang="en-US" sz="1000" b="0" u="none" strike="noStrike">
              <a:solidFill>
                <a:srgbClr val="000000"/>
              </a:solidFill>
              <a:effectLst/>
              <a:uFillTx/>
              <a:latin typeface="Arial"/>
            </a:endParaRPr>
          </a:p>
        </p:txBody>
      </p:sp>
      <p:sp>
        <p:nvSpPr>
          <p:cNvPr id="116" name="TextBox 8"/>
          <p:cNvSpPr/>
          <p:nvPr/>
        </p:nvSpPr>
        <p:spPr>
          <a:xfrm>
            <a:off x="331560" y="3062880"/>
            <a:ext cx="7209720" cy="2934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Mapeamento de cenário atual: Registra a jornada atual do usuário, incluindo etapas, dores e contexto. Traz clareza sobre onde ocorrem os pontos de atrito e por que as soluções existentes falham.</a:t>
            </a:r>
            <a:endParaRPr lang="en-US" sz="1000" b="0" u="none" strike="noStrike">
              <a:solidFill>
                <a:srgbClr val="000000"/>
              </a:solidFill>
              <a:effectLst/>
              <a:uFillTx/>
              <a:latin typeface="Arial"/>
            </a:endParaRPr>
          </a:p>
        </p:txBody>
      </p:sp>
      <p:sp>
        <p:nvSpPr>
          <p:cNvPr id="117" name="TextBox 9"/>
          <p:cNvSpPr/>
          <p:nvPr/>
        </p:nvSpPr>
        <p:spPr>
          <a:xfrm>
            <a:off x="331560" y="3519720"/>
            <a:ext cx="7333200" cy="44640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u="none" strike="noStrike">
                <a:solidFill>
                  <a:srgbClr val="000000"/>
                </a:solidFill>
                <a:effectLst/>
                <a:uFillTx/>
                <a:latin typeface="Arial"/>
              </a:rPr>
              <a:t>Concluir esses exercícios primeiro tornará o processo de enquadramento da oportunidade mais preciso e centrado no usuário. </a:t>
            </a:r>
            <a:endParaRPr lang="en-US" sz="1000" b="0" u="none" strike="noStrike">
              <a:solidFill>
                <a:srgbClr val="000000"/>
              </a:solidFill>
              <a:effectLst/>
              <a:uFillTx/>
              <a:latin typeface="Arial"/>
            </a:endParaRPr>
          </a:p>
          <a:p>
            <a:pPr defTabSz="457200">
              <a:lnSpc>
                <a:spcPts val="1199"/>
              </a:lnSpc>
            </a:pPr>
            <a:r>
              <a:rPr lang="en-US" sz="1000" b="0" u="none" strike="noStrike">
                <a:solidFill>
                  <a:srgbClr val="000000"/>
                </a:solidFill>
                <a:effectLst/>
                <a:uFillTx/>
                <a:latin typeface="Arial"/>
              </a:rPr>
              <a:t>Eles fornecem insights essenciais que embasam seções como Tensão principal do usuário, Experiência atual e Por que as soluções atuais falham.</a:t>
            </a:r>
            <a:endParaRPr lang="en-US" sz="1000" b="0" u="none" strike="noStrike">
              <a:solidFill>
                <a:srgbClr val="000000"/>
              </a:solidFill>
              <a:effectLst/>
              <a:uFillTx/>
              <a:latin typeface="Arial"/>
            </a:endParaRPr>
          </a:p>
        </p:txBody>
      </p:sp>
      <p:sp>
        <p:nvSpPr>
          <p:cNvPr id="118" name="TextBox 10"/>
          <p:cNvSpPr/>
          <p:nvPr/>
        </p:nvSpPr>
        <p:spPr>
          <a:xfrm>
            <a:off x="331560" y="4129560"/>
            <a:ext cx="7132320" cy="2934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Opcional: Mapa de stakeholders: Se você estiver encontrando dificuldades para identificar usuários e stakeholders, este exercício ajuda a mapear os atores internos e externos que podem influenciar sua solução. </a:t>
            </a:r>
            <a:endParaRPr lang="en-US" sz="1000" b="0" u="none" strike="noStrike">
              <a:solidFill>
                <a:srgbClr val="000000"/>
              </a:solidFill>
              <a:effectLst/>
              <a:uFillTx/>
              <a:latin typeface="Arial"/>
            </a:endParaRPr>
          </a:p>
        </p:txBody>
      </p:sp>
      <p:sp>
        <p:nvSpPr>
          <p:cNvPr id="119" name="TextBox 11"/>
          <p:cNvSpPr/>
          <p:nvPr/>
        </p:nvSpPr>
        <p:spPr>
          <a:xfrm>
            <a:off x="331560" y="4586760"/>
            <a:ext cx="7286400" cy="2934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Opcional: Plano de pesquisa: Um plano de pesquisa é essencial ao iniciar um projeto. Ele se encaixa muito bem logo após você identificar as Suposições e Dúvidas da sua equipe.</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TextBox 1"/>
          <p:cNvSpPr/>
          <p:nvPr/>
        </p:nvSpPr>
        <p:spPr>
          <a:xfrm>
            <a:off x="11848680" y="6477120"/>
            <a:ext cx="885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5</a:t>
            </a:r>
            <a:endParaRPr lang="en-US" sz="800" b="0" u="none" strike="noStrike">
              <a:solidFill>
                <a:srgbClr val="000000"/>
              </a:solidFill>
              <a:effectLst/>
              <a:uFillTx/>
              <a:latin typeface="Arial"/>
            </a:endParaRPr>
          </a:p>
        </p:txBody>
      </p:sp>
      <p:sp>
        <p:nvSpPr>
          <p:cNvPr id="121" name="TextBox 2"/>
          <p:cNvSpPr/>
          <p:nvPr/>
        </p:nvSpPr>
        <p:spPr>
          <a:xfrm>
            <a:off x="288000" y="300240"/>
            <a:ext cx="27230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Contexto do problema do setor</a:t>
            </a:r>
            <a:endParaRPr lang="en-US" sz="1400" b="0" u="none" strike="noStrike">
              <a:solidFill>
                <a:srgbClr val="000000"/>
              </a:solidFill>
              <a:effectLst/>
              <a:uFillTx/>
              <a:latin typeface="Arial"/>
            </a:endParaRPr>
          </a:p>
        </p:txBody>
      </p:sp>
      <p:sp>
        <p:nvSpPr>
          <p:cNvPr id="122" name="TextBox 3"/>
          <p:cNvSpPr/>
          <p:nvPr/>
        </p:nvSpPr>
        <p:spPr>
          <a:xfrm>
            <a:off x="288000" y="727200"/>
            <a:ext cx="2968560" cy="837360"/>
          </a:xfrm>
          <a:prstGeom prst="rect">
            <a:avLst/>
          </a:prstGeom>
          <a:noFill/>
          <a:ln w="0">
            <a:noFill/>
          </a:ln>
        </p:spPr>
        <p:style>
          <a:lnRef idx="0"/>
          <a:fillRef idx="0"/>
          <a:effectRef idx="0"/>
          <a:fontRef idx="minor"/>
        </p:style>
        <p:txBody>
          <a:bodyPr lIns="0" tIns="0" rIns="0" bIns="0" anchor="t">
            <a:noAutofit/>
          </a:bodyPr>
          <a:p>
            <a:pPr defTabSz="457200">
              <a:lnSpc>
                <a:spcPts val="1678"/>
              </a:lnSpc>
            </a:pPr>
            <a:r>
              <a:rPr lang="en-US" sz="1400" b="1" u="none" strike="noStrike">
                <a:solidFill>
                  <a:srgbClr val="000000"/>
                </a:solidFill>
                <a:effectLst/>
                <a:uFillTx/>
                <a:latin typeface="Arial"/>
              </a:rPr>
              <a:t>Objetivo:</a:t>
            </a:r>
            <a:r>
              <a:rPr lang="en-US" sz="1400" b="0" u="none" strike="noStrike">
                <a:solidFill>
                  <a:srgbClr val="000000"/>
                </a:solidFill>
                <a:effectLst/>
                <a:uFillTx/>
                <a:latin typeface="Arial"/>
              </a:rPr>
              <a:t> Definir o desafio em nível de setor/indústria e por que ele é relevante.</a:t>
            </a:r>
            <a:endParaRPr lang="en-US" sz="1400" b="0" u="none" strike="noStrike">
              <a:solidFill>
                <a:srgbClr val="000000"/>
              </a:solidFill>
              <a:effectLst/>
              <a:uFillTx/>
              <a:latin typeface="Arial"/>
            </a:endParaRPr>
          </a:p>
          <a:p>
            <a:pPr defTabSz="457200">
              <a:lnSpc>
                <a:spcPts val="1607"/>
              </a:lnSpc>
              <a:spcBef>
                <a:spcPts val="71"/>
              </a:spcBef>
            </a:pPr>
            <a:r>
              <a:rPr lang="en-US" sz="1400" b="1" u="none" strike="noStrike">
                <a:solidFill>
                  <a:srgbClr val="000000"/>
                </a:solidFill>
                <a:effectLst/>
                <a:uFillTx/>
                <a:latin typeface="Arial"/>
              </a:rPr>
              <a:t>Quando: </a:t>
            </a:r>
            <a:r>
              <a:rPr lang="en-US" sz="1400" b="0" u="none" strike="noStrike">
                <a:solidFill>
                  <a:srgbClr val="000000"/>
                </a:solidFill>
                <a:effectLst/>
                <a:uFillTx/>
                <a:latin typeface="Arial"/>
              </a:rPr>
              <a:t>Até a semana 1.</a:t>
            </a:r>
            <a:endParaRPr lang="en-US" sz="1400" b="0" u="none" strike="noStrike">
              <a:solidFill>
                <a:srgbClr val="000000"/>
              </a:solidFill>
              <a:effectLst/>
              <a:uFillTx/>
              <a:latin typeface="Arial"/>
            </a:endParaRPr>
          </a:p>
        </p:txBody>
      </p:sp>
      <p:cxnSp>
        <p:nvCxnSpPr>
          <p:cNvPr id="123" name="Connector 4"/>
          <p:cNvCxnSpPr/>
          <p:nvPr/>
        </p:nvCxnSpPr>
        <p:spPr>
          <a:xfrm>
            <a:off x="6090120" y="1982520"/>
            <a:ext cx="720" cy="4609800"/>
          </a:xfrm>
          <a:prstGeom prst="straightConnector1">
            <a:avLst/>
          </a:prstGeom>
          <a:ln w="6349">
            <a:solidFill>
              <a:srgbClr val="000000"/>
            </a:solidFill>
            <a:round/>
          </a:ln>
        </p:spPr>
      </p:cxnSp>
      <p:sp>
        <p:nvSpPr>
          <p:cNvPr id="124" name="TextBox 5"/>
          <p:cNvSpPr/>
          <p:nvPr/>
        </p:nvSpPr>
        <p:spPr>
          <a:xfrm>
            <a:off x="287280" y="1998360"/>
            <a:ext cx="263412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Declarações de desafio do setor</a:t>
            </a:r>
            <a:endParaRPr lang="en-US" sz="1400" b="0" u="none" strike="noStrike">
              <a:solidFill>
                <a:srgbClr val="000000"/>
              </a:solidFill>
              <a:effectLst/>
              <a:uFillTx/>
              <a:latin typeface="Arial"/>
            </a:endParaRPr>
          </a:p>
        </p:txBody>
      </p:sp>
      <p:sp>
        <p:nvSpPr>
          <p:cNvPr id="125" name="TextBox 6"/>
          <p:cNvSpPr/>
          <p:nvPr/>
        </p:nvSpPr>
        <p:spPr>
          <a:xfrm>
            <a:off x="287280" y="2316960"/>
            <a:ext cx="5561640" cy="308520"/>
          </a:xfrm>
          <a:prstGeom prst="rect">
            <a:avLst/>
          </a:prstGeom>
          <a:noFill/>
          <a:ln w="0">
            <a:noFill/>
          </a:ln>
        </p:spPr>
        <p:style>
          <a:lnRef idx="0"/>
          <a:fillRef idx="0"/>
          <a:effectRef idx="0"/>
          <a:fontRef idx="minor"/>
        </p:style>
        <p:txBody>
          <a:bodyPr lIns="0" tIns="0" rIns="0" bIns="0" anchor="t">
            <a:noAutofit/>
          </a:bodyPr>
          <a:p>
            <a:pPr defTabSz="457200">
              <a:lnSpc>
                <a:spcPts val="1318"/>
              </a:lnSpc>
            </a:pPr>
            <a:r>
              <a:rPr lang="en-US" sz="1000" b="0" i="1" u="none" strike="noStrike">
                <a:solidFill>
                  <a:srgbClr val="000000"/>
                </a:solidFill>
                <a:effectLst/>
                <a:uFillTx/>
                <a:latin typeface="Arial"/>
              </a:rPr>
              <a:t>Trabalhadores economicamente ativos, mas sem histórico formal de crédito, são recusados pelos modelos tradicionais de análise, mesmo quando mantêm uma vida financeira estável. Esse comportamento já deixa rastro fora do sistema bancário: no relacionamento contínuo com a operadora de telefonia.</a:t>
            </a:r>
            <a:endParaRPr lang="en-US" sz="1000" b="0" u="none" strike="noStrike">
              <a:solidFill>
                <a:srgbClr val="000000"/>
              </a:solidFill>
              <a:effectLst/>
              <a:uFillTx/>
              <a:latin typeface="Arial"/>
            </a:endParaRPr>
          </a:p>
        </p:txBody>
      </p:sp>
      <p:sp>
        <p:nvSpPr>
          <p:cNvPr id="126" name="TextBox 7"/>
          <p:cNvSpPr/>
          <p:nvPr/>
        </p:nvSpPr>
        <p:spPr>
          <a:xfrm>
            <a:off x="6314760" y="1998360"/>
            <a:ext cx="252252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Por que este problema importa</a:t>
            </a:r>
            <a:endParaRPr lang="en-US" sz="1400" b="0" u="none" strike="noStrike">
              <a:solidFill>
                <a:srgbClr val="000000"/>
              </a:solidFill>
              <a:effectLst/>
              <a:uFillTx/>
              <a:latin typeface="Arial"/>
            </a:endParaRPr>
          </a:p>
        </p:txBody>
      </p:sp>
      <p:sp>
        <p:nvSpPr>
          <p:cNvPr id="127" name="TextBox 8"/>
          <p:cNvSpPr/>
          <p:nvPr/>
        </p:nvSpPr>
        <p:spPr>
          <a:xfrm>
            <a:off x="6321960" y="2316960"/>
            <a:ext cx="346248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i="1" u="none" strike="noStrike">
                <a:solidFill>
                  <a:srgbClr val="000000"/>
                </a:solidFill>
                <a:effectLst/>
                <a:uFillTx/>
                <a:latin typeface="Arial"/>
              </a:rPr>
              <a:t>- Consequências Econômicas</a:t>
            </a:r>
            <a:endParaRPr lang="en-US" sz="1000" b="0" u="none" strike="noStrike">
              <a:solidFill>
                <a:srgbClr val="000000"/>
              </a:solidFill>
              <a:effectLst/>
              <a:uFillTx/>
              <a:latin typeface="Arial"/>
            </a:endParaRPr>
          </a:p>
          <a:p>
            <a:pPr defTabSz="457200">
              <a:lnSpc>
                <a:spcPts val="1151"/>
              </a:lnSpc>
            </a:pPr>
            <a:r>
              <a:rPr lang="en-US" sz="1000" b="0" i="1" u="none" strike="noStrike">
                <a:solidFill>
                  <a:srgbClr val="000000"/>
                </a:solidFill>
                <a:effectLst/>
                <a:uFillTx/>
                <a:latin typeface="Arial"/>
              </a:rPr>
              <a:t>Sem crédito formal, o público recorre a meios ilegáis como agiotagem e "fiado", com juros muito acima do mercado regulado.</a:t>
            </a:r>
            <a:endParaRPr lang="en-US" sz="1000" b="0" u="none" strike="noStrike">
              <a:solidFill>
                <a:srgbClr val="000000"/>
              </a:solidFill>
              <a:effectLst/>
              <a:uFillTx/>
              <a:latin typeface="Arial"/>
            </a:endParaRPr>
          </a:p>
          <a:p>
            <a:pPr defTabSz="457200">
              <a:lnSpc>
                <a:spcPts val="1151"/>
              </a:lnSpc>
            </a:pPr>
            <a:endParaRPr lang="en-US" sz="1000" b="0" u="none" strike="noStrike">
              <a:solidFill>
                <a:srgbClr val="000000"/>
              </a:solidFill>
              <a:effectLst/>
              <a:uFillTx/>
              <a:latin typeface="Arial"/>
            </a:endParaRPr>
          </a:p>
          <a:p>
            <a:pPr defTabSz="457200">
              <a:lnSpc>
                <a:spcPts val="1151"/>
              </a:lnSpc>
            </a:pPr>
            <a:r>
              <a:rPr lang="en-US" sz="1000" b="0" i="1" u="none" strike="noStrike">
                <a:solidFill>
                  <a:srgbClr val="000000"/>
                </a:solidFill>
                <a:effectLst/>
                <a:uFillTx/>
                <a:latin typeface="Arial"/>
              </a:rPr>
              <a:t>Autônomos deixam de investir no próprio trabalho: renda fica </a:t>
            </a:r>
            <a:endParaRPr lang="en-US" sz="1000" b="0" u="none" strike="noStrike">
              <a:solidFill>
                <a:srgbClr val="000000"/>
              </a:solidFill>
              <a:effectLst/>
              <a:uFillTx/>
              <a:latin typeface="Arial"/>
            </a:endParaRPr>
          </a:p>
          <a:p>
            <a:pPr defTabSz="457200">
              <a:lnSpc>
                <a:spcPts val="1151"/>
              </a:lnSpc>
            </a:pPr>
            <a:r>
              <a:rPr lang="en-US" sz="1000" b="0" i="1" u="none" strike="noStrike">
                <a:solidFill>
                  <a:srgbClr val="000000"/>
                </a:solidFill>
                <a:effectLst/>
                <a:uFillTx/>
                <a:latin typeface="Arial"/>
              </a:rPr>
              <a:t>Travada.</a:t>
            </a:r>
            <a:endParaRPr lang="en-US" sz="1000" b="0" u="none" strike="noStrike">
              <a:solidFill>
                <a:srgbClr val="000000"/>
              </a:solidFill>
              <a:effectLst/>
              <a:uFillTx/>
              <a:latin typeface="Arial"/>
            </a:endParaRPr>
          </a:p>
          <a:p>
            <a:pPr defTabSz="457200">
              <a:lnSpc>
                <a:spcPts val="1151"/>
              </a:lnSpc>
            </a:pPr>
            <a:endParaRPr lang="en-US" sz="1000" b="0" u="none" strike="noStrike">
              <a:solidFill>
                <a:srgbClr val="000000"/>
              </a:solidFill>
              <a:effectLst/>
              <a:uFillTx/>
              <a:latin typeface="Arial"/>
            </a:endParaRPr>
          </a:p>
          <a:p>
            <a:pPr defTabSz="457200">
              <a:lnSpc>
                <a:spcPts val="1151"/>
              </a:lnSpc>
            </a:pPr>
            <a:r>
              <a:rPr lang="en-US" sz="1000" b="1" i="1" u="none" strike="noStrike">
                <a:solidFill>
                  <a:srgbClr val="000000"/>
                </a:solidFill>
                <a:effectLst/>
                <a:uFillTx/>
                <a:latin typeface="Arial"/>
              </a:rPr>
              <a:t>- Relevância estratégica</a:t>
            </a:r>
            <a:endParaRPr lang="en-US" sz="1000" b="0" u="none" strike="noStrike">
              <a:solidFill>
                <a:srgbClr val="000000"/>
              </a:solidFill>
              <a:effectLst/>
              <a:uFillTx/>
              <a:latin typeface="Arial"/>
            </a:endParaRPr>
          </a:p>
          <a:p>
            <a:pPr defTabSz="457200">
              <a:lnSpc>
                <a:spcPts val="1151"/>
              </a:lnSpc>
            </a:pPr>
            <a:r>
              <a:rPr lang="en-US" sz="1000" b="0" i="1" u="none" strike="noStrike">
                <a:solidFill>
                  <a:srgbClr val="000000"/>
                </a:solidFill>
                <a:effectLst/>
                <a:uFillTx/>
                <a:latin typeface="Arial"/>
              </a:rPr>
              <a:t>Bancos recusam um público grande que poderia ser adquirido com risco controlado.</a:t>
            </a:r>
            <a:endParaRPr lang="en-US" sz="1000" b="0" u="none" strike="noStrike">
              <a:solidFill>
                <a:srgbClr val="000000"/>
              </a:solidFill>
              <a:effectLst/>
              <a:uFillTx/>
              <a:latin typeface="Arial"/>
            </a:endParaRPr>
          </a:p>
          <a:p>
            <a:pPr defTabSz="457200">
              <a:lnSpc>
                <a:spcPts val="1151"/>
              </a:lnSpc>
            </a:pPr>
            <a:endParaRPr lang="en-US" sz="1000" b="0" u="none" strike="noStrike">
              <a:solidFill>
                <a:srgbClr val="000000"/>
              </a:solidFill>
              <a:effectLst/>
              <a:uFillTx/>
              <a:latin typeface="Arial"/>
            </a:endParaRPr>
          </a:p>
          <a:p>
            <a:pPr defTabSz="457200">
              <a:lnSpc>
                <a:spcPts val="1151"/>
              </a:lnSpc>
            </a:pPr>
            <a:r>
              <a:rPr lang="en-US" sz="1000" b="0" i="1" u="none" strike="noStrike">
                <a:solidFill>
                  <a:srgbClr val="000000"/>
                </a:solidFill>
                <a:effectLst/>
                <a:uFillTx/>
                <a:latin typeface="Arial"/>
              </a:rPr>
              <a:t>Operadoras têm dados comportamentais subutilizados e buscam retenção e migração para pós-pago.</a:t>
            </a:r>
            <a:endParaRPr lang="en-US" sz="1000" b="0" u="none" strike="noStrike">
              <a:solidFill>
                <a:srgbClr val="000000"/>
              </a:solidFill>
              <a:effectLst/>
              <a:uFillTx/>
              <a:latin typeface="Arial"/>
            </a:endParaRPr>
          </a:p>
          <a:p>
            <a:pPr defTabSz="457200">
              <a:lnSpc>
                <a:spcPts val="1151"/>
              </a:lnSpc>
            </a:pPr>
            <a:endParaRPr lang="en-US" sz="1000" b="0" u="none" strike="noStrike">
              <a:solidFill>
                <a:srgbClr val="000000"/>
              </a:solidFill>
              <a:effectLst/>
              <a:uFillTx/>
              <a:latin typeface="Arial"/>
            </a:endParaRPr>
          </a:p>
          <a:p>
            <a:pPr defTabSz="457200">
              <a:lnSpc>
                <a:spcPts val="1151"/>
              </a:lnSpc>
            </a:pPr>
            <a:r>
              <a:rPr lang="en-US" sz="1000" b="1" i="1" u="none" strike="noStrike">
                <a:solidFill>
                  <a:srgbClr val="000000"/>
                </a:solidFill>
                <a:effectLst/>
                <a:uFillTx/>
                <a:latin typeface="Arial"/>
              </a:rPr>
              <a:t>- Quem está sob pressão</a:t>
            </a:r>
            <a:endParaRPr lang="en-US" sz="1000" b="0" u="none" strike="noStrike">
              <a:solidFill>
                <a:srgbClr val="000000"/>
              </a:solidFill>
              <a:effectLst/>
              <a:uFillTx/>
              <a:latin typeface="Arial"/>
            </a:endParaRPr>
          </a:p>
          <a:p>
            <a:pPr defTabSz="457200">
              <a:lnSpc>
                <a:spcPts val="1151"/>
              </a:lnSpc>
            </a:pPr>
            <a:r>
              <a:rPr lang="en-US" sz="1000" b="0" i="1" u="none" strike="noStrike">
                <a:solidFill>
                  <a:srgbClr val="000000"/>
                </a:solidFill>
                <a:effectLst/>
                <a:uFillTx/>
                <a:latin typeface="Arial"/>
              </a:rPr>
              <a:t>Bancos e fintechs: crescer carteira sem aumentar inadimplência.</a:t>
            </a:r>
            <a:endParaRPr lang="en-US" sz="1000" b="0" u="none" strike="noStrike">
              <a:solidFill>
                <a:srgbClr val="000000"/>
              </a:solidFill>
              <a:effectLst/>
              <a:uFillTx/>
              <a:latin typeface="Arial"/>
            </a:endParaRPr>
          </a:p>
          <a:p>
            <a:pPr defTabSz="457200">
              <a:lnSpc>
                <a:spcPts val="1151"/>
              </a:lnSpc>
            </a:pPr>
            <a:endParaRPr lang="en-US" sz="1000" b="0" u="none" strike="noStrike">
              <a:solidFill>
                <a:srgbClr val="000000"/>
              </a:solidFill>
              <a:effectLst/>
              <a:uFillTx/>
              <a:latin typeface="Arial"/>
            </a:endParaRPr>
          </a:p>
          <a:p>
            <a:pPr defTabSz="457200">
              <a:lnSpc>
                <a:spcPts val="1151"/>
              </a:lnSpc>
            </a:pPr>
            <a:r>
              <a:rPr lang="en-US" sz="1000" b="0" i="1" u="none" strike="noStrike">
                <a:solidFill>
                  <a:srgbClr val="000000"/>
                </a:solidFill>
                <a:effectLst/>
                <a:uFillTx/>
                <a:latin typeface="Arial"/>
              </a:rPr>
              <a:t>Operadoras: reduzir churn e gerar nova receita.</a:t>
            </a:r>
            <a:endParaRPr lang="en-US" sz="1000" b="0" u="none" strike="noStrike">
              <a:solidFill>
                <a:srgbClr val="000000"/>
              </a:solidFill>
              <a:effectLst/>
              <a:uFillTx/>
              <a:latin typeface="Arial"/>
            </a:endParaRPr>
          </a:p>
          <a:p>
            <a:pPr defTabSz="457200">
              <a:lnSpc>
                <a:spcPts val="1151"/>
              </a:lnSpc>
            </a:pPr>
            <a:endParaRPr lang="en-US" sz="1000" b="0" u="none" strike="noStrike">
              <a:solidFill>
                <a:srgbClr val="000000"/>
              </a:solidFill>
              <a:effectLst/>
              <a:uFillTx/>
              <a:latin typeface="Arial"/>
            </a:endParaRPr>
          </a:p>
          <a:p>
            <a:pPr defTabSz="457200">
              <a:lnSpc>
                <a:spcPts val="1151"/>
              </a:lnSpc>
            </a:pPr>
            <a:r>
              <a:rPr lang="en-US" sz="1000" b="0" i="1" u="none" strike="noStrike">
                <a:solidFill>
                  <a:srgbClr val="000000"/>
                </a:solidFill>
                <a:effectLst/>
                <a:uFillTx/>
                <a:latin typeface="Arial"/>
              </a:rPr>
              <a:t>Reguladores: agenda de inclusão financeira e proteção de dados pessoais</a:t>
            </a:r>
            <a:endParaRPr lang="en-US" sz="1000" b="0" u="none" strike="noStrike">
              <a:solidFill>
                <a:srgbClr val="000000"/>
              </a:solidFill>
              <a:effectLst/>
              <a:uFillTx/>
              <a:latin typeface="Arial"/>
            </a:endParaRPr>
          </a:p>
        </p:txBody>
      </p:sp>
      <p:sp>
        <p:nvSpPr>
          <p:cNvPr id="128" name="TextBox 9"/>
          <p:cNvSpPr/>
          <p:nvPr/>
        </p:nvSpPr>
        <p:spPr>
          <a:xfrm>
            <a:off x="6321960" y="2652120"/>
            <a:ext cx="4231440" cy="644040"/>
          </a:xfrm>
          <a:prstGeom prst="rect">
            <a:avLst/>
          </a:prstGeom>
          <a:noFill/>
          <a:ln w="0">
            <a:noFill/>
          </a:ln>
        </p:spPr>
        <p:style>
          <a:lnRef idx="0"/>
          <a:fillRef idx="0"/>
          <a:effectRef idx="0"/>
          <a:fontRef idx="minor"/>
        </p:style>
        <p:txBody>
          <a:bodyPr lIns="0" tIns="0" rIns="0" bIns="0" anchor="t">
            <a:noAutofit/>
          </a:bodyPr>
          <a:p>
            <a:pPr/>
            <a:endParaRPr lang="en-US" sz="1800" b="0" u="none" strike="noStrike">
              <a:solidFill>
                <a:srgbClr val="000000"/>
              </a:solidFill>
              <a:effectLst/>
              <a:uFillTx/>
              <a:latin typeface="Arial"/>
            </a:endParaRPr>
          </a:p>
        </p:txBody>
      </p:sp>
      <p:sp>
        <p:nvSpPr>
          <p:cNvPr id="129" name="Rectangle 10"/>
          <p:cNvSpPr/>
          <p:nvPr/>
        </p:nvSpPr>
        <p:spPr>
          <a:xfrm>
            <a:off x="7281000" y="288000"/>
            <a:ext cx="4626360" cy="87084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30" name="TextBox 11"/>
          <p:cNvSpPr/>
          <p:nvPr/>
        </p:nvSpPr>
        <p:spPr>
          <a:xfrm>
            <a:off x="7327080" y="342000"/>
            <a:ext cx="4534560" cy="10558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Dica: </a:t>
            </a:r>
            <a:endParaRPr lang="en-US" sz="1000" b="0" u="none" strike="noStrike">
              <a:solidFill>
                <a:srgbClr val="000000"/>
              </a:solidFill>
              <a:effectLst/>
              <a:uFillTx/>
              <a:latin typeface="Arial"/>
            </a:endParaRPr>
          </a:p>
          <a:p>
            <a:pPr marL="171720" indent="-17172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Consulte o documento de Declarações de desafio do setor.</a:t>
            </a:r>
            <a:endParaRPr lang="en-US" sz="1000" b="0" u="none" strike="noStrike">
              <a:solidFill>
                <a:srgbClr val="000000"/>
              </a:solidFill>
              <a:effectLst/>
              <a:uFillTx/>
              <a:latin typeface="Arial"/>
            </a:endParaRPr>
          </a:p>
          <a:p>
            <a:pPr marL="171720" indent="-17172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Como equipe, discutam e selecionem uma declaração de problema para abordar. </a:t>
            </a:r>
            <a:endParaRPr lang="en-US" sz="1000" b="0" u="none" strike="noStrike">
              <a:solidFill>
                <a:srgbClr val="000000"/>
              </a:solidFill>
              <a:effectLst/>
              <a:uFillTx/>
              <a:latin typeface="Arial"/>
            </a:endParaRPr>
          </a:p>
          <a:p>
            <a:pPr marL="171720" indent="-17172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Neste slide, resumam o que vocês sabem/entendem sobre o problema. À medida que aprenderem mais e obtiverem insights mais profundos sobre o setor, atualizem este slide.</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31" name="Connector 1"/>
          <p:cNvCxnSpPr/>
          <p:nvPr/>
        </p:nvCxnSpPr>
        <p:spPr>
          <a:xfrm>
            <a:off x="3047400" y="284760"/>
            <a:ext cx="720" cy="5715720"/>
          </a:xfrm>
          <a:prstGeom prst="straightConnector1">
            <a:avLst/>
          </a:prstGeom>
          <a:ln w="6349">
            <a:solidFill>
              <a:srgbClr val="000000"/>
            </a:solidFill>
            <a:round/>
          </a:ln>
        </p:spPr>
      </p:cxnSp>
      <p:cxnSp>
        <p:nvCxnSpPr>
          <p:cNvPr id="132" name="Connector 2"/>
          <p:cNvCxnSpPr/>
          <p:nvPr/>
        </p:nvCxnSpPr>
        <p:spPr>
          <a:xfrm>
            <a:off x="6093360" y="283320"/>
            <a:ext cx="720" cy="5715720"/>
          </a:xfrm>
          <a:prstGeom prst="straightConnector1">
            <a:avLst/>
          </a:prstGeom>
          <a:ln w="6349">
            <a:solidFill>
              <a:srgbClr val="000000"/>
            </a:solidFill>
            <a:round/>
          </a:ln>
        </p:spPr>
      </p:cxnSp>
      <p:cxnSp>
        <p:nvCxnSpPr>
          <p:cNvPr id="133" name="Connector 3"/>
          <p:cNvCxnSpPr/>
          <p:nvPr/>
        </p:nvCxnSpPr>
        <p:spPr>
          <a:xfrm>
            <a:off x="9142560" y="284760"/>
            <a:ext cx="720" cy="5715720"/>
          </a:xfrm>
          <a:prstGeom prst="straightConnector1">
            <a:avLst/>
          </a:prstGeom>
          <a:ln w="6349">
            <a:solidFill>
              <a:srgbClr val="000000"/>
            </a:solidFill>
            <a:round/>
          </a:ln>
        </p:spPr>
      </p:cxnSp>
      <p:sp>
        <p:nvSpPr>
          <p:cNvPr id="134" name="TextBox 4"/>
          <p:cNvSpPr/>
          <p:nvPr/>
        </p:nvSpPr>
        <p:spPr>
          <a:xfrm>
            <a:off x="288000" y="303120"/>
            <a:ext cx="2270160" cy="432000"/>
          </a:xfrm>
          <a:prstGeom prst="rect">
            <a:avLst/>
          </a:prstGeom>
          <a:noFill/>
          <a:ln w="0">
            <a:noFill/>
          </a:ln>
        </p:spPr>
        <p:style>
          <a:lnRef idx="0"/>
          <a:fillRef idx="0"/>
          <a:effectRef idx="0"/>
          <a:fontRef idx="minor"/>
        </p:style>
        <p:txBody>
          <a:bodyPr lIns="0" tIns="0" rIns="0" bIns="0" anchor="t">
            <a:noAutofit/>
          </a:bodyPr>
          <a:p>
            <a:pPr defTabSz="457200">
              <a:lnSpc>
                <a:spcPts val="1848"/>
              </a:lnSpc>
            </a:pPr>
            <a:r>
              <a:rPr lang="en-US" sz="1400" b="1" u="none" strike="noStrike">
                <a:solidFill>
                  <a:srgbClr val="000000"/>
                </a:solidFill>
                <a:effectLst/>
                <a:uFillTx/>
                <a:latin typeface="Arial"/>
              </a:rPr>
              <a:t>Quem está vivenciando o problema?</a:t>
            </a:r>
            <a:endParaRPr lang="en-US" sz="1400" b="0" u="none" strike="noStrike">
              <a:solidFill>
                <a:srgbClr val="000000"/>
              </a:solidFill>
              <a:effectLst/>
              <a:uFillTx/>
              <a:latin typeface="Arial"/>
            </a:endParaRPr>
          </a:p>
        </p:txBody>
      </p:sp>
      <p:sp>
        <p:nvSpPr>
          <p:cNvPr id="135" name="TextBox 5"/>
          <p:cNvSpPr/>
          <p:nvPr/>
        </p:nvSpPr>
        <p:spPr>
          <a:xfrm>
            <a:off x="288000" y="1007640"/>
            <a:ext cx="2149560" cy="666720"/>
          </a:xfrm>
          <a:prstGeom prst="rect">
            <a:avLst/>
          </a:prstGeom>
          <a:noFill/>
          <a:ln w="0">
            <a:noFill/>
          </a:ln>
        </p:spPr>
        <p:style>
          <a:lnRef idx="0"/>
          <a:fillRef idx="0"/>
          <a:effectRef idx="0"/>
          <a:fontRef idx="minor"/>
        </p:style>
        <p:txBody>
          <a:bodyPr lIns="0" tIns="0" rIns="0" bIns="0" anchor="t">
            <a:noAutofit/>
          </a:bodyPr>
          <a:p>
            <a:pPr defTabSz="457200">
              <a:lnSpc>
                <a:spcPts val="1848"/>
              </a:lnSpc>
            </a:pPr>
            <a:r>
              <a:rPr lang="en-US" sz="1400" b="1" u="none" strike="noStrike">
                <a:solidFill>
                  <a:srgbClr val="000000"/>
                </a:solidFill>
                <a:effectLst/>
                <a:uFillTx/>
                <a:latin typeface="Arial"/>
              </a:rPr>
              <a:t>Objetivo:</a:t>
            </a:r>
            <a:r>
              <a:rPr lang="en-US" sz="1400" b="0" u="none" strike="noStrike">
                <a:solidFill>
                  <a:srgbClr val="000000"/>
                </a:solidFill>
                <a:effectLst/>
                <a:uFillTx/>
                <a:latin typeface="Arial"/>
              </a:rPr>
              <a:t> Identificar as pessoas mais afetadas.</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Quando:</a:t>
            </a:r>
            <a:r>
              <a:rPr lang="en-US" sz="1400" b="0" u="none" strike="noStrike">
                <a:solidFill>
                  <a:srgbClr val="000000"/>
                </a:solidFill>
                <a:effectLst/>
                <a:uFillTx/>
                <a:latin typeface="Arial"/>
              </a:rPr>
              <a:t> Até a semana 1.</a:t>
            </a:r>
            <a:endParaRPr lang="en-US" sz="1400" b="0" u="none" strike="noStrike">
              <a:solidFill>
                <a:srgbClr val="000000"/>
              </a:solidFill>
              <a:effectLst/>
              <a:uFillTx/>
              <a:latin typeface="Arial"/>
            </a:endParaRPr>
          </a:p>
        </p:txBody>
      </p:sp>
      <p:sp>
        <p:nvSpPr>
          <p:cNvPr id="136" name="TextBox 6"/>
          <p:cNvSpPr/>
          <p:nvPr/>
        </p:nvSpPr>
        <p:spPr>
          <a:xfrm>
            <a:off x="3333600" y="303120"/>
            <a:ext cx="13622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Usuário primário</a:t>
            </a:r>
            <a:endParaRPr lang="en-US" sz="1400" b="0" u="none" strike="noStrike">
              <a:solidFill>
                <a:srgbClr val="000000"/>
              </a:solidFill>
              <a:effectLst/>
              <a:uFillTx/>
              <a:latin typeface="Arial"/>
            </a:endParaRPr>
          </a:p>
        </p:txBody>
      </p:sp>
      <p:sp>
        <p:nvSpPr>
          <p:cNvPr id="137" name="TextBox 7"/>
          <p:cNvSpPr/>
          <p:nvPr/>
        </p:nvSpPr>
        <p:spPr>
          <a:xfrm>
            <a:off x="3333600" y="1724760"/>
            <a:ext cx="2383200" cy="64404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i="1" u="none" strike="noStrike">
                <a:solidFill>
                  <a:srgbClr val="000000"/>
                </a:solidFill>
                <a:effectLst/>
                <a:uFillTx/>
                <a:latin typeface="Arial"/>
              </a:rPr>
              <a:t>Trabalhadores autônomos e informais, como cabeleireiras, diaristas, ambulantes e motoristas. Recebem em dinheiro ou Pix (muitas vezes pela conta de outra pessoa), não têm histórico em birôs de crédito, mas pagam as contas em dia e recarregam o celular todo mês há anos.</a:t>
            </a:r>
            <a:endParaRPr lang="en-US" sz="1000" b="0" u="none" strike="noStrike">
              <a:solidFill>
                <a:srgbClr val="000000"/>
              </a:solidFill>
              <a:effectLst/>
              <a:uFillTx/>
              <a:latin typeface="Arial"/>
            </a:endParaRPr>
          </a:p>
        </p:txBody>
      </p:sp>
      <p:sp>
        <p:nvSpPr>
          <p:cNvPr id="138" name="TextBox 8"/>
          <p:cNvSpPr/>
          <p:nvPr/>
        </p:nvSpPr>
        <p:spPr>
          <a:xfrm>
            <a:off x="9430560" y="303120"/>
            <a:ext cx="211968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Stakeholders secundários</a:t>
            </a:r>
            <a:endParaRPr lang="en-US" sz="1400" b="0" u="none" strike="noStrike">
              <a:solidFill>
                <a:srgbClr val="000000"/>
              </a:solidFill>
              <a:effectLst/>
              <a:uFillTx/>
              <a:latin typeface="Arial"/>
            </a:endParaRPr>
          </a:p>
        </p:txBody>
      </p:sp>
      <p:sp>
        <p:nvSpPr>
          <p:cNvPr id="139" name="TextBox 9"/>
          <p:cNvSpPr/>
          <p:nvPr/>
        </p:nvSpPr>
        <p:spPr>
          <a:xfrm>
            <a:off x="9430560" y="1724760"/>
            <a:ext cx="2398680" cy="64404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i="1" u="none" strike="noStrike">
                <a:solidFill>
                  <a:srgbClr val="000000"/>
                </a:solidFill>
                <a:effectLst/>
                <a:uFillTx/>
                <a:latin typeface="Arial"/>
              </a:rPr>
              <a:t>Banco/fintech parceiro:</a:t>
            </a:r>
            <a:r>
              <a:rPr lang="en-US" sz="1000" b="0" i="1" u="none" strike="noStrike">
                <a:solidFill>
                  <a:srgbClr val="000000"/>
                </a:solidFill>
                <a:effectLst/>
                <a:uFillTx/>
                <a:latin typeface="Arial"/>
              </a:rPr>
              <a:t> área de risco e crédito, que decide e assume o risco.</a:t>
            </a:r>
            <a:endParaRPr lang="en-US" sz="1000" b="0" u="none" strike="noStrike">
              <a:solidFill>
                <a:srgbClr val="000000"/>
              </a:solidFill>
              <a:effectLst/>
              <a:uFillTx/>
              <a:latin typeface="Arial"/>
            </a:endParaRPr>
          </a:p>
          <a:p>
            <a:pPr defTabSz="457200">
              <a:lnSpc>
                <a:spcPts val="1154"/>
              </a:lnSpc>
            </a:pPr>
            <a:endParaRPr lang="en-US" sz="1000" b="0" u="none" strike="noStrike">
              <a:solidFill>
                <a:srgbClr val="000000"/>
              </a:solidFill>
              <a:effectLst/>
              <a:uFillTx/>
              <a:latin typeface="Arial"/>
            </a:endParaRPr>
          </a:p>
          <a:p>
            <a:pPr defTabSz="457200">
              <a:lnSpc>
                <a:spcPts val="1154"/>
              </a:lnSpc>
            </a:pPr>
            <a:r>
              <a:rPr lang="en-US" sz="1000" b="1" i="1" u="none" strike="noStrike">
                <a:solidFill>
                  <a:srgbClr val="000000"/>
                </a:solidFill>
                <a:effectLst/>
                <a:uFillTx/>
                <a:latin typeface="Arial"/>
              </a:rPr>
              <a:t>Operadora:</a:t>
            </a:r>
            <a:r>
              <a:rPr lang="en-US" sz="1000" b="0" i="1" u="none" strike="noStrike">
                <a:solidFill>
                  <a:srgbClr val="000000"/>
                </a:solidFill>
                <a:effectLst/>
                <a:uFillTx/>
                <a:latin typeface="Arial"/>
              </a:rPr>
              <a:t> dona dos dados; áreas de parcerias, CRM e privacidade (DPO).</a:t>
            </a:r>
            <a:endParaRPr lang="en-US" sz="1000" b="0" u="none" strike="noStrike">
              <a:solidFill>
                <a:srgbClr val="000000"/>
              </a:solidFill>
              <a:effectLst/>
              <a:uFillTx/>
              <a:latin typeface="Arial"/>
            </a:endParaRPr>
          </a:p>
          <a:p>
            <a:pPr defTabSz="457200">
              <a:lnSpc>
                <a:spcPts val="1154"/>
              </a:lnSpc>
            </a:pPr>
            <a:endParaRPr lang="en-US" sz="1000" b="0" u="none" strike="noStrike">
              <a:solidFill>
                <a:srgbClr val="000000"/>
              </a:solidFill>
              <a:effectLst/>
              <a:uFillTx/>
              <a:latin typeface="Arial"/>
            </a:endParaRPr>
          </a:p>
          <a:p>
            <a:pPr defTabSz="457200">
              <a:lnSpc>
                <a:spcPts val="1154"/>
              </a:lnSpc>
            </a:pPr>
            <a:r>
              <a:rPr lang="en-US" sz="1000" b="1" i="1" u="none" strike="noStrike">
                <a:solidFill>
                  <a:srgbClr val="000000"/>
                </a:solidFill>
                <a:effectLst/>
                <a:uFillTx/>
                <a:latin typeface="Arial"/>
              </a:rPr>
              <a:t>Reguladores:</a:t>
            </a:r>
            <a:r>
              <a:rPr lang="en-US" sz="1000" b="0" i="1" u="none" strike="noStrike">
                <a:solidFill>
                  <a:srgbClr val="000000"/>
                </a:solidFill>
                <a:effectLst/>
                <a:uFillTx/>
                <a:latin typeface="Arial"/>
              </a:rPr>
              <a:t> Banco Central (crédito) e ANPD (dados pessoais).</a:t>
            </a:r>
            <a:endParaRPr lang="en-US" sz="1000" b="0" u="none" strike="noStrike">
              <a:solidFill>
                <a:srgbClr val="000000"/>
              </a:solidFill>
              <a:effectLst/>
              <a:uFillTx/>
              <a:latin typeface="Arial"/>
            </a:endParaRPr>
          </a:p>
          <a:p>
            <a:pPr defTabSz="457200">
              <a:lnSpc>
                <a:spcPts val="1154"/>
              </a:lnSpc>
            </a:pPr>
            <a:endParaRPr lang="en-US" sz="1000" b="0" u="none" strike="noStrike">
              <a:solidFill>
                <a:srgbClr val="000000"/>
              </a:solidFill>
              <a:effectLst/>
              <a:uFillTx/>
              <a:latin typeface="Arial"/>
            </a:endParaRPr>
          </a:p>
          <a:p>
            <a:pPr defTabSz="457200">
              <a:lnSpc>
                <a:spcPts val="1154"/>
              </a:lnSpc>
            </a:pPr>
            <a:r>
              <a:rPr lang="en-US" sz="1000" b="1" i="1" u="none" strike="noStrike">
                <a:solidFill>
                  <a:srgbClr val="000000"/>
                </a:solidFill>
                <a:effectLst/>
                <a:uFillTx/>
                <a:latin typeface="Arial"/>
              </a:rPr>
              <a:t>Birôs de crédito:</a:t>
            </a:r>
            <a:r>
              <a:rPr lang="en-US" sz="1000" b="0" i="1" u="none" strike="noStrike">
                <a:solidFill>
                  <a:srgbClr val="000000"/>
                </a:solidFill>
                <a:effectLst/>
                <a:uFillTx/>
                <a:latin typeface="Arial"/>
              </a:rPr>
              <a:t> fonte tradicional que hoje "não enxerga" o usuário.</a:t>
            </a:r>
            <a:endParaRPr lang="en-US" sz="1000" b="0" u="none" strike="noStrike">
              <a:solidFill>
                <a:srgbClr val="000000"/>
              </a:solidFill>
              <a:effectLst/>
              <a:uFillTx/>
              <a:latin typeface="Arial"/>
            </a:endParaRPr>
          </a:p>
          <a:p>
            <a:pPr defTabSz="457200">
              <a:lnSpc>
                <a:spcPts val="1154"/>
              </a:lnSpc>
            </a:pPr>
            <a:endParaRPr lang="en-US" sz="1000" b="0" u="none" strike="noStrike">
              <a:solidFill>
                <a:srgbClr val="000000"/>
              </a:solidFill>
              <a:effectLst/>
              <a:uFillTx/>
              <a:latin typeface="Arial"/>
            </a:endParaRPr>
          </a:p>
          <a:p>
            <a:pPr defTabSz="457200">
              <a:lnSpc>
                <a:spcPts val="1154"/>
              </a:lnSpc>
            </a:pPr>
            <a:r>
              <a:rPr lang="en-US" sz="1000" b="1" i="1" u="none" strike="noStrike">
                <a:solidFill>
                  <a:srgbClr val="000000"/>
                </a:solidFill>
                <a:effectLst/>
                <a:uFillTx/>
                <a:latin typeface="Arial"/>
              </a:rPr>
              <a:t>Família/rede:</a:t>
            </a:r>
            <a:r>
              <a:rPr lang="en-US" sz="1000" b="0" i="1" u="none" strike="noStrike">
                <a:solidFill>
                  <a:srgbClr val="000000"/>
                </a:solidFill>
                <a:effectLst/>
                <a:uFillTx/>
                <a:latin typeface="Arial"/>
              </a:rPr>
              <a:t> quem empresta a conta ou o CPF hoje.</a:t>
            </a:r>
            <a:endParaRPr lang="en-US" sz="1000" b="0" u="none" strike="noStrike">
              <a:solidFill>
                <a:srgbClr val="000000"/>
              </a:solidFill>
              <a:effectLst/>
              <a:uFillTx/>
              <a:latin typeface="Arial"/>
            </a:endParaRPr>
          </a:p>
        </p:txBody>
      </p:sp>
      <p:sp>
        <p:nvSpPr>
          <p:cNvPr id="140" name="TextBox 10"/>
          <p:cNvSpPr/>
          <p:nvPr/>
        </p:nvSpPr>
        <p:spPr>
          <a:xfrm>
            <a:off x="6381360" y="303120"/>
            <a:ext cx="169596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Ambiente do usuário</a:t>
            </a:r>
            <a:endParaRPr lang="en-US" sz="1400" b="0" u="none" strike="noStrike">
              <a:solidFill>
                <a:srgbClr val="000000"/>
              </a:solidFill>
              <a:effectLst/>
              <a:uFillTx/>
              <a:latin typeface="Arial"/>
            </a:endParaRPr>
          </a:p>
        </p:txBody>
      </p:sp>
      <p:sp>
        <p:nvSpPr>
          <p:cNvPr id="141" name="TextBox 11"/>
          <p:cNvSpPr/>
          <p:nvPr/>
        </p:nvSpPr>
        <p:spPr>
          <a:xfrm>
            <a:off x="6381360" y="1724760"/>
            <a:ext cx="2509560" cy="97920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400"/>
              </a:spcAft>
              <a:tabLst>
                <a:tab pos="0" algn="l"/>
              </a:tabLst>
            </a:pPr>
            <a:r>
              <a:rPr lang="en-US" sz="1050" b="1" u="none" strike="noStrike">
                <a:solidFill>
                  <a:srgbClr val="161616"/>
                </a:solidFill>
                <a:effectLst/>
                <a:uFillTx/>
                <a:latin typeface="Arial"/>
                <a:ea typeface="Arial"/>
              </a:rPr>
              <a:t>Onde: </a:t>
            </a:r>
            <a:r>
              <a:rPr lang="en-US" sz="1050" b="0" u="none" strike="noStrike">
                <a:solidFill>
                  <a:srgbClr val="161616"/>
                </a:solidFill>
                <a:effectLst/>
                <a:uFillTx/>
                <a:latin typeface="Arial"/>
                <a:ea typeface="Arial"/>
              </a:rPr>
              <a:t>no celular (apps de crédito, WhatsApp) e presencialmente (agência, correspondente bancário), onde recebe a recusa.</a:t>
            </a:r>
            <a:endParaRPr lang="en-US" sz="1050" b="0" u="none" strike="noStrike">
              <a:solidFill>
                <a:srgbClr val="000000"/>
              </a:solidFill>
              <a:effectLst/>
              <a:uFillTx/>
              <a:latin typeface="Arial"/>
            </a:endParaRPr>
          </a:p>
          <a:p>
            <a:pPr defTabSz="914400">
              <a:lnSpc>
                <a:spcPct val="100000"/>
              </a:lnSpc>
              <a:spcAft>
                <a:spcPts val="400"/>
              </a:spcAft>
              <a:tabLst>
                <a:tab pos="0" algn="l"/>
              </a:tabLst>
            </a:pPr>
            <a:endParaRPr lang="en-US" sz="1050" b="0" u="none" strike="noStrike">
              <a:solidFill>
                <a:srgbClr val="000000"/>
              </a:solidFill>
              <a:effectLst/>
              <a:uFillTx/>
              <a:latin typeface="Arial"/>
            </a:endParaRPr>
          </a:p>
          <a:p>
            <a:pPr defTabSz="914400">
              <a:lnSpc>
                <a:spcPct val="100000"/>
              </a:lnSpc>
              <a:spcAft>
                <a:spcPts val="400"/>
              </a:spcAft>
              <a:tabLst>
                <a:tab pos="0" algn="l"/>
              </a:tabLst>
            </a:pPr>
            <a:r>
              <a:rPr lang="en-US" sz="1050" b="1" u="none" strike="noStrike">
                <a:solidFill>
                  <a:srgbClr val="161616"/>
                </a:solidFill>
                <a:effectLst/>
                <a:uFillTx/>
                <a:latin typeface="Arial"/>
                <a:ea typeface="Arial"/>
              </a:rPr>
              <a:t>Ferramentas e processos atuais: </a:t>
            </a:r>
            <a:r>
              <a:rPr lang="en-US" sz="1050" b="0" u="none" strike="noStrike">
                <a:solidFill>
                  <a:srgbClr val="161616"/>
                </a:solidFill>
                <a:effectLst/>
                <a:uFillTx/>
                <a:latin typeface="Arial"/>
                <a:ea typeface="Arial"/>
              </a:rPr>
              <a:t>cadastro com comprovante de renda, consulta a birô, score tradicional, recarga pré-paga, Pix via terceiros, agiota e fiado.</a:t>
            </a:r>
            <a:endParaRPr lang="en-US" sz="1050" b="0" u="none" strike="noStrike">
              <a:solidFill>
                <a:srgbClr val="000000"/>
              </a:solidFill>
              <a:effectLst/>
              <a:uFillTx/>
              <a:latin typeface="Arial"/>
            </a:endParaRPr>
          </a:p>
        </p:txBody>
      </p:sp>
      <p:sp>
        <p:nvSpPr>
          <p:cNvPr id="142" name="TextBox 12"/>
          <p:cNvSpPr/>
          <p:nvPr/>
        </p:nvSpPr>
        <p:spPr>
          <a:xfrm>
            <a:off x="11848680" y="6477120"/>
            <a:ext cx="885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6</a:t>
            </a:r>
            <a:endParaRPr lang="en-US" sz="800" b="0" u="none" strike="noStrike">
              <a:solidFill>
                <a:srgbClr val="000000"/>
              </a:solidFill>
              <a:effectLst/>
              <a:uFillTx/>
              <a:latin typeface="Arial"/>
            </a:endParaRPr>
          </a:p>
        </p:txBody>
      </p:sp>
      <p:sp>
        <p:nvSpPr>
          <p:cNvPr id="143" name="Rectangle 13"/>
          <p:cNvSpPr/>
          <p:nvPr/>
        </p:nvSpPr>
        <p:spPr>
          <a:xfrm>
            <a:off x="285840" y="2047320"/>
            <a:ext cx="2457000" cy="458172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44" name="TextBox 14"/>
          <p:cNvSpPr/>
          <p:nvPr/>
        </p:nvSpPr>
        <p:spPr>
          <a:xfrm>
            <a:off x="331560" y="2101320"/>
            <a:ext cx="1503000" cy="44640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Ferramentas-chave:</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Mapa de Empatia</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Mapa de Stakeholders</a:t>
            </a:r>
            <a:endParaRPr lang="en-US" sz="1000" b="0" u="none" strike="noStrike">
              <a:solidFill>
                <a:srgbClr val="000000"/>
              </a:solidFill>
              <a:effectLst/>
              <a:uFillTx/>
              <a:latin typeface="Arial"/>
            </a:endParaRPr>
          </a:p>
        </p:txBody>
      </p:sp>
      <p:sp>
        <p:nvSpPr>
          <p:cNvPr id="145" name="TextBox 15"/>
          <p:cNvSpPr/>
          <p:nvPr/>
        </p:nvSpPr>
        <p:spPr>
          <a:xfrm>
            <a:off x="331560" y="2863440"/>
            <a:ext cx="2454480" cy="44604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Dica: </a:t>
            </a:r>
            <a:r>
              <a:rPr lang="en-US" sz="1000" b="0" u="none" strike="noStrike">
                <a:solidFill>
                  <a:srgbClr val="000000"/>
                </a:solidFill>
                <a:effectLst/>
                <a:uFillTx/>
                <a:latin typeface="Arial"/>
              </a:rPr>
              <a:t>Para coletar essas informações, você precisará realizar pesquisas sobre o setor e o usuário.</a:t>
            </a:r>
            <a:endParaRPr lang="en-US" sz="1000" b="0" u="none" strike="noStrike">
              <a:solidFill>
                <a:srgbClr val="000000"/>
              </a:solidFill>
              <a:effectLst/>
              <a:uFillTx/>
              <a:latin typeface="Arial"/>
            </a:endParaRPr>
          </a:p>
        </p:txBody>
      </p:sp>
      <p:sp>
        <p:nvSpPr>
          <p:cNvPr id="146" name="TextBox 16"/>
          <p:cNvSpPr/>
          <p:nvPr/>
        </p:nvSpPr>
        <p:spPr>
          <a:xfrm>
            <a:off x="331560" y="3473280"/>
            <a:ext cx="2399040" cy="7506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1" u="none" strike="noStrike">
                <a:solidFill>
                  <a:srgbClr val="000000"/>
                </a:solidFill>
                <a:effectLst/>
                <a:uFillTx/>
                <a:latin typeface="Arial"/>
              </a:rPr>
              <a:t>	</a:t>
            </a:r>
            <a:r>
              <a:rPr lang="en-US" sz="1000" b="1" u="none" strike="noStrike">
                <a:solidFill>
                  <a:srgbClr val="000000"/>
                </a:solidFill>
                <a:effectLst/>
                <a:uFillTx/>
                <a:latin typeface="Arial"/>
              </a:rPr>
              <a:t>Defina objetivos claros: </a:t>
            </a:r>
            <a:r>
              <a:rPr lang="en-US" sz="1000" b="0" u="none" strike="noStrike">
                <a:solidFill>
                  <a:srgbClr val="000000"/>
                </a:solidFill>
                <a:effectLst/>
                <a:uFillTx/>
                <a:latin typeface="Arial"/>
              </a:rPr>
              <a:t>Comece identificando o que você precisa aprender sobre os usuários, por exemplo, dores, fluxos de trabalho ou expectativas de funcionalidades. </a:t>
            </a:r>
            <a:endParaRPr lang="en-US" sz="1000" b="0" u="none" strike="noStrike">
              <a:solidFill>
                <a:srgbClr val="000000"/>
              </a:solidFill>
              <a:effectLst/>
              <a:uFillTx/>
              <a:latin typeface="Arial"/>
            </a:endParaRPr>
          </a:p>
        </p:txBody>
      </p:sp>
      <p:sp>
        <p:nvSpPr>
          <p:cNvPr id="147" name="TextBox 17"/>
          <p:cNvSpPr/>
          <p:nvPr/>
        </p:nvSpPr>
        <p:spPr>
          <a:xfrm>
            <a:off x="331560" y="4387320"/>
            <a:ext cx="2486880" cy="75096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1" u="none" strike="noStrike">
                <a:solidFill>
                  <a:srgbClr val="000000"/>
                </a:solidFill>
                <a:effectLst/>
                <a:uFillTx/>
                <a:latin typeface="Arial"/>
              </a:rPr>
              <a:t>	</a:t>
            </a:r>
            <a:r>
              <a:rPr lang="en-US" sz="1000" b="1" u="none" strike="noStrike">
                <a:solidFill>
                  <a:srgbClr val="000000"/>
                </a:solidFill>
                <a:effectLst/>
                <a:uFillTx/>
                <a:latin typeface="Arial"/>
              </a:rPr>
              <a:t>Escolha os métodos certos: </a:t>
            </a:r>
            <a:r>
              <a:rPr lang="en-US" sz="1000" b="0" u="none" strike="noStrike">
                <a:solidFill>
                  <a:srgbClr val="000000"/>
                </a:solidFill>
                <a:effectLst/>
                <a:uFillTx/>
                <a:latin typeface="Arial"/>
              </a:rPr>
              <a:t>Defina a melhor maneira de coletar as </a:t>
            </a:r>
            <a:endParaRPr lang="en-US" sz="1000" b="0" u="none" strike="noStrike">
              <a:solidFill>
                <a:srgbClr val="000000"/>
              </a:solidFill>
              <a:effectLst/>
              <a:uFillTx/>
              <a:latin typeface="Arial"/>
            </a:endParaRPr>
          </a:p>
          <a:p>
            <a:pPr marL="171360" defTabSz="457200">
              <a:lnSpc>
                <a:spcPts val="1199"/>
              </a:lnSpc>
              <a:tabLst>
                <a:tab pos="0" algn="l"/>
              </a:tabLst>
            </a:pPr>
            <a:r>
              <a:rPr lang="en-US" sz="1000" b="0" u="none" strike="noStrike">
                <a:solidFill>
                  <a:srgbClr val="000000"/>
                </a:solidFill>
                <a:effectLst/>
                <a:uFillTx/>
                <a:latin typeface="Arial"/>
              </a:rPr>
              <a:t>informações necessárias, pesquisa secundária, entrevistas com usuários, questionários, etc. </a:t>
            </a:r>
            <a:endParaRPr lang="en-US" sz="1000" b="0" u="none" strike="noStrike">
              <a:solidFill>
                <a:srgbClr val="000000"/>
              </a:solidFill>
              <a:effectLst/>
              <a:uFillTx/>
              <a:latin typeface="Arial"/>
            </a:endParaRPr>
          </a:p>
        </p:txBody>
      </p:sp>
      <p:sp>
        <p:nvSpPr>
          <p:cNvPr id="148" name="TextBox 18"/>
          <p:cNvSpPr/>
          <p:nvPr/>
        </p:nvSpPr>
        <p:spPr>
          <a:xfrm>
            <a:off x="331560" y="5301720"/>
            <a:ext cx="2314800" cy="12078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1" u="none" strike="noStrike">
                <a:solidFill>
                  <a:srgbClr val="000000"/>
                </a:solidFill>
                <a:effectLst/>
                <a:uFillTx/>
                <a:latin typeface="Arial"/>
              </a:rPr>
              <a:t>	</a:t>
            </a:r>
            <a:r>
              <a:rPr lang="en-US" sz="1000" b="1" u="none" strike="noStrike">
                <a:solidFill>
                  <a:srgbClr val="000000"/>
                </a:solidFill>
                <a:effectLst/>
                <a:uFillTx/>
                <a:latin typeface="Arial"/>
              </a:rPr>
              <a:t>Documente e sintetize as descobertas: </a:t>
            </a:r>
            <a:r>
              <a:rPr lang="en-US" sz="1000" b="0" u="none" strike="noStrike">
                <a:solidFill>
                  <a:srgbClr val="000000"/>
                </a:solidFill>
                <a:effectLst/>
                <a:uFillTx/>
                <a:latin typeface="Arial"/>
              </a:rPr>
              <a:t>Organize as informações usando as ferramentas-chave e liste os principais insights sobre o problema, necessidades e dores dos usuários, soluções existentes e oportunidades para soluções de IA.</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TextBox 1"/>
          <p:cNvSpPr/>
          <p:nvPr/>
        </p:nvSpPr>
        <p:spPr>
          <a:xfrm>
            <a:off x="10321560" y="2240640"/>
            <a:ext cx="10008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Fim da jornada</a:t>
            </a:r>
            <a:endParaRPr lang="en-US" sz="1000" b="0" u="none" strike="noStrike">
              <a:solidFill>
                <a:srgbClr val="000000"/>
              </a:solidFill>
              <a:effectLst/>
              <a:uFillTx/>
              <a:latin typeface="Arial"/>
            </a:endParaRPr>
          </a:p>
          <a:p>
            <a:pPr defTabSz="457200">
              <a:lnSpc>
                <a:spcPts val="1318"/>
              </a:lnSpc>
              <a:spcBef>
                <a:spcPts val="28"/>
              </a:spcBef>
            </a:pPr>
            <a:r>
              <a:rPr lang="en-US" sz="1000" b="0" i="1" u="none" strike="noStrike">
                <a:solidFill>
                  <a:srgbClr val="000000"/>
                </a:solidFill>
                <a:effectLst/>
                <a:uFillTx/>
                <a:latin typeface="Arial"/>
              </a:rPr>
              <a:t>Recorre a agiota/fiado com juros altos, ou desiste de investir.</a:t>
            </a:r>
            <a:endParaRPr lang="en-US" sz="1000" b="0" u="none" strike="noStrike">
              <a:solidFill>
                <a:srgbClr val="000000"/>
              </a:solidFill>
              <a:effectLst/>
              <a:uFillTx/>
              <a:latin typeface="Arial"/>
            </a:endParaRPr>
          </a:p>
        </p:txBody>
      </p:sp>
      <p:sp>
        <p:nvSpPr>
          <p:cNvPr id="150" name="TextBox 2"/>
          <p:cNvSpPr/>
          <p:nvPr/>
        </p:nvSpPr>
        <p:spPr>
          <a:xfrm>
            <a:off x="5013360" y="224136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Busca crédito</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Vai a um banco ou app de crédito.</a:t>
            </a:r>
            <a:endParaRPr lang="en-US" sz="1000" b="0" u="none" strike="noStrike">
              <a:solidFill>
                <a:srgbClr val="000000"/>
              </a:solidFill>
              <a:effectLst/>
              <a:uFillTx/>
              <a:latin typeface="Arial"/>
            </a:endParaRPr>
          </a:p>
        </p:txBody>
      </p:sp>
      <p:sp>
        <p:nvSpPr>
          <p:cNvPr id="151" name="TextBox 3"/>
          <p:cNvSpPr/>
          <p:nvPr/>
        </p:nvSpPr>
        <p:spPr>
          <a:xfrm>
            <a:off x="7696080" y="224136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Análise</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Consulta ao birô: "sem histórico". Decisão automática.</a:t>
            </a:r>
            <a:endParaRPr lang="en-US" sz="1000" b="0" u="none" strike="noStrike">
              <a:solidFill>
                <a:srgbClr val="000000"/>
              </a:solidFill>
              <a:effectLst/>
              <a:uFillTx/>
              <a:latin typeface="Arial"/>
            </a:endParaRPr>
          </a:p>
        </p:txBody>
      </p:sp>
      <p:sp>
        <p:nvSpPr>
          <p:cNvPr id="152" name="TextBox 4"/>
          <p:cNvSpPr/>
          <p:nvPr/>
        </p:nvSpPr>
        <p:spPr>
          <a:xfrm>
            <a:off x="288000" y="303120"/>
            <a:ext cx="23396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Tensão Central do Usuário</a:t>
            </a:r>
            <a:endParaRPr lang="en-US" sz="1400" b="0" u="none" strike="noStrike">
              <a:solidFill>
                <a:srgbClr val="000000"/>
              </a:solidFill>
              <a:effectLst/>
              <a:uFillTx/>
              <a:latin typeface="Arial"/>
            </a:endParaRPr>
          </a:p>
        </p:txBody>
      </p:sp>
      <p:sp>
        <p:nvSpPr>
          <p:cNvPr id="153" name="TextBox 5"/>
          <p:cNvSpPr/>
          <p:nvPr/>
        </p:nvSpPr>
        <p:spPr>
          <a:xfrm>
            <a:off x="288000" y="772920"/>
            <a:ext cx="3647160" cy="43200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Objetivo:</a:t>
            </a:r>
            <a:r>
              <a:rPr lang="en-US" sz="1400" b="0" u="none" strike="noStrike">
                <a:solidFill>
                  <a:srgbClr val="000000"/>
                </a:solidFill>
                <a:effectLst/>
                <a:uFillTx/>
                <a:latin typeface="Arial"/>
              </a:rPr>
              <a:t> Capturar o cerne da oportunidade.</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Quando: </a:t>
            </a:r>
            <a:r>
              <a:rPr lang="en-US" sz="1400" b="0" u="none" strike="noStrike">
                <a:solidFill>
                  <a:srgbClr val="000000"/>
                </a:solidFill>
                <a:effectLst/>
                <a:uFillTx/>
                <a:latin typeface="Arial"/>
              </a:rPr>
              <a:t>Até a semana 1.</a:t>
            </a:r>
            <a:endParaRPr lang="en-US" sz="1400" b="0" u="none" strike="noStrike">
              <a:solidFill>
                <a:srgbClr val="000000"/>
              </a:solidFill>
              <a:effectLst/>
              <a:uFillTx/>
              <a:latin typeface="Arial"/>
            </a:endParaRPr>
          </a:p>
        </p:txBody>
      </p:sp>
      <p:sp>
        <p:nvSpPr>
          <p:cNvPr id="154" name="TextBox 6"/>
          <p:cNvSpPr/>
          <p:nvPr/>
        </p:nvSpPr>
        <p:spPr>
          <a:xfrm>
            <a:off x="3627000" y="2271600"/>
            <a:ext cx="85896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Gatilho</a:t>
            </a:r>
            <a:endParaRPr lang="en-US" sz="1000" b="0" u="none" strike="noStrike">
              <a:solidFill>
                <a:srgbClr val="000000"/>
              </a:solidFill>
              <a:effectLst/>
              <a:uFillTx/>
              <a:latin typeface="Arial"/>
            </a:endParaRPr>
          </a:p>
          <a:p>
            <a:pPr defTabSz="457200">
              <a:lnSpc>
                <a:spcPts val="1318"/>
              </a:lnSpc>
              <a:spcBef>
                <a:spcPts val="28"/>
              </a:spcBef>
            </a:pPr>
            <a:r>
              <a:rPr lang="en-US" sz="1000" b="0" i="1" u="none" strike="noStrike">
                <a:solidFill>
                  <a:srgbClr val="000000"/>
                </a:solidFill>
                <a:effectLst/>
                <a:uFillTx/>
                <a:latin typeface="Arial"/>
              </a:rPr>
              <a:t>Maria precisa comprar secador para atender mais clientes.</a:t>
            </a:r>
            <a:endParaRPr lang="en-US" sz="1000" b="0" u="none" strike="noStrike">
              <a:solidFill>
                <a:srgbClr val="000000"/>
              </a:solidFill>
              <a:effectLst/>
              <a:uFillTx/>
              <a:latin typeface="Arial"/>
            </a:endParaRPr>
          </a:p>
        </p:txBody>
      </p:sp>
      <p:sp>
        <p:nvSpPr>
          <p:cNvPr id="155" name="TextBox 7"/>
          <p:cNvSpPr/>
          <p:nvPr/>
        </p:nvSpPr>
        <p:spPr>
          <a:xfrm>
            <a:off x="6327720" y="227160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Cadastro</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Pedem comprovante de renda e conta própria. Ela não tem.</a:t>
            </a:r>
            <a:endParaRPr lang="en-US" sz="1000" b="0" u="none" strike="noStrike">
              <a:solidFill>
                <a:srgbClr val="000000"/>
              </a:solidFill>
              <a:effectLst/>
              <a:uFillTx/>
              <a:latin typeface="Arial"/>
            </a:endParaRPr>
          </a:p>
        </p:txBody>
      </p:sp>
      <p:sp>
        <p:nvSpPr>
          <p:cNvPr id="156" name="TextBox 8"/>
          <p:cNvSpPr/>
          <p:nvPr/>
        </p:nvSpPr>
        <p:spPr>
          <a:xfrm>
            <a:off x="9010440" y="227160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Recusa</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Negado, sem explicação e sem caminho para melhorar.</a:t>
            </a:r>
            <a:endParaRPr lang="en-US" sz="1000" b="0" u="none" strike="noStrike">
              <a:solidFill>
                <a:srgbClr val="000000"/>
              </a:solidFill>
              <a:effectLst/>
              <a:uFillTx/>
              <a:latin typeface="Arial"/>
            </a:endParaRPr>
          </a:p>
        </p:txBody>
      </p:sp>
      <p:cxnSp>
        <p:nvCxnSpPr>
          <p:cNvPr id="157" name="Connector 9"/>
          <p:cNvCxnSpPr/>
          <p:nvPr/>
        </p:nvCxnSpPr>
        <p:spPr>
          <a:xfrm>
            <a:off x="10237680" y="2249280"/>
            <a:ext cx="720" cy="1043280"/>
          </a:xfrm>
          <a:prstGeom prst="straightConnector1">
            <a:avLst/>
          </a:prstGeom>
          <a:ln w="6349">
            <a:solidFill>
              <a:srgbClr val="000000"/>
            </a:solidFill>
            <a:round/>
          </a:ln>
        </p:spPr>
      </p:cxnSp>
      <p:cxnSp>
        <p:nvCxnSpPr>
          <p:cNvPr id="158" name="Connector 10"/>
          <p:cNvCxnSpPr/>
          <p:nvPr/>
        </p:nvCxnSpPr>
        <p:spPr>
          <a:xfrm>
            <a:off x="4912200" y="2249640"/>
            <a:ext cx="720" cy="1043280"/>
          </a:xfrm>
          <a:prstGeom prst="straightConnector1">
            <a:avLst/>
          </a:prstGeom>
          <a:ln w="6349">
            <a:solidFill>
              <a:srgbClr val="000000"/>
            </a:solidFill>
            <a:round/>
          </a:ln>
        </p:spPr>
      </p:cxnSp>
      <p:cxnSp>
        <p:nvCxnSpPr>
          <p:cNvPr id="159" name="Connector 11"/>
          <p:cNvCxnSpPr/>
          <p:nvPr/>
        </p:nvCxnSpPr>
        <p:spPr>
          <a:xfrm>
            <a:off x="7594920" y="2249640"/>
            <a:ext cx="720" cy="1042920"/>
          </a:xfrm>
          <a:prstGeom prst="straightConnector1">
            <a:avLst/>
          </a:prstGeom>
          <a:ln w="6349">
            <a:solidFill>
              <a:srgbClr val="000000"/>
            </a:solidFill>
            <a:round/>
          </a:ln>
        </p:spPr>
      </p:cxnSp>
      <p:cxnSp>
        <p:nvCxnSpPr>
          <p:cNvPr id="160" name="Connector 12"/>
          <p:cNvCxnSpPr/>
          <p:nvPr/>
        </p:nvCxnSpPr>
        <p:spPr>
          <a:xfrm>
            <a:off x="3543480" y="2265480"/>
            <a:ext cx="720" cy="1043640"/>
          </a:xfrm>
          <a:prstGeom prst="straightConnector1">
            <a:avLst/>
          </a:prstGeom>
          <a:ln w="6349">
            <a:solidFill>
              <a:srgbClr val="000000"/>
            </a:solidFill>
            <a:round/>
          </a:ln>
        </p:spPr>
      </p:cxnSp>
      <p:cxnSp>
        <p:nvCxnSpPr>
          <p:cNvPr id="161" name="Connector 13"/>
          <p:cNvCxnSpPr/>
          <p:nvPr/>
        </p:nvCxnSpPr>
        <p:spPr>
          <a:xfrm>
            <a:off x="6226560" y="2265480"/>
            <a:ext cx="720" cy="1043640"/>
          </a:xfrm>
          <a:prstGeom prst="straightConnector1">
            <a:avLst/>
          </a:prstGeom>
          <a:ln w="6349">
            <a:solidFill>
              <a:srgbClr val="000000"/>
            </a:solidFill>
            <a:round/>
          </a:ln>
        </p:spPr>
      </p:cxnSp>
      <p:cxnSp>
        <p:nvCxnSpPr>
          <p:cNvPr id="162" name="Connector 14"/>
          <p:cNvCxnSpPr/>
          <p:nvPr/>
        </p:nvCxnSpPr>
        <p:spPr>
          <a:xfrm>
            <a:off x="8909280" y="2265480"/>
            <a:ext cx="720" cy="1043280"/>
          </a:xfrm>
          <a:prstGeom prst="straightConnector1">
            <a:avLst/>
          </a:prstGeom>
          <a:ln w="6349">
            <a:solidFill>
              <a:srgbClr val="000000"/>
            </a:solidFill>
            <a:round/>
          </a:ln>
        </p:spPr>
      </p:cxnSp>
      <p:pic>
        <p:nvPicPr>
          <p:cNvPr id="163" name="Picture 15" descr="image.png"/>
          <p:cNvPicPr/>
          <p:nvPr/>
        </p:nvPicPr>
        <p:blipFill>
          <a:blip r:embed="rId1"/>
          <a:stretch/>
        </p:blipFill>
        <p:spPr>
          <a:xfrm>
            <a:off x="3519720" y="3376440"/>
            <a:ext cx="7957440" cy="95400"/>
          </a:xfrm>
          <a:prstGeom prst="rect">
            <a:avLst/>
          </a:prstGeom>
          <a:noFill/>
          <a:ln w="0">
            <a:noFill/>
          </a:ln>
        </p:spPr>
      </p:pic>
      <p:sp>
        <p:nvSpPr>
          <p:cNvPr id="164" name="Oval 16"/>
          <p:cNvSpPr/>
          <p:nvPr/>
        </p:nvSpPr>
        <p:spPr>
          <a:xfrm>
            <a:off x="339012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65" name="Oval 17"/>
          <p:cNvSpPr/>
          <p:nvPr/>
        </p:nvSpPr>
        <p:spPr>
          <a:xfrm>
            <a:off x="4714200" y="3251520"/>
            <a:ext cx="337320" cy="337320"/>
          </a:xfrm>
          <a:prstGeom prst="ellipse">
            <a:avLst/>
          </a:prstGeom>
          <a:solidFill>
            <a:srgbClr val="FEDBDD"/>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66" name="Oval 18"/>
          <p:cNvSpPr/>
          <p:nvPr/>
        </p:nvSpPr>
        <p:spPr>
          <a:xfrm>
            <a:off x="607428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67" name="Oval 19"/>
          <p:cNvSpPr/>
          <p:nvPr/>
        </p:nvSpPr>
        <p:spPr>
          <a:xfrm>
            <a:off x="7398360" y="3251520"/>
            <a:ext cx="337320" cy="337320"/>
          </a:xfrm>
          <a:prstGeom prst="ellipse">
            <a:avLst/>
          </a:prstGeom>
          <a:solidFill>
            <a:srgbClr val="FEDBDD"/>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68" name="Oval 20"/>
          <p:cNvSpPr/>
          <p:nvPr/>
        </p:nvSpPr>
        <p:spPr>
          <a:xfrm>
            <a:off x="875052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69" name="Oval 21"/>
          <p:cNvSpPr/>
          <p:nvPr/>
        </p:nvSpPr>
        <p:spPr>
          <a:xfrm>
            <a:off x="1007856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70" name="TextBox 22"/>
          <p:cNvSpPr/>
          <p:nvPr/>
        </p:nvSpPr>
        <p:spPr>
          <a:xfrm>
            <a:off x="288000" y="6354720"/>
            <a:ext cx="239688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Fonte: IMPORTANTE, PRECISAMOS DEFINIR</a:t>
            </a:r>
            <a:endParaRPr lang="en-US" sz="800" b="0" u="none" strike="noStrike">
              <a:solidFill>
                <a:srgbClr val="000000"/>
              </a:solidFill>
              <a:effectLst/>
              <a:uFillTx/>
              <a:latin typeface="Arial"/>
            </a:endParaRPr>
          </a:p>
        </p:txBody>
      </p:sp>
      <p:sp>
        <p:nvSpPr>
          <p:cNvPr id="171" name="TextBox 23"/>
          <p:cNvSpPr/>
          <p:nvPr/>
        </p:nvSpPr>
        <p:spPr>
          <a:xfrm>
            <a:off x="288000" y="6476760"/>
            <a:ext cx="341640" cy="112320"/>
          </a:xfrm>
          <a:prstGeom prst="rect">
            <a:avLst/>
          </a:prstGeom>
          <a:noFill/>
          <a:ln w="0">
            <a:noFill/>
          </a:ln>
        </p:spPr>
        <p:style>
          <a:lnRef idx="0"/>
          <a:fillRef idx="0"/>
          <a:effectRef idx="0"/>
          <a:fontRef idx="minor"/>
        </p:style>
        <p:txBody>
          <a:bodyPr lIns="0" tIns="0" rIns="0" bIns="0" anchor="t">
            <a:noAutofit/>
          </a:bodyPr>
          <a:p>
            <a:pPr/>
            <a:endParaRPr lang="en-US" sz="1800" b="0" u="none" strike="noStrike">
              <a:solidFill>
                <a:srgbClr val="000000"/>
              </a:solidFill>
              <a:effectLst/>
              <a:uFillTx/>
              <a:latin typeface="Arial"/>
            </a:endParaRPr>
          </a:p>
        </p:txBody>
      </p:sp>
      <p:sp>
        <p:nvSpPr>
          <p:cNvPr id="172" name="TextBox 24"/>
          <p:cNvSpPr/>
          <p:nvPr/>
        </p:nvSpPr>
        <p:spPr>
          <a:xfrm>
            <a:off x="11848680" y="6477120"/>
            <a:ext cx="885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7</a:t>
            </a:r>
            <a:endParaRPr lang="en-US" sz="800" b="0" u="none" strike="noStrike">
              <a:solidFill>
                <a:srgbClr val="000000"/>
              </a:solidFill>
              <a:effectLst/>
              <a:uFillTx/>
              <a:latin typeface="Arial"/>
            </a:endParaRPr>
          </a:p>
        </p:txBody>
      </p:sp>
      <p:sp>
        <p:nvSpPr>
          <p:cNvPr id="173" name="TextBox 25"/>
          <p:cNvSpPr/>
          <p:nvPr/>
        </p:nvSpPr>
        <p:spPr>
          <a:xfrm>
            <a:off x="288000" y="2261880"/>
            <a:ext cx="2287800" cy="370440"/>
          </a:xfrm>
          <a:prstGeom prst="rect">
            <a:avLst/>
          </a:prstGeom>
          <a:noFill/>
          <a:ln w="0">
            <a:noFill/>
          </a:ln>
        </p:spPr>
        <p:style>
          <a:lnRef idx="0"/>
          <a:fillRef idx="0"/>
          <a:effectRef idx="0"/>
          <a:fontRef idx="minor"/>
        </p:style>
        <p:txBody>
          <a:bodyPr lIns="0" tIns="0" rIns="0" bIns="0" anchor="t">
            <a:noAutofit/>
          </a:bodyPr>
          <a:p>
            <a:pPr defTabSz="457200">
              <a:lnSpc>
                <a:spcPts val="1582"/>
              </a:lnSpc>
            </a:pPr>
            <a:r>
              <a:rPr lang="en-US" sz="1200" b="0" u="none" strike="noStrike">
                <a:solidFill>
                  <a:srgbClr val="0F62FE"/>
                </a:solidFill>
                <a:effectLst/>
                <a:uFillTx/>
                <a:latin typeface="Arial"/>
              </a:rPr>
              <a:t>Experiência atual do usuário Panorama geral do cenário atual</a:t>
            </a:r>
            <a:endParaRPr lang="en-US" sz="1200" b="0" u="none" strike="noStrike">
              <a:solidFill>
                <a:srgbClr val="000000"/>
              </a:solidFill>
              <a:effectLst/>
              <a:uFillTx/>
              <a:latin typeface="Arial"/>
            </a:endParaRPr>
          </a:p>
        </p:txBody>
      </p:sp>
      <p:sp>
        <p:nvSpPr>
          <p:cNvPr id="174" name="TextBox 26"/>
          <p:cNvSpPr/>
          <p:nvPr/>
        </p:nvSpPr>
        <p:spPr>
          <a:xfrm>
            <a:off x="288000" y="2829600"/>
            <a:ext cx="2326320" cy="476280"/>
          </a:xfrm>
          <a:prstGeom prst="rect">
            <a:avLst/>
          </a:prstGeom>
          <a:noFill/>
          <a:ln w="0">
            <a:noFill/>
          </a:ln>
        </p:spPr>
        <p:style>
          <a:lnRef idx="0"/>
          <a:fillRef idx="0"/>
          <a:effectRef idx="0"/>
          <a:fontRef idx="minor"/>
        </p:style>
        <p:txBody>
          <a:bodyPr lIns="0" tIns="0" rIns="0" bIns="0" anchor="t">
            <a:noAutofit/>
          </a:bodyPr>
          <a:p>
            <a:pPr defTabSz="457200">
              <a:lnSpc>
                <a:spcPts val="1318"/>
              </a:lnSpc>
            </a:pPr>
            <a:r>
              <a:rPr lang="en-US" sz="1000" b="0" i="1" u="none" strike="noStrike">
                <a:solidFill>
                  <a:srgbClr val="000000"/>
                </a:solidFill>
                <a:effectLst/>
                <a:uFillTx/>
                <a:latin typeface="Arial"/>
              </a:rPr>
              <a:t>Mapeie a jornada existente e as etapas essenciais que os usuários realizam agora.</a:t>
            </a:r>
            <a:endParaRPr lang="en-US" sz="1000" b="0" u="none" strike="noStrike">
              <a:solidFill>
                <a:srgbClr val="000000"/>
              </a:solidFill>
              <a:effectLst/>
              <a:uFillTx/>
              <a:latin typeface="Arial"/>
            </a:endParaRPr>
          </a:p>
        </p:txBody>
      </p:sp>
      <p:sp>
        <p:nvSpPr>
          <p:cNvPr id="175" name="TextBox 27"/>
          <p:cNvSpPr/>
          <p:nvPr/>
        </p:nvSpPr>
        <p:spPr>
          <a:xfrm>
            <a:off x="333720" y="3633840"/>
            <a:ext cx="195012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Principais dores/frustrações</a:t>
            </a:r>
            <a:endParaRPr lang="en-US" sz="1200" b="0" u="none" strike="noStrike">
              <a:solidFill>
                <a:srgbClr val="000000"/>
              </a:solidFill>
              <a:effectLst/>
              <a:uFillTx/>
              <a:latin typeface="Arial"/>
            </a:endParaRPr>
          </a:p>
        </p:txBody>
      </p:sp>
      <p:sp>
        <p:nvSpPr>
          <p:cNvPr id="176" name="TextBox 28"/>
          <p:cNvSpPr/>
          <p:nvPr/>
        </p:nvSpPr>
        <p:spPr>
          <a:xfrm>
            <a:off x="333720" y="3999960"/>
            <a:ext cx="2135160" cy="428040"/>
          </a:xfrm>
          <a:prstGeom prst="rect">
            <a:avLst/>
          </a:prstGeom>
          <a:noFill/>
          <a:ln w="0">
            <a:noFill/>
          </a:ln>
        </p:spPr>
        <p:style>
          <a:lnRef idx="0"/>
          <a:fillRef idx="0"/>
          <a:effectRef idx="0"/>
          <a:fontRef idx="minor"/>
        </p:style>
        <p:txBody>
          <a:bodyPr lIns="0" tIns="0" rIns="0" bIns="0" anchor="t">
            <a:noAutofit/>
          </a:bodyPr>
          <a:p>
            <a:pPr defTabSz="457200">
              <a:lnSpc>
                <a:spcPts val="1188"/>
              </a:lnSpc>
            </a:pPr>
            <a:r>
              <a:rPr lang="en-US" sz="900" b="1" u="none" strike="noStrike">
                <a:solidFill>
                  <a:srgbClr val="000000"/>
                </a:solidFill>
                <a:effectLst/>
                <a:uFillTx/>
                <a:latin typeface="Arial"/>
              </a:rPr>
              <a:t>Máx 3: </a:t>
            </a:r>
            <a:r>
              <a:rPr lang="en-US" sz="900" b="0" i="1" u="none" strike="noStrike">
                <a:solidFill>
                  <a:srgbClr val="000000"/>
                </a:solidFill>
                <a:effectLst/>
                <a:uFillTx/>
                <a:latin typeface="Arial"/>
              </a:rPr>
              <a:t>Liste os principais pontos de atrito/dores que bloqueiam o objetivo do usuário.</a:t>
            </a:r>
            <a:endParaRPr lang="en-US" sz="900" b="0" u="none" strike="noStrike">
              <a:solidFill>
                <a:srgbClr val="000000"/>
              </a:solidFill>
              <a:effectLst/>
              <a:uFillTx/>
              <a:latin typeface="Arial"/>
            </a:endParaRPr>
          </a:p>
        </p:txBody>
      </p:sp>
      <p:sp>
        <p:nvSpPr>
          <p:cNvPr id="177" name="TextBox 29"/>
          <p:cNvSpPr/>
          <p:nvPr/>
        </p:nvSpPr>
        <p:spPr>
          <a:xfrm>
            <a:off x="333720" y="4603320"/>
            <a:ext cx="7821360" cy="753480"/>
          </a:xfrm>
          <a:prstGeom prst="rect">
            <a:avLst/>
          </a:prstGeom>
          <a:noFill/>
          <a:ln w="0">
            <a:noFill/>
          </a:ln>
        </p:spPr>
        <p:style>
          <a:lnRef idx="0"/>
          <a:fillRef idx="0"/>
          <a:effectRef idx="0"/>
          <a:fontRef idx="minor"/>
        </p:style>
        <p:txBody>
          <a:bodyPr lIns="0" tIns="0" rIns="0" bIns="0" anchor="t">
            <a:noAutofit/>
          </a:bodyPr>
          <a:p>
            <a:pPr defTabSz="457200">
              <a:lnSpc>
                <a:spcPts val="1035"/>
              </a:lnSpc>
            </a:pPr>
            <a:r>
              <a:rPr lang="en-US" sz="900" b="0" u="none" strike="noStrike">
                <a:solidFill>
                  <a:srgbClr val="000000"/>
                </a:solidFill>
                <a:effectLst/>
                <a:uFillTx/>
                <a:latin typeface="Arial"/>
              </a:rPr>
              <a:t>1. É recusada por falta de histórico, não por </a:t>
            </a:r>
            <a:endParaRPr lang="en-US" sz="900" b="0" u="none" strike="noStrike">
              <a:solidFill>
                <a:srgbClr val="000000"/>
              </a:solidFill>
              <a:effectLst/>
              <a:uFillTx/>
              <a:latin typeface="Arial"/>
            </a:endParaRPr>
          </a:p>
          <a:p>
            <a:pPr defTabSz="457200">
              <a:lnSpc>
                <a:spcPts val="1035"/>
              </a:lnSpc>
            </a:pPr>
            <a:r>
              <a:rPr lang="en-US" sz="900" b="0" u="none" strike="noStrike">
                <a:solidFill>
                  <a:srgbClr val="000000"/>
                </a:solidFill>
                <a:effectLst/>
                <a:uFillTx/>
                <a:latin typeface="Arial"/>
              </a:rPr>
              <a:t>mau comportamento financeiro.</a:t>
            </a:r>
            <a:endParaRPr lang="en-US" sz="900" b="0" u="none" strike="noStrike">
              <a:solidFill>
                <a:srgbClr val="000000"/>
              </a:solidFill>
              <a:effectLst/>
              <a:uFillTx/>
              <a:latin typeface="Arial"/>
            </a:endParaRPr>
          </a:p>
          <a:p>
            <a:pPr defTabSz="457200">
              <a:lnSpc>
                <a:spcPts val="1035"/>
              </a:lnSpc>
              <a:spcBef>
                <a:spcPts val="153"/>
              </a:spcBef>
            </a:pPr>
            <a:r>
              <a:rPr lang="en-US" sz="900" b="0" u="none" strike="noStrike">
                <a:solidFill>
                  <a:srgbClr val="000000"/>
                </a:solidFill>
                <a:effectLst/>
                <a:uFillTx/>
                <a:latin typeface="Arial"/>
              </a:rPr>
              <a:t>2. A renda informal e variável não é reconhecida </a:t>
            </a:r>
            <a:endParaRPr lang="en-US" sz="900" b="0" u="none" strike="noStrike">
              <a:solidFill>
                <a:srgbClr val="000000"/>
              </a:solidFill>
              <a:effectLst/>
              <a:uFillTx/>
              <a:latin typeface="Arial"/>
            </a:endParaRPr>
          </a:p>
          <a:p>
            <a:pPr defTabSz="457200">
              <a:lnSpc>
                <a:spcPts val="1035"/>
              </a:lnSpc>
              <a:spcBef>
                <a:spcPts val="153"/>
              </a:spcBef>
            </a:pPr>
            <a:r>
              <a:rPr lang="en-US" sz="900" b="0" u="none" strike="noStrike">
                <a:solidFill>
                  <a:srgbClr val="000000"/>
                </a:solidFill>
                <a:effectLst/>
                <a:uFillTx/>
                <a:latin typeface="Arial"/>
              </a:rPr>
              <a:t>sem comprovante.</a:t>
            </a:r>
            <a:endParaRPr lang="en-US" sz="900" b="0" u="none" strike="noStrike">
              <a:solidFill>
                <a:srgbClr val="000000"/>
              </a:solidFill>
              <a:effectLst/>
              <a:uFillTx/>
              <a:latin typeface="Arial"/>
            </a:endParaRPr>
          </a:p>
          <a:p>
            <a:pPr defTabSz="457200">
              <a:lnSpc>
                <a:spcPts val="1035"/>
              </a:lnSpc>
              <a:spcBef>
                <a:spcPts val="153"/>
              </a:spcBef>
            </a:pPr>
            <a:r>
              <a:rPr lang="en-US" sz="900" b="0" u="none" strike="noStrike">
                <a:solidFill>
                  <a:srgbClr val="000000"/>
                </a:solidFill>
                <a:effectLst/>
                <a:uFillTx/>
                <a:latin typeface="Arial"/>
              </a:rPr>
              <a:t>3. A única alternativa disponível é o crédito</a:t>
            </a:r>
            <a:endParaRPr lang="en-US" sz="900" b="0" u="none" strike="noStrike">
              <a:solidFill>
                <a:srgbClr val="000000"/>
              </a:solidFill>
              <a:effectLst/>
              <a:uFillTx/>
              <a:latin typeface="Arial"/>
            </a:endParaRPr>
          </a:p>
          <a:p>
            <a:pPr defTabSz="457200">
              <a:lnSpc>
                <a:spcPts val="1035"/>
              </a:lnSpc>
              <a:spcBef>
                <a:spcPts val="153"/>
              </a:spcBef>
            </a:pPr>
            <a:r>
              <a:rPr lang="en-US" sz="900" b="0" u="none" strike="noStrike">
                <a:solidFill>
                  <a:srgbClr val="000000"/>
                </a:solidFill>
                <a:effectLst/>
                <a:uFillTx/>
                <a:latin typeface="Arial"/>
              </a:rPr>
              <a:t>informal caro e sem proteção.</a:t>
            </a:r>
            <a:endParaRPr lang="en-US" sz="900" b="0" u="none" strike="noStrike">
              <a:solidFill>
                <a:srgbClr val="000000"/>
              </a:solidFill>
              <a:effectLst/>
              <a:uFillTx/>
              <a:latin typeface="Arial"/>
            </a:endParaRPr>
          </a:p>
          <a:p>
            <a:pPr marL="5603760" defTabSz="457200">
              <a:lnSpc>
                <a:spcPts val="1378"/>
              </a:lnSpc>
              <a:tabLst>
                <a:tab pos="0" algn="l"/>
              </a:tabLst>
            </a:pPr>
            <a:r>
              <a:rPr lang="en-US" sz="1200" b="0" u="none" strike="noStrike">
                <a:solidFill>
                  <a:srgbClr val="0F62FE"/>
                </a:solidFill>
                <a:effectLst/>
                <a:uFillTx/>
                <a:latin typeface="Arial"/>
              </a:rPr>
              <a:t>Onde ocorre o atrito (dores):</a:t>
            </a:r>
            <a:endParaRPr lang="en-US" sz="1200" b="0" u="none" strike="noStrike">
              <a:solidFill>
                <a:srgbClr val="000000"/>
              </a:solidFill>
              <a:effectLst/>
              <a:uFillTx/>
              <a:latin typeface="Arial"/>
            </a:endParaRPr>
          </a:p>
          <a:p>
            <a:pPr marL="5528520" defTabSz="457200">
              <a:lnSpc>
                <a:spcPts val="1151"/>
              </a:lnSpc>
              <a:spcBef>
                <a:spcPts val="232"/>
              </a:spcBef>
              <a:tabLst>
                <a:tab pos="0" algn="l"/>
              </a:tabLst>
            </a:pPr>
            <a:r>
              <a:rPr lang="en-US" sz="1000" b="0" i="1" u="none" strike="noStrike">
                <a:solidFill>
                  <a:srgbClr val="000000"/>
                </a:solidFill>
                <a:effectLst/>
                <a:uFillTx/>
                <a:latin typeface="Arial"/>
              </a:rPr>
              <a:t>Cadastro: exigência de documentos que ela não tem (exclusão logo na entrada)</a:t>
            </a:r>
            <a:endParaRPr lang="en-US" sz="1000" b="0" u="none" strike="noStrike">
              <a:solidFill>
                <a:srgbClr val="000000"/>
              </a:solidFill>
              <a:effectLst/>
              <a:uFillTx/>
              <a:latin typeface="Arial"/>
            </a:endParaRPr>
          </a:p>
          <a:p>
            <a:pPr marL="5528520" defTabSz="457200">
              <a:lnSpc>
                <a:spcPts val="1151"/>
              </a:lnSpc>
              <a:spcBef>
                <a:spcPts val="232"/>
              </a:spcBef>
              <a:tabLst>
                <a:tab pos="0" algn="l"/>
              </a:tabLst>
            </a:pPr>
            <a:r>
              <a:rPr lang="en-US" sz="1000" b="0" i="1" u="none" strike="noStrike">
                <a:solidFill>
                  <a:srgbClr val="000000"/>
                </a:solidFill>
                <a:effectLst/>
                <a:uFillTx/>
                <a:latin typeface="Arial"/>
              </a:rPr>
              <a:t>Análise: decisão binária baseada só em dado bancário.</a:t>
            </a:r>
            <a:endParaRPr lang="en-US" sz="1000" b="0" u="none" strike="noStrike">
              <a:solidFill>
                <a:srgbClr val="000000"/>
              </a:solidFill>
              <a:effectLst/>
              <a:uFillTx/>
              <a:latin typeface="Arial"/>
            </a:endParaRPr>
          </a:p>
          <a:p>
            <a:pPr marL="5528520" defTabSz="457200">
              <a:lnSpc>
                <a:spcPts val="1151"/>
              </a:lnSpc>
              <a:spcBef>
                <a:spcPts val="232"/>
              </a:spcBef>
              <a:tabLst>
                <a:tab pos="0" algn="l"/>
              </a:tabLst>
            </a:pPr>
            <a:r>
              <a:rPr lang="en-US" sz="1000" b="0" i="1" u="none" strike="noStrike">
                <a:solidFill>
                  <a:srgbClr val="000000"/>
                </a:solidFill>
                <a:effectLst/>
                <a:uFillTx/>
                <a:latin typeface="Arial"/>
              </a:rPr>
              <a:t>Pós-recusa: retrabalho: tenta outro banco e recebe a mesma resposta. </a:t>
            </a:r>
            <a:endParaRPr lang="en-US" sz="1000" b="0" u="none" strike="noStrike">
              <a:solidFill>
                <a:srgbClr val="000000"/>
              </a:solidFill>
              <a:effectLst/>
              <a:uFillTx/>
              <a:latin typeface="Arial"/>
            </a:endParaRPr>
          </a:p>
        </p:txBody>
      </p:sp>
      <p:pic>
        <p:nvPicPr>
          <p:cNvPr id="178" name="Picture 30" descr="image.png"/>
          <p:cNvPicPr/>
          <p:nvPr/>
        </p:nvPicPr>
        <p:blipFill>
          <a:blip r:embed="rId2"/>
          <a:stretch/>
        </p:blipFill>
        <p:spPr>
          <a:xfrm>
            <a:off x="3531240" y="4762080"/>
            <a:ext cx="6718680" cy="123120"/>
          </a:xfrm>
          <a:prstGeom prst="rect">
            <a:avLst/>
          </a:prstGeom>
          <a:noFill/>
          <a:ln w="0">
            <a:noFill/>
          </a:ln>
        </p:spPr>
      </p:pic>
      <p:sp>
        <p:nvSpPr>
          <p:cNvPr id="179" name="TextBox 33"/>
          <p:cNvSpPr/>
          <p:nvPr/>
        </p:nvSpPr>
        <p:spPr>
          <a:xfrm>
            <a:off x="333720" y="1236240"/>
            <a:ext cx="3978360" cy="33984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Objetivo do usuário</a:t>
            </a:r>
            <a:endParaRPr lang="en-US" sz="1200" b="0" u="none" strike="noStrike">
              <a:solidFill>
                <a:srgbClr val="000000"/>
              </a:solidFill>
              <a:effectLst/>
              <a:uFillTx/>
              <a:latin typeface="Arial"/>
            </a:endParaRPr>
          </a:p>
          <a:p>
            <a:pPr defTabSz="457200">
              <a:lnSpc>
                <a:spcPts val="1151"/>
              </a:lnSpc>
              <a:spcBef>
                <a:spcPts val="232"/>
              </a:spcBef>
            </a:pPr>
            <a:r>
              <a:rPr lang="en-US" sz="1000" b="1" i="1" u="none" strike="noStrike">
                <a:solidFill>
                  <a:srgbClr val="000000"/>
                </a:solidFill>
                <a:effectLst/>
                <a:uFillTx/>
                <a:latin typeface="Arial"/>
              </a:rPr>
              <a:t>Conseguir um microcrédito justo para comprar equipamentos de trabalho e aumentar a renda.</a:t>
            </a:r>
            <a:endParaRPr lang="en-US" sz="1000" b="0" u="none" strike="noStrike">
              <a:solidFill>
                <a:srgbClr val="000000"/>
              </a:solidFill>
              <a:effectLst/>
              <a:uFillTx/>
              <a:latin typeface="Arial"/>
            </a:endParaRPr>
          </a:p>
        </p:txBody>
      </p:sp>
      <p:sp>
        <p:nvSpPr>
          <p:cNvPr id="180" name="TextBox 34"/>
          <p:cNvSpPr/>
          <p:nvPr/>
        </p:nvSpPr>
        <p:spPr>
          <a:xfrm>
            <a:off x="5013360" y="3620160"/>
            <a:ext cx="1139400" cy="8308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Principais </a:t>
            </a:r>
            <a:endParaRPr lang="en-US" sz="1000" b="0" u="none" strike="noStrike">
              <a:solidFill>
                <a:srgbClr val="000000"/>
              </a:solidFill>
              <a:effectLst/>
              <a:uFillTx/>
              <a:latin typeface="Arial"/>
            </a:endParaRPr>
          </a:p>
          <a:p>
            <a:pPr defTabSz="457200">
              <a:lnSpc>
                <a:spcPts val="1154"/>
              </a:lnSpc>
              <a:spcBef>
                <a:spcPts val="286"/>
              </a:spcBef>
            </a:pPr>
            <a:r>
              <a:rPr lang="en-US" sz="1000" b="1" u="none" strike="noStrike">
                <a:solidFill>
                  <a:srgbClr val="000000"/>
                </a:solidFill>
                <a:effectLst/>
                <a:uFillTx/>
                <a:latin typeface="Arial"/>
              </a:rPr>
              <a:t>dores/frustrações</a:t>
            </a:r>
            <a:endParaRPr lang="en-US" sz="1000" b="0" u="none" strike="noStrike">
              <a:solidFill>
                <a:srgbClr val="000000"/>
              </a:solidFill>
              <a:effectLst/>
              <a:uFillTx/>
              <a:latin typeface="Arial"/>
            </a:endParaRPr>
          </a:p>
          <a:p>
            <a:pPr defTabSz="457200">
              <a:lnSpc>
                <a:spcPts val="1318"/>
              </a:lnSpc>
              <a:spcBef>
                <a:spcPts val="31"/>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sp>
        <p:nvSpPr>
          <p:cNvPr id="181" name="TextBox 35"/>
          <p:cNvSpPr/>
          <p:nvPr/>
        </p:nvSpPr>
        <p:spPr>
          <a:xfrm>
            <a:off x="7696080" y="3611880"/>
            <a:ext cx="1139400" cy="8308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Principais </a:t>
            </a:r>
            <a:endParaRPr lang="en-US" sz="1000" b="0" u="none" strike="noStrike">
              <a:solidFill>
                <a:srgbClr val="000000"/>
              </a:solidFill>
              <a:effectLst/>
              <a:uFillTx/>
              <a:latin typeface="Arial"/>
            </a:endParaRPr>
          </a:p>
          <a:p>
            <a:pPr defTabSz="457200">
              <a:lnSpc>
                <a:spcPts val="1151"/>
              </a:lnSpc>
              <a:spcBef>
                <a:spcPts val="289"/>
              </a:spcBef>
            </a:pPr>
            <a:r>
              <a:rPr lang="en-US" sz="1000" b="1" u="none" strike="noStrike">
                <a:solidFill>
                  <a:srgbClr val="000000"/>
                </a:solidFill>
                <a:effectLst/>
                <a:uFillTx/>
                <a:latin typeface="Arial"/>
              </a:rPr>
              <a:t>dores/frustrações</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sp>
        <p:nvSpPr>
          <p:cNvPr id="182" name="Rectangle 36"/>
          <p:cNvSpPr/>
          <p:nvPr/>
        </p:nvSpPr>
        <p:spPr>
          <a:xfrm>
            <a:off x="5849640" y="288000"/>
            <a:ext cx="17449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83" name="TextBox 37"/>
          <p:cNvSpPr/>
          <p:nvPr/>
        </p:nvSpPr>
        <p:spPr>
          <a:xfrm>
            <a:off x="5895360" y="342000"/>
            <a:ext cx="1263600" cy="44604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Ferramentas-chave:</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Mapa de Empatia</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Cenário Atual</a:t>
            </a:r>
            <a:endParaRPr lang="en-US" sz="1000" b="0" u="none" strike="noStrike">
              <a:solidFill>
                <a:srgbClr val="000000"/>
              </a:solidFill>
              <a:effectLst/>
              <a:uFillTx/>
              <a:latin typeface="Arial"/>
            </a:endParaRPr>
          </a:p>
        </p:txBody>
      </p:sp>
      <p:sp>
        <p:nvSpPr>
          <p:cNvPr id="184" name="Rectangle 38"/>
          <p:cNvSpPr/>
          <p:nvPr/>
        </p:nvSpPr>
        <p:spPr>
          <a:xfrm>
            <a:off x="7595280" y="288000"/>
            <a:ext cx="386928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185" name="TextBox 39"/>
          <p:cNvSpPr/>
          <p:nvPr/>
        </p:nvSpPr>
        <p:spPr>
          <a:xfrm>
            <a:off x="7641360" y="342000"/>
            <a:ext cx="3715200" cy="5986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Dica: </a:t>
            </a:r>
            <a:r>
              <a:rPr lang="en-US" sz="1000" b="0" u="none" strike="noStrike">
                <a:solidFill>
                  <a:srgbClr val="000000"/>
                </a:solidFill>
                <a:effectLst/>
                <a:uFillTx/>
                <a:latin typeface="Arial"/>
              </a:rPr>
              <a:t>Foque em entender o que os usuários estão vivenciando. </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Entreviste ou aplique questionários com usuários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Consulte especialistas do setor</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Explore relatórios do setor e estudos de caso</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6" name="Text 0"/>
          <p:cNvSpPr/>
          <p:nvPr/>
        </p:nvSpPr>
        <p:spPr>
          <a:xfrm>
            <a:off x="457200" y="319680"/>
            <a:ext cx="749736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161616"/>
                </a:solidFill>
                <a:effectLst/>
                <a:uFillTx/>
                <a:latin typeface="Arial"/>
                <a:ea typeface="Arial"/>
              </a:rPr>
              <a:t>Por que as soluções atuais falham</a:t>
            </a:r>
            <a:endParaRPr lang="en-US" sz="2400" b="0" u="none" strike="noStrike">
              <a:solidFill>
                <a:srgbClr val="000000"/>
              </a:solidFill>
              <a:effectLst/>
              <a:uFillTx/>
              <a:latin typeface="Arial"/>
            </a:endParaRPr>
          </a:p>
        </p:txBody>
      </p:sp>
      <p:sp>
        <p:nvSpPr>
          <p:cNvPr id="187" name="Text 1"/>
          <p:cNvSpPr/>
          <p:nvPr/>
        </p:nvSpPr>
        <p:spPr>
          <a:xfrm>
            <a:off x="457200" y="840960"/>
            <a:ext cx="7497360" cy="456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1" u="none" strike="noStrike">
                <a:solidFill>
                  <a:srgbClr val="525252"/>
                </a:solidFill>
                <a:effectLst/>
                <a:uFillTx/>
                <a:latin typeface="Arial"/>
                <a:ea typeface="Arial"/>
              </a:rPr>
              <a:t>Objetivo: </a:t>
            </a:r>
            <a:r>
              <a:rPr lang="en-US" sz="1100" b="0" u="none" strike="noStrike">
                <a:solidFill>
                  <a:srgbClr val="525252"/>
                </a:solidFill>
                <a:effectLst/>
                <a:uFillTx/>
                <a:latin typeface="Arial"/>
                <a:ea typeface="Arial"/>
              </a:rPr>
              <a:t>Entender as lacunas nas ferramentas/processos existentes.</a:t>
            </a:r>
            <a:endParaRPr lang="en-US" sz="1100" b="0" u="none" strike="noStrike">
              <a:solidFill>
                <a:srgbClr val="000000"/>
              </a:solidFill>
              <a:effectLst/>
              <a:uFillTx/>
              <a:latin typeface="Arial"/>
            </a:endParaRPr>
          </a:p>
          <a:p>
            <a:pPr defTabSz="914400">
              <a:lnSpc>
                <a:spcPct val="100000"/>
              </a:lnSpc>
              <a:tabLst>
                <a:tab pos="0" algn="l"/>
              </a:tabLst>
            </a:pPr>
            <a:r>
              <a:rPr lang="en-US" sz="1100" b="1" u="none" strike="noStrike">
                <a:solidFill>
                  <a:srgbClr val="525252"/>
                </a:solidFill>
                <a:effectLst/>
                <a:uFillTx/>
                <a:latin typeface="Arial"/>
                <a:ea typeface="Arial"/>
              </a:rPr>
              <a:t>Quando: </a:t>
            </a:r>
            <a:r>
              <a:rPr lang="en-US" sz="1100" b="0" u="none" strike="noStrike">
                <a:solidFill>
                  <a:srgbClr val="525252"/>
                </a:solidFill>
                <a:effectLst/>
                <a:uFillTx/>
                <a:latin typeface="Arial"/>
                <a:ea typeface="Arial"/>
              </a:rPr>
              <a:t>Entre as semanas 1 e 2.</a:t>
            </a:r>
            <a:endParaRPr lang="en-US" sz="1100" b="0" u="none" strike="noStrike">
              <a:solidFill>
                <a:srgbClr val="000000"/>
              </a:solidFill>
              <a:effectLst/>
              <a:uFillTx/>
              <a:latin typeface="Arial"/>
            </a:endParaRPr>
          </a:p>
        </p:txBody>
      </p:sp>
      <p:graphicFrame>
        <p:nvGraphicFramePr>
          <p:cNvPr id="188" name="Table 0"/>
          <p:cNvGraphicFramePr/>
          <p:nvPr/>
        </p:nvGraphicFramePr>
        <p:xfrm>
          <a:off x="457200" y="1416960"/>
          <a:ext cx="6949080" cy="2647440"/>
        </p:xfrm>
        <a:graphic>
          <a:graphicData uri="http://schemas.openxmlformats.org/drawingml/2006/table">
            <a:tbl>
              <a:tblPr/>
              <a:tblGrid>
                <a:gridCol w="2286000"/>
                <a:gridCol w="2286000"/>
                <a:gridCol w="2377440"/>
              </a:tblGrid>
              <a:tr h="329040">
                <a:tc>
                  <a:txBody>
                    <a:bodyPr lIns="54720" tIns="54720" rIns="54720" bIns="54720" anchor="t">
                      <a:noAutofit/>
                    </a:bodyPr>
                    <a:p>
                      <a:pPr defTabSz="914400">
                        <a:lnSpc>
                          <a:spcPct val="100000"/>
                        </a:lnSpc>
                        <a:tabLst>
                          <a:tab pos="0" algn="l"/>
                        </a:tabLst>
                      </a:pPr>
                      <a:r>
                        <a:rPr lang="en-US" sz="1000" b="1" u="none" strike="noStrike">
                          <a:solidFill>
                            <a:srgbClr val="161616"/>
                          </a:solidFill>
                          <a:effectLst/>
                          <a:uFillTx/>
                          <a:latin typeface="Arial"/>
                          <a:ea typeface="Arial"/>
                        </a:rPr>
                        <a:t>Solução usada hoje</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D0E2FF"/>
                    </a:solidFill>
                  </a:tcPr>
                </a:tc>
                <a:tc>
                  <a:txBody>
                    <a:bodyPr lIns="54720" tIns="54720" rIns="54720" bIns="54720" anchor="t">
                      <a:noAutofit/>
                    </a:bodyPr>
                    <a:p>
                      <a:pPr defTabSz="914400">
                        <a:lnSpc>
                          <a:spcPct val="100000"/>
                        </a:lnSpc>
                        <a:tabLst>
                          <a:tab pos="0" algn="l"/>
                        </a:tabLst>
                      </a:pPr>
                      <a:r>
                        <a:rPr lang="en-US" sz="1000" b="1" u="none" strike="noStrike">
                          <a:solidFill>
                            <a:srgbClr val="161616"/>
                          </a:solidFill>
                          <a:effectLst/>
                          <a:uFillTx/>
                          <a:latin typeface="Arial"/>
                          <a:ea typeface="Arial"/>
                        </a:rPr>
                        <a:t>O que faz bem</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D0E2FF"/>
                    </a:solidFill>
                  </a:tcPr>
                </a:tc>
                <a:tc>
                  <a:txBody>
                    <a:bodyPr lIns="54720" tIns="54720" rIns="54720" bIns="54720" anchor="t">
                      <a:noAutofit/>
                    </a:bodyPr>
                    <a:p>
                      <a:pPr defTabSz="914400">
                        <a:lnSpc>
                          <a:spcPct val="100000"/>
                        </a:lnSpc>
                        <a:tabLst>
                          <a:tab pos="0" algn="l"/>
                        </a:tabLst>
                      </a:pPr>
                      <a:r>
                        <a:rPr lang="en-US" sz="1000" b="1" u="none" strike="noStrike">
                          <a:solidFill>
                            <a:srgbClr val="161616"/>
                          </a:solidFill>
                          <a:effectLst/>
                          <a:uFillTx/>
                          <a:latin typeface="Arial"/>
                          <a:ea typeface="Arial"/>
                        </a:rPr>
                        <a:t>Onde falha</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D0E2FF"/>
                    </a:solidFill>
                  </a:tcPr>
                </a:tc>
              </a:tr>
              <a:tr h="329040">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Score de birôs de crédito</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Escala e padronização da decisão</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Sem histórico bancário, não há score</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r>
              <a:tr h="415080">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Cadastro Positivo</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Premia quem paga em dia</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Só registra quem já tem contas e crédito formal</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r>
              <a:tr h="329040">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Análise com comprovante de renda</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Verifica capacidade de pagamento</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Não captura renda informal e variável</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r>
              <a:tr h="415080">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Microcrédito orientado (agente presencial)</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Relacionamento próximo, entende o negócio</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Caro de operar e difícil de escalar</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r>
              <a:tr h="415080">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Open Finance / fintechs</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Dados ricos e decisão rápida</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Depende de conta bancária que o usuário não tem</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r>
              <a:tr h="415080">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Agiota e "fiado"</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Rápido e sem burocracia</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c>
                  <a:txBody>
                    <a:bodyPr lIns="54720" tIns="54720" rIns="54720" bIns="54720" anchor="t">
                      <a:noAutofit/>
                    </a:bodyPr>
                    <a:p>
                      <a:pPr defTabSz="914400">
                        <a:lnSpc>
                          <a:spcPct val="100000"/>
                        </a:lnSpc>
                        <a:tabLst>
                          <a:tab pos="0" algn="l"/>
                        </a:tabLst>
                      </a:pPr>
                      <a:r>
                        <a:rPr lang="en-US" sz="1000" b="0" u="none" strike="noStrike">
                          <a:solidFill>
                            <a:srgbClr val="161616"/>
                          </a:solidFill>
                          <a:effectLst/>
                          <a:uFillTx/>
                          <a:latin typeface="Arial"/>
                          <a:ea typeface="Arial"/>
                        </a:rPr>
                        <a:t>Juros abusivos, sem proteção, não gera histórico</a:t>
                      </a:r>
                      <a:endParaRPr lang="en-US" sz="1000" b="0" u="none" strike="noStrike">
                        <a:solidFill>
                          <a:srgbClr val="000000"/>
                        </a:solidFill>
                        <a:effectLst/>
                        <a:uFillTx/>
                        <a:latin typeface="Arial"/>
                      </a:endParaRPr>
                    </a:p>
                  </a:txBody>
                  <a:tcPr anchor="t" marL="54720" marR="54720" marT="54720" marB="54720">
                    <a:lnL w="9360">
                      <a:solidFill>
                        <a:srgbClr val="C6C6C6"/>
                      </a:solidFill>
                      <a:prstDash val="solid"/>
                    </a:lnL>
                    <a:lnR w="9360">
                      <a:solidFill>
                        <a:srgbClr val="C6C6C6"/>
                      </a:solidFill>
                      <a:prstDash val="solid"/>
                    </a:lnR>
                    <a:lnT w="9360">
                      <a:solidFill>
                        <a:srgbClr val="C6C6C6"/>
                      </a:solidFill>
                      <a:prstDash val="solid"/>
                    </a:lnT>
                    <a:lnB w="9360">
                      <a:solidFill>
                        <a:srgbClr val="C6C6C6"/>
                      </a:solidFill>
                      <a:prstDash val="solid"/>
                    </a:lnB>
                    <a:solidFill>
                      <a:srgbClr val="FFFFFF"/>
                    </a:solidFill>
                  </a:tcPr>
                </a:tc>
              </a:tr>
            </a:tbl>
          </a:graphicData>
        </a:graphic>
      </p:graphicFrame>
      <p:sp>
        <p:nvSpPr>
          <p:cNvPr id="189" name="Shape 2"/>
          <p:cNvSpPr/>
          <p:nvPr/>
        </p:nvSpPr>
        <p:spPr>
          <a:xfrm>
            <a:off x="7726680" y="1416960"/>
            <a:ext cx="4004280" cy="3930840"/>
          </a:xfrm>
          <a:prstGeom prst="rect">
            <a:avLst/>
          </a:prstGeom>
          <a:solidFill>
            <a:srgbClr val="D0E2FF"/>
          </a:solidFill>
          <a:ln w="12700">
            <a:solidFill>
              <a:srgbClr val="D0E2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90" name="Text 3"/>
          <p:cNvSpPr/>
          <p:nvPr/>
        </p:nvSpPr>
        <p:spPr>
          <a:xfrm>
            <a:off x="7909560" y="1554120"/>
            <a:ext cx="3656880" cy="319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1" u="none" strike="noStrike">
                <a:solidFill>
                  <a:srgbClr val="161616"/>
                </a:solidFill>
                <a:effectLst/>
                <a:uFillTx/>
                <a:latin typeface="Arial"/>
                <a:ea typeface="Arial"/>
              </a:rPr>
              <a:t>Insight-chave: por que o problema existe</a:t>
            </a:r>
            <a:endParaRPr lang="en-US" sz="1300" b="0" u="none" strike="noStrike">
              <a:solidFill>
                <a:srgbClr val="000000"/>
              </a:solidFill>
              <a:effectLst/>
              <a:uFillTx/>
              <a:latin typeface="Arial"/>
            </a:endParaRPr>
          </a:p>
        </p:txBody>
      </p:sp>
      <p:sp>
        <p:nvSpPr>
          <p:cNvPr id="191" name="Text 4"/>
          <p:cNvSpPr/>
          <p:nvPr/>
        </p:nvSpPr>
        <p:spPr>
          <a:xfrm>
            <a:off x="7909560" y="1919880"/>
            <a:ext cx="3656880" cy="3382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61616"/>
                </a:solidFill>
                <a:effectLst/>
                <a:uFillTx/>
                <a:latin typeface="Arial"/>
                <a:ea typeface="Arial"/>
              </a:rPr>
              <a:t>O sinal de risco existe, mas está em outro setor. O histórico da operadora está fragmentado, protegido por LGPD e sigilo, e precisa virar uma decisão de crédito que o banco aceite e o cliente entenda.</a:t>
            </a:r>
            <a:endParaRPr lang="en-US" sz="1100" b="0" u="none" strike="noStrike">
              <a:solidFill>
                <a:srgbClr val="000000"/>
              </a:solidFill>
              <a:effectLst/>
              <a:uFillTx/>
              <a:latin typeface="Arial"/>
            </a:endParaRPr>
          </a:p>
          <a:p>
            <a:pPr defTabSz="914400">
              <a:lnSpc>
                <a:spcPct val="100000"/>
              </a:lnSpc>
              <a:tabLst>
                <a:tab pos="0" algn="l"/>
              </a:tabLst>
            </a:pP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161616"/>
                </a:solidFill>
                <a:effectLst/>
                <a:uFillTx/>
                <a:latin typeface="Arial"/>
                <a:ea typeface="Arial"/>
              </a:rPr>
              <a:t>Uma interface melhor não cria histórico. Mais automação sobre o mesmo dado de birô reproduz a mesma recusa. É preciso novo dado, com consentimento, e coordenação entre operadora, banco e cliente.</a:t>
            </a:r>
            <a:endParaRPr lang="en-US" sz="1100" b="0" u="none" strike="noStrike">
              <a:solidFill>
                <a:srgbClr val="000000"/>
              </a:solidFill>
              <a:effectLst/>
              <a:uFillTx/>
              <a:latin typeface="Arial"/>
            </a:endParaRPr>
          </a:p>
        </p:txBody>
      </p:sp>
      <p:sp>
        <p:nvSpPr>
          <p:cNvPr id="192" name="Shape 5"/>
          <p:cNvSpPr/>
          <p:nvPr/>
        </p:nvSpPr>
        <p:spPr>
          <a:xfrm>
            <a:off x="457200" y="4571280"/>
            <a:ext cx="6948720" cy="776520"/>
          </a:xfrm>
          <a:prstGeom prst="rect">
            <a:avLst/>
          </a:prstGeom>
          <a:solidFill>
            <a:srgbClr val="F2F4F8"/>
          </a:solidFill>
          <a:ln w="12700">
            <a:solidFill>
              <a:srgbClr val="F2F4F8"/>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93" name="Text 6"/>
          <p:cNvSpPr/>
          <p:nvPr/>
        </p:nvSpPr>
        <p:spPr>
          <a:xfrm>
            <a:off x="594360" y="4662720"/>
            <a:ext cx="6674400" cy="593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50" b="1" u="none" strike="noStrike">
                <a:solidFill>
                  <a:srgbClr val="161616"/>
                </a:solidFill>
                <a:effectLst/>
                <a:uFillTx/>
                <a:latin typeface="Arial"/>
                <a:ea typeface="Arial"/>
              </a:rPr>
              <a:t>Ferramentas-chave: </a:t>
            </a:r>
            <a:r>
              <a:rPr lang="en-US" sz="950" b="0" u="none" strike="noStrike">
                <a:solidFill>
                  <a:srgbClr val="161616"/>
                </a:solidFill>
                <a:effectLst/>
                <a:uFillTx/>
                <a:latin typeface="Arial"/>
                <a:ea typeface="Arial"/>
              </a:rPr>
              <a:t>Mapa de Empatia; Cenário Atual.</a:t>
            </a:r>
            <a:endParaRPr lang="en-US" sz="950" b="0" u="none" strike="noStrike">
              <a:solidFill>
                <a:srgbClr val="000000"/>
              </a:solidFill>
              <a:effectLst/>
              <a:uFillTx/>
              <a:latin typeface="Arial"/>
            </a:endParaRPr>
          </a:p>
          <a:p>
            <a:pPr defTabSz="914400">
              <a:lnSpc>
                <a:spcPct val="100000"/>
              </a:lnSpc>
              <a:tabLst>
                <a:tab pos="0" algn="l"/>
              </a:tabLst>
            </a:pPr>
            <a:r>
              <a:rPr lang="en-US" sz="950" b="1" u="none" strike="noStrike">
                <a:solidFill>
                  <a:srgbClr val="161616"/>
                </a:solidFill>
                <a:effectLst/>
                <a:uFillTx/>
                <a:latin typeface="Arial"/>
                <a:ea typeface="Arial"/>
              </a:rPr>
              <a:t>Nota da equipe: </a:t>
            </a:r>
            <a:r>
              <a:rPr lang="en-US" sz="950" b="0" u="none" strike="noStrike">
                <a:solidFill>
                  <a:srgbClr val="161616"/>
                </a:solidFill>
                <a:effectLst/>
                <a:uFillTx/>
                <a:latin typeface="Arial"/>
                <a:ea typeface="Arial"/>
              </a:rPr>
              <a:t>validar com entrevistas quais dessas soluções o público realmente já tentou e em que ordem.</a:t>
            </a:r>
            <a:endParaRPr lang="en-US"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Text 2"/>
          <p:cNvSpPr/>
          <p:nvPr/>
        </p:nvSpPr>
        <p:spPr>
          <a:xfrm>
            <a:off x="5257800" y="2834640"/>
            <a:ext cx="1600200" cy="59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161616"/>
                </a:solidFill>
                <a:effectLst/>
                <a:uFillTx/>
                <a:latin typeface="Arial"/>
                <a:ea typeface="Arial"/>
              </a:rPr>
              <a:t>A FAZER</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TextBox 1"/>
          <p:cNvSpPr/>
          <p:nvPr/>
        </p:nvSpPr>
        <p:spPr>
          <a:xfrm>
            <a:off x="288000" y="2156040"/>
            <a:ext cx="149868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Por que IA Agêntica?</a:t>
            </a:r>
            <a:endParaRPr lang="en-US" sz="1200" b="0" u="none" strike="noStrike">
              <a:solidFill>
                <a:srgbClr val="000000"/>
              </a:solidFill>
              <a:effectLst/>
              <a:uFillTx/>
              <a:latin typeface="Arial"/>
            </a:endParaRPr>
          </a:p>
        </p:txBody>
      </p:sp>
      <p:sp>
        <p:nvSpPr>
          <p:cNvPr id="196" name="TextBox 2"/>
          <p:cNvSpPr/>
          <p:nvPr/>
        </p:nvSpPr>
        <p:spPr>
          <a:xfrm>
            <a:off x="288000" y="2555640"/>
            <a:ext cx="3384360" cy="644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Responda:</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O que o sistema entenderia melhor com a IA Agêntica?</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Quais decisões poderiam ser aprimoradas?</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Qual coordenação poderia ser simplificada?</a:t>
            </a:r>
            <a:endParaRPr lang="en-US" sz="1000" b="0" u="none" strike="noStrike">
              <a:solidFill>
                <a:srgbClr val="000000"/>
              </a:solidFill>
              <a:effectLst/>
              <a:uFillTx/>
              <a:latin typeface="Arial"/>
            </a:endParaRPr>
          </a:p>
        </p:txBody>
      </p:sp>
      <p:sp>
        <p:nvSpPr>
          <p:cNvPr id="197" name="TextBox 3"/>
          <p:cNvSpPr/>
          <p:nvPr/>
        </p:nvSpPr>
        <p:spPr>
          <a:xfrm>
            <a:off x="4950720" y="1794960"/>
            <a:ext cx="1526760" cy="16920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Hipótese de alto nível</a:t>
            </a:r>
            <a:endParaRPr lang="en-US" sz="1200" b="0" u="none" strike="noStrike">
              <a:solidFill>
                <a:srgbClr val="000000"/>
              </a:solidFill>
              <a:effectLst/>
              <a:uFillTx/>
              <a:latin typeface="Arial"/>
            </a:endParaRPr>
          </a:p>
        </p:txBody>
      </p:sp>
      <p:pic>
        <p:nvPicPr>
          <p:cNvPr id="198" name="Picture 4" descr="image.png"/>
          <p:cNvPicPr/>
          <p:nvPr/>
        </p:nvPicPr>
        <p:blipFill>
          <a:blip r:embed="rId1"/>
          <a:stretch/>
        </p:blipFill>
        <p:spPr>
          <a:xfrm>
            <a:off x="4874040" y="3153600"/>
            <a:ext cx="326520" cy="266400"/>
          </a:xfrm>
          <a:prstGeom prst="rect">
            <a:avLst/>
          </a:prstGeom>
          <a:noFill/>
          <a:ln w="0">
            <a:noFill/>
          </a:ln>
        </p:spPr>
      </p:pic>
      <p:sp>
        <p:nvSpPr>
          <p:cNvPr id="199" name="TextBox 5"/>
          <p:cNvSpPr/>
          <p:nvPr/>
        </p:nvSpPr>
        <p:spPr>
          <a:xfrm>
            <a:off x="5160240" y="3200760"/>
            <a:ext cx="3326760" cy="14112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i="1" u="none" strike="noStrike">
                <a:solidFill>
                  <a:srgbClr val="000000"/>
                </a:solidFill>
                <a:effectLst/>
                <a:uFillTx/>
                <a:latin typeface="Arial"/>
              </a:rPr>
              <a:t>Sem funcionalidades. Sem ferramentas. Sem arquitetura.</a:t>
            </a:r>
            <a:endParaRPr lang="en-US" sz="1000" b="0" u="none" strike="noStrike">
              <a:solidFill>
                <a:srgbClr val="000000"/>
              </a:solidFill>
              <a:effectLst/>
              <a:uFillTx/>
              <a:latin typeface="Arial"/>
            </a:endParaRPr>
          </a:p>
        </p:txBody>
      </p:sp>
      <p:sp>
        <p:nvSpPr>
          <p:cNvPr id="200" name="TextBox 6"/>
          <p:cNvSpPr/>
          <p:nvPr/>
        </p:nvSpPr>
        <p:spPr>
          <a:xfrm>
            <a:off x="11848680" y="6477120"/>
            <a:ext cx="885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9</a:t>
            </a:r>
            <a:endParaRPr lang="en-US" sz="800" b="0" u="none" strike="noStrike">
              <a:solidFill>
                <a:srgbClr val="000000"/>
              </a:solidFill>
              <a:effectLst/>
              <a:uFillTx/>
              <a:latin typeface="Arial"/>
            </a:endParaRPr>
          </a:p>
        </p:txBody>
      </p:sp>
      <p:sp>
        <p:nvSpPr>
          <p:cNvPr id="201" name="TextBox 7"/>
          <p:cNvSpPr/>
          <p:nvPr/>
        </p:nvSpPr>
        <p:spPr>
          <a:xfrm>
            <a:off x="288000" y="300240"/>
            <a:ext cx="332748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Hipótese inicial de oportunidade de IA</a:t>
            </a:r>
            <a:endParaRPr lang="en-US" sz="1400" b="0" u="none" strike="noStrike">
              <a:solidFill>
                <a:srgbClr val="000000"/>
              </a:solidFill>
              <a:effectLst/>
              <a:uFillTx/>
              <a:latin typeface="Arial"/>
            </a:endParaRPr>
          </a:p>
        </p:txBody>
      </p:sp>
      <p:sp>
        <p:nvSpPr>
          <p:cNvPr id="202" name="TextBox 8"/>
          <p:cNvSpPr/>
          <p:nvPr/>
        </p:nvSpPr>
        <p:spPr>
          <a:xfrm>
            <a:off x="288000" y="1153800"/>
            <a:ext cx="3693240" cy="837360"/>
          </a:xfrm>
          <a:prstGeom prst="rect">
            <a:avLst/>
          </a:prstGeom>
          <a:noFill/>
          <a:ln w="0">
            <a:noFill/>
          </a:ln>
        </p:spPr>
        <p:style>
          <a:lnRef idx="0"/>
          <a:fillRef idx="0"/>
          <a:effectRef idx="0"/>
          <a:fontRef idx="minor"/>
        </p:style>
        <p:txBody>
          <a:bodyPr lIns="0" tIns="0" rIns="0" bIns="0" anchor="t">
            <a:noAutofit/>
          </a:bodyPr>
          <a:p>
            <a:pPr defTabSz="457200">
              <a:lnSpc>
                <a:spcPts val="1678"/>
              </a:lnSpc>
            </a:pPr>
            <a:r>
              <a:rPr lang="en-US" sz="1400" b="1" u="none" strike="noStrike">
                <a:solidFill>
                  <a:srgbClr val="000000"/>
                </a:solidFill>
                <a:effectLst/>
                <a:uFillTx/>
                <a:latin typeface="Arial"/>
              </a:rPr>
              <a:t>Objetivo:</a:t>
            </a:r>
            <a:r>
              <a:rPr lang="en-US" sz="1400" b="0" u="none" strike="noStrike">
                <a:solidFill>
                  <a:srgbClr val="000000"/>
                </a:solidFill>
                <a:effectLst/>
                <a:uFillTx/>
                <a:latin typeface="Arial"/>
              </a:rPr>
              <a:t> Compreender as oportunidades para oferecer soluções melhores (Ainda sem o design da solução).</a:t>
            </a:r>
            <a:endParaRPr lang="en-US" sz="1400" b="0" u="none" strike="noStrike">
              <a:solidFill>
                <a:srgbClr val="000000"/>
              </a:solidFill>
              <a:effectLst/>
              <a:uFillTx/>
              <a:latin typeface="Arial"/>
            </a:endParaRPr>
          </a:p>
          <a:p>
            <a:pPr defTabSz="457200">
              <a:lnSpc>
                <a:spcPts val="1607"/>
              </a:lnSpc>
              <a:spcBef>
                <a:spcPts val="74"/>
              </a:spcBef>
            </a:pPr>
            <a:r>
              <a:rPr lang="en-US" sz="1400" b="1" u="none" strike="noStrike">
                <a:solidFill>
                  <a:srgbClr val="000000"/>
                </a:solidFill>
                <a:effectLst/>
                <a:uFillTx/>
                <a:latin typeface="Arial"/>
              </a:rPr>
              <a:t>Quando:</a:t>
            </a:r>
            <a:r>
              <a:rPr lang="en-US" sz="1400" b="0" u="none" strike="noStrike">
                <a:solidFill>
                  <a:srgbClr val="000000"/>
                </a:solidFill>
                <a:effectLst/>
                <a:uFillTx/>
                <a:latin typeface="Arial"/>
              </a:rPr>
              <a:t> Entre as semanas 1 e 2.</a:t>
            </a:r>
            <a:endParaRPr lang="en-US" sz="1400" b="0" u="none" strike="noStrike">
              <a:solidFill>
                <a:srgbClr val="000000"/>
              </a:solidFill>
              <a:effectLst/>
              <a:uFillTx/>
              <a:latin typeface="Arial"/>
            </a:endParaRPr>
          </a:p>
        </p:txBody>
      </p:sp>
      <p:sp>
        <p:nvSpPr>
          <p:cNvPr id="203" name="Rectangle 9"/>
          <p:cNvSpPr/>
          <p:nvPr/>
        </p:nvSpPr>
        <p:spPr>
          <a:xfrm>
            <a:off x="285840" y="4083840"/>
            <a:ext cx="5935320" cy="175824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04" name="TextBox 10"/>
          <p:cNvSpPr/>
          <p:nvPr/>
        </p:nvSpPr>
        <p:spPr>
          <a:xfrm>
            <a:off x="331560" y="4138200"/>
            <a:ext cx="1837080" cy="5983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Ferramentas-chave:</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Mapa de Empatia</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Cenário Atual</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Vinhetas de Grandes Ideias </a:t>
            </a:r>
            <a:endParaRPr lang="en-US" sz="1000" b="0" u="none" strike="noStrike">
              <a:solidFill>
                <a:srgbClr val="000000"/>
              </a:solidFill>
              <a:effectLst/>
              <a:uFillTx/>
              <a:latin typeface="Arial"/>
            </a:endParaRPr>
          </a:p>
        </p:txBody>
      </p:sp>
      <p:sp>
        <p:nvSpPr>
          <p:cNvPr id="205" name="TextBox 11"/>
          <p:cNvSpPr/>
          <p:nvPr/>
        </p:nvSpPr>
        <p:spPr>
          <a:xfrm>
            <a:off x="331560" y="4900320"/>
            <a:ext cx="6023520" cy="105552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Dica: </a:t>
            </a:r>
            <a:r>
              <a:rPr lang="en-US" sz="1000" b="0" u="none" strike="noStrike">
                <a:solidFill>
                  <a:srgbClr val="000000"/>
                </a:solidFill>
                <a:effectLst/>
                <a:uFillTx/>
                <a:latin typeface="Arial"/>
              </a:rPr>
              <a:t>Foque em entender como a IA pode oferecer valor além de prompts básicos e automação simples, isso ajudará você a compreender quais oportunidades existem para inovar e oferecer soluções melhores.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Compreenda as capacidades da IA Agêntica. </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Consulte especialistas do setor</a:t>
            </a:r>
            <a:endParaRPr lang="en-US" sz="1000" b="0" u="none" strike="noStrike">
              <a:solidFill>
                <a:srgbClr val="000000"/>
              </a:solidFill>
              <a:effectLst/>
              <a:uFillTx/>
              <a:latin typeface="Arial"/>
            </a:endParaRPr>
          </a:p>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Pesquise soluções inovadoras de IA Agêntica em outras áreas/setores que possam servir de inspiração.</a:t>
            </a:r>
            <a:endParaRPr lang="en-US" sz="1000" b="0" u="none" strike="noStrike">
              <a:solidFill>
                <a:srgbClr val="000000"/>
              </a:solidFill>
              <a:effectLst/>
              <a:uFillTx/>
              <a:latin typeface="Arial"/>
            </a:endParaRPr>
          </a:p>
        </p:txBody>
      </p:sp>
      <p:sp>
        <p:nvSpPr>
          <p:cNvPr id="206" name="TextBox 12"/>
          <p:cNvSpPr/>
          <p:nvPr/>
        </p:nvSpPr>
        <p:spPr>
          <a:xfrm>
            <a:off x="4950720" y="2195280"/>
            <a:ext cx="184212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1 a 2 frases - Use este formato:</a:t>
            </a:r>
            <a:endParaRPr lang="en-US" sz="1000" b="0" u="none" strike="noStrike">
              <a:solidFill>
                <a:srgbClr val="000000"/>
              </a:solidFill>
              <a:effectLst/>
              <a:uFillTx/>
              <a:latin typeface="Arial"/>
            </a:endParaRPr>
          </a:p>
        </p:txBody>
      </p:sp>
      <p:sp>
        <p:nvSpPr>
          <p:cNvPr id="207" name="TextBox 13"/>
          <p:cNvSpPr/>
          <p:nvPr/>
        </p:nvSpPr>
        <p:spPr>
          <a:xfrm>
            <a:off x="4950720" y="2530440"/>
            <a:ext cx="686376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“Um sistema inteligente poderia ajudar os usuários ao [o que ele faria], porque hoje [por que a abordagem atual falha].”</a:t>
            </a:r>
            <a:endParaRPr lang="en-US" sz="1000" b="0" u="none" strike="noStrike">
              <a:solidFill>
                <a:srgbClr val="000000"/>
              </a:solidFill>
              <a:effectLst/>
              <a:uFillTx/>
              <a:latin typeface="Arial"/>
            </a:endParaRPr>
          </a:p>
        </p:txBody>
      </p:sp>
      <p:sp>
        <p:nvSpPr>
          <p:cNvPr id="208" name="TextBox 14"/>
          <p:cNvSpPr/>
          <p:nvPr/>
        </p:nvSpPr>
        <p:spPr>
          <a:xfrm>
            <a:off x="4950720" y="2865600"/>
            <a:ext cx="686376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“Um sistema inteligente poderia ajudar os usuários ao [o que ele faria], porque hoje [por que a abordagem atual falha].”</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9" name="Picture 1" descr="image.png"/>
          <p:cNvPicPr/>
          <p:nvPr/>
        </p:nvPicPr>
        <p:blipFill>
          <a:blip r:embed="rId1"/>
          <a:stretch/>
        </p:blipFill>
        <p:spPr>
          <a:xfrm>
            <a:off x="44280" y="70200"/>
            <a:ext cx="1044360" cy="852840"/>
          </a:xfrm>
          <a:prstGeom prst="rect">
            <a:avLst/>
          </a:prstGeom>
          <a:noFill/>
          <a:ln w="0">
            <a:noFill/>
          </a:ln>
        </p:spPr>
      </p:pic>
      <p:sp>
        <p:nvSpPr>
          <p:cNvPr id="210" name="TextBox 2"/>
          <p:cNvSpPr/>
          <p:nvPr/>
        </p:nvSpPr>
        <p:spPr>
          <a:xfrm>
            <a:off x="288000" y="219600"/>
            <a:ext cx="4310280" cy="939960"/>
          </a:xfrm>
          <a:prstGeom prst="rect">
            <a:avLst/>
          </a:prstGeom>
          <a:noFill/>
          <a:ln w="0">
            <a:noFill/>
          </a:ln>
        </p:spPr>
        <p:style>
          <a:lnRef idx="0"/>
          <a:fillRef idx="0"/>
          <a:effectRef idx="0"/>
          <a:fontRef idx="minor"/>
        </p:style>
        <p:txBody>
          <a:bodyPr lIns="0" tIns="0" rIns="0" bIns="0" anchor="t">
            <a:noAutofit/>
          </a:bodyPr>
          <a:p>
            <a:pPr marL="670320" defTabSz="457200">
              <a:lnSpc>
                <a:spcPts val="3679"/>
              </a:lnSpc>
              <a:tabLst>
                <a:tab pos="0" algn="l"/>
              </a:tabLst>
            </a:pPr>
            <a:r>
              <a:rPr lang="en-US" sz="3200" b="0" u="none" strike="noStrike">
                <a:solidFill>
                  <a:srgbClr val="000000"/>
                </a:solidFill>
                <a:effectLst/>
                <a:uFillTx/>
                <a:latin typeface="Arial"/>
              </a:rPr>
              <a:t>Ponto de controle:  </a:t>
            </a:r>
            <a:endParaRPr lang="en-US" sz="3200" b="0" u="none" strike="noStrike">
              <a:solidFill>
                <a:srgbClr val="000000"/>
              </a:solidFill>
              <a:effectLst/>
              <a:uFillTx/>
              <a:latin typeface="Arial"/>
            </a:endParaRPr>
          </a:p>
          <a:p>
            <a:pPr defTabSz="457200">
              <a:lnSpc>
                <a:spcPts val="3677"/>
              </a:lnSpc>
              <a:spcBef>
                <a:spcPts val="164"/>
              </a:spcBef>
              <a:tabLst>
                <a:tab pos="0" algn="l"/>
              </a:tabLst>
            </a:pPr>
            <a:r>
              <a:rPr lang="en-US" sz="3200" b="0" u="none" strike="noStrike">
                <a:solidFill>
                  <a:srgbClr val="000000"/>
                </a:solidFill>
                <a:effectLst/>
                <a:uFillTx/>
                <a:latin typeface="Arial"/>
              </a:rPr>
              <a:t>Semana 2</a:t>
            </a:r>
            <a:endParaRPr lang="en-US" sz="3200" b="0" u="none" strike="noStrike">
              <a:solidFill>
                <a:srgbClr val="000000"/>
              </a:solidFill>
              <a:effectLst/>
              <a:uFillTx/>
              <a:latin typeface="Arial"/>
            </a:endParaRPr>
          </a:p>
        </p:txBody>
      </p:sp>
      <p:sp>
        <p:nvSpPr>
          <p:cNvPr id="211" name="TextBox 3"/>
          <p:cNvSpPr/>
          <p:nvPr/>
        </p:nvSpPr>
        <p:spPr>
          <a:xfrm>
            <a:off x="291600" y="1145520"/>
            <a:ext cx="5221800" cy="308880"/>
          </a:xfrm>
          <a:prstGeom prst="rect">
            <a:avLst/>
          </a:prstGeom>
          <a:noFill/>
          <a:ln w="0">
            <a:noFill/>
          </a:ln>
        </p:spPr>
        <p:style>
          <a:lnRef idx="0"/>
          <a:fillRef idx="0"/>
          <a:effectRef idx="0"/>
          <a:fontRef idx="minor"/>
        </p:style>
        <p:txBody>
          <a:bodyPr lIns="0" tIns="0" rIns="0" bIns="0" anchor="t">
            <a:noAutofit/>
          </a:bodyPr>
          <a:p>
            <a:pPr defTabSz="457200">
              <a:lnSpc>
                <a:spcPts val="1318"/>
              </a:lnSpc>
            </a:pPr>
            <a:r>
              <a:rPr lang="en-US" sz="1000" b="1" u="none" strike="noStrike">
                <a:solidFill>
                  <a:srgbClr val="000000"/>
                </a:solidFill>
                <a:effectLst/>
                <a:uFillTx/>
                <a:latin typeface="Arial"/>
              </a:rPr>
              <a:t>Nesta etapa, você deve ter uma visão clara do problema, das pessoas afetadas e do porquê as soluções atuais falham, sem pular diretamente para o design da solução.</a:t>
            </a:r>
            <a:endParaRPr lang="en-US" sz="1000" b="0" u="none" strike="noStrike">
              <a:solidFill>
                <a:srgbClr val="000000"/>
              </a:solidFill>
              <a:effectLst/>
              <a:uFillTx/>
              <a:latin typeface="Arial"/>
            </a:endParaRPr>
          </a:p>
        </p:txBody>
      </p:sp>
      <p:sp>
        <p:nvSpPr>
          <p:cNvPr id="212" name="TextBox 4"/>
          <p:cNvSpPr/>
          <p:nvPr/>
        </p:nvSpPr>
        <p:spPr>
          <a:xfrm>
            <a:off x="291600" y="1649160"/>
            <a:ext cx="5083920" cy="811080"/>
          </a:xfrm>
          <a:prstGeom prst="rect">
            <a:avLst/>
          </a:prstGeom>
          <a:noFill/>
          <a:ln w="0">
            <a:noFill/>
          </a:ln>
        </p:spPr>
        <p:style>
          <a:lnRef idx="0"/>
          <a:fillRef idx="0"/>
          <a:effectRef idx="0"/>
          <a:fontRef idx="minor"/>
        </p:style>
        <p:txBody>
          <a:bodyPr lIns="0" tIns="0" rIns="0" bIns="0" anchor="t">
            <a:noAutofit/>
          </a:bodyPr>
          <a:p>
            <a:pPr marL="228600" indent="-228600" defTabSz="457200">
              <a:lnSpc>
                <a:spcPts val="115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O problema é específico e centrado no ser humano (vivenciado por pessoas reais).</a:t>
            </a:r>
            <a:endParaRPr lang="en-US" sz="1000" b="0" u="none" strike="noStrike">
              <a:solidFill>
                <a:srgbClr val="000000"/>
              </a:solidFill>
              <a:effectLst/>
              <a:uFillTx/>
              <a:latin typeface="Arial"/>
            </a:endParaRPr>
          </a:p>
          <a:p>
            <a:pPr marL="228600" indent="-22860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O usuário e a experiência do usuário estão claros.</a:t>
            </a:r>
            <a:endParaRPr lang="en-US" sz="1000" b="0" u="none" strike="noStrike">
              <a:solidFill>
                <a:srgbClr val="000000"/>
              </a:solidFill>
              <a:effectLst/>
              <a:uFillTx/>
              <a:latin typeface="Arial"/>
            </a:endParaRPr>
          </a:p>
          <a:p>
            <a:pPr marL="228600" indent="-22860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As dores são solucionáveis e não óbvias.</a:t>
            </a:r>
            <a:endParaRPr lang="en-US" sz="1000" b="0" u="none" strike="noStrike">
              <a:solidFill>
                <a:srgbClr val="000000"/>
              </a:solidFill>
              <a:effectLst/>
              <a:uFillTx/>
              <a:latin typeface="Arial"/>
            </a:endParaRPr>
          </a:p>
          <a:p>
            <a:pPr marL="228600" indent="-228600" defTabSz="457200">
              <a:lnSpc>
                <a:spcPts val="132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Existe uma oportunidade clara e valiosa para a IA Agêntica oferecer uma solução e experiência melhores.</a:t>
            </a:r>
            <a:endParaRPr lang="en-US" sz="1000" b="0" u="none" strike="noStrike">
              <a:solidFill>
                <a:srgbClr val="000000"/>
              </a:solidFill>
              <a:effectLst/>
              <a:uFillTx/>
              <a:latin typeface="Arial"/>
            </a:endParaRPr>
          </a:p>
        </p:txBody>
      </p:sp>
      <p:sp>
        <p:nvSpPr>
          <p:cNvPr id="213" name="TextBox 5"/>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10</a:t>
            </a:r>
            <a:endParaRPr lang="en-US" sz="800" b="0" u="none" strike="noStrike">
              <a:solidFill>
                <a:srgbClr val="000000"/>
              </a:solidFill>
              <a:effectLst/>
              <a:uFillTx/>
              <a:latin typeface="Arial"/>
            </a:endParaRPr>
          </a:p>
        </p:txBody>
      </p:sp>
      <p:sp>
        <p:nvSpPr>
          <p:cNvPr id="214" name="TextBox 6"/>
          <p:cNvSpPr/>
          <p:nvPr/>
        </p:nvSpPr>
        <p:spPr>
          <a:xfrm>
            <a:off x="288000" y="2854440"/>
            <a:ext cx="2415240" cy="16920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1" u="none" strike="noStrike">
                <a:solidFill>
                  <a:srgbClr val="000000"/>
                </a:solidFill>
                <a:effectLst/>
                <a:uFillTx/>
                <a:latin typeface="Arial"/>
              </a:rPr>
              <a:t>Perguntas abertas e suposições</a:t>
            </a:r>
            <a:endParaRPr lang="en-US" sz="1200" b="0" u="none" strike="noStrike">
              <a:solidFill>
                <a:srgbClr val="000000"/>
              </a:solidFill>
              <a:effectLst/>
              <a:uFillTx/>
              <a:latin typeface="Arial"/>
            </a:endParaRPr>
          </a:p>
        </p:txBody>
      </p:sp>
      <p:sp>
        <p:nvSpPr>
          <p:cNvPr id="215" name="TextBox 7"/>
          <p:cNvSpPr/>
          <p:nvPr/>
        </p:nvSpPr>
        <p:spPr>
          <a:xfrm>
            <a:off x="288000" y="3256920"/>
            <a:ext cx="3008520" cy="50724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O que ainda não sabemos?</a:t>
            </a:r>
            <a:endParaRPr lang="en-US" sz="1200" b="0" u="none" strike="noStrike">
              <a:solidFill>
                <a:srgbClr val="000000"/>
              </a:solidFill>
              <a:effectLst/>
              <a:uFillTx/>
              <a:latin typeface="Arial"/>
            </a:endParaRPr>
          </a:p>
          <a:p>
            <a:pPr defTabSz="457200">
              <a:lnSpc>
                <a:spcPts val="1318"/>
              </a:lnSpc>
              <a:spcBef>
                <a:spcPts val="65"/>
              </a:spcBef>
            </a:pPr>
            <a:r>
              <a:rPr lang="en-US" sz="1000" b="0" i="1" u="none" strike="noStrike">
                <a:solidFill>
                  <a:srgbClr val="000000"/>
                </a:solidFill>
                <a:effectLst/>
                <a:uFillTx/>
                <a:latin typeface="Arial"/>
              </a:rPr>
              <a:t>Liste as lacunas de conhecimento que precisam de validação.</a:t>
            </a:r>
            <a:endParaRPr lang="en-US" sz="1000" b="0" u="none" strike="noStrike">
              <a:solidFill>
                <a:srgbClr val="000000"/>
              </a:solidFill>
              <a:effectLst/>
              <a:uFillTx/>
              <a:latin typeface="Arial"/>
            </a:endParaRPr>
          </a:p>
        </p:txBody>
      </p:sp>
      <p:sp>
        <p:nvSpPr>
          <p:cNvPr id="216" name="TextBox 8"/>
          <p:cNvSpPr/>
          <p:nvPr/>
        </p:nvSpPr>
        <p:spPr>
          <a:xfrm>
            <a:off x="3926160" y="3254760"/>
            <a:ext cx="2939400" cy="47412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Suposições do que estamos fazendo</a:t>
            </a:r>
            <a:endParaRPr lang="en-US" sz="1200" b="0" u="none" strike="noStrike">
              <a:solidFill>
                <a:srgbClr val="000000"/>
              </a:solidFill>
              <a:effectLst/>
              <a:uFillTx/>
              <a:latin typeface="Arial"/>
            </a:endParaRPr>
          </a:p>
          <a:p>
            <a:pPr defTabSz="457200">
              <a:lnSpc>
                <a:spcPts val="1199"/>
              </a:lnSpc>
              <a:spcBef>
                <a:spcPts val="43"/>
              </a:spcBef>
            </a:pPr>
            <a:r>
              <a:rPr lang="en-US" sz="1000" b="0" i="1" u="none" strike="noStrike">
                <a:solidFill>
                  <a:srgbClr val="000000"/>
                </a:solidFill>
                <a:effectLst/>
                <a:uFillTx/>
                <a:latin typeface="Arial"/>
              </a:rPr>
              <a:t>Documente quaisquer suposições sobre usuários, processos ou tecnologia.</a:t>
            </a:r>
            <a:endParaRPr lang="en-US" sz="1000" b="0" u="none" strike="noStrike">
              <a:solidFill>
                <a:srgbClr val="000000"/>
              </a:solidFill>
              <a:effectLst/>
              <a:uFillTx/>
              <a:latin typeface="Arial"/>
            </a:endParaRPr>
          </a:p>
        </p:txBody>
      </p:sp>
      <p:sp>
        <p:nvSpPr>
          <p:cNvPr id="217" name="TextBox 9"/>
          <p:cNvSpPr/>
          <p:nvPr/>
        </p:nvSpPr>
        <p:spPr>
          <a:xfrm>
            <a:off x="7650360" y="3254760"/>
            <a:ext cx="2995560" cy="47412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Pesquisa de validação</a:t>
            </a:r>
            <a:endParaRPr lang="en-US" sz="1200" b="0" u="none" strike="noStrike">
              <a:solidFill>
                <a:srgbClr val="000000"/>
              </a:solidFill>
              <a:effectLst/>
              <a:uFillTx/>
              <a:latin typeface="Arial"/>
            </a:endParaRPr>
          </a:p>
          <a:p>
            <a:pPr defTabSz="457200">
              <a:lnSpc>
                <a:spcPts val="1199"/>
              </a:lnSpc>
              <a:spcBef>
                <a:spcPts val="43"/>
              </a:spcBef>
            </a:pPr>
            <a:r>
              <a:rPr lang="en-US" sz="1000" b="0" i="1" u="none" strike="noStrike">
                <a:solidFill>
                  <a:srgbClr val="000000"/>
                </a:solidFill>
                <a:effectLst/>
                <a:uFillTx/>
                <a:latin typeface="Arial"/>
              </a:rPr>
              <a:t>Liste quais pesquisas são necessárias para coletar informações e/ou validar as suposições.</a:t>
            </a:r>
            <a:endParaRPr lang="en-US" sz="1000" b="0" u="none" strike="noStrike">
              <a:solidFill>
                <a:srgbClr val="000000"/>
              </a:solidFill>
              <a:effectLst/>
              <a:uFillTx/>
              <a:latin typeface="Arial"/>
            </a:endParaRPr>
          </a:p>
        </p:txBody>
      </p:sp>
      <p:sp>
        <p:nvSpPr>
          <p:cNvPr id="218" name="TextBox 10"/>
          <p:cNvSpPr/>
          <p:nvPr/>
        </p:nvSpPr>
        <p:spPr>
          <a:xfrm>
            <a:off x="7650360" y="3892320"/>
            <a:ext cx="335520" cy="59796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3.</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a:t>
            </a:r>
            <a:endParaRPr lang="en-US" sz="1000" b="0" u="none" strike="noStrike">
              <a:solidFill>
                <a:srgbClr val="000000"/>
              </a:solidFill>
              <a:effectLst/>
              <a:uFillTx/>
              <a:latin typeface="Arial"/>
            </a:endParaRPr>
          </a:p>
        </p:txBody>
      </p:sp>
      <p:cxnSp>
        <p:nvCxnSpPr>
          <p:cNvPr id="219" name="Connector 11"/>
          <p:cNvCxnSpPr/>
          <p:nvPr/>
        </p:nvCxnSpPr>
        <p:spPr>
          <a:xfrm>
            <a:off x="3656880" y="3276360"/>
            <a:ext cx="720" cy="3040920"/>
          </a:xfrm>
          <a:prstGeom prst="straightConnector1">
            <a:avLst/>
          </a:prstGeom>
          <a:ln w="6349">
            <a:solidFill>
              <a:srgbClr val="000000"/>
            </a:solidFill>
            <a:round/>
          </a:ln>
        </p:spPr>
      </p:cxnSp>
      <p:cxnSp>
        <p:nvCxnSpPr>
          <p:cNvPr id="220" name="Connector 12"/>
          <p:cNvCxnSpPr/>
          <p:nvPr/>
        </p:nvCxnSpPr>
        <p:spPr>
          <a:xfrm>
            <a:off x="7381080" y="3276360"/>
            <a:ext cx="720" cy="3040920"/>
          </a:xfrm>
          <a:prstGeom prst="straightConnector1">
            <a:avLst/>
          </a:prstGeom>
          <a:ln w="6349">
            <a:solidFill>
              <a:srgbClr val="000000"/>
            </a:solidFill>
            <a:round/>
          </a:ln>
        </p:spPr>
      </p:cxnSp>
      <p:sp>
        <p:nvSpPr>
          <p:cNvPr id="221" name="Rectangle 13"/>
          <p:cNvSpPr/>
          <p:nvPr/>
        </p:nvSpPr>
        <p:spPr>
          <a:xfrm>
            <a:off x="5968080" y="280800"/>
            <a:ext cx="5935320" cy="192600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22" name="TextBox 14"/>
          <p:cNvSpPr/>
          <p:nvPr/>
        </p:nvSpPr>
        <p:spPr>
          <a:xfrm>
            <a:off x="6014520" y="334800"/>
            <a:ext cx="126324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Ferramentas-chave:</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Mapa de Empatia</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Cenário Atual</a:t>
            </a:r>
            <a:endParaRPr lang="en-US" sz="1000" b="0" u="none" strike="noStrike">
              <a:solidFill>
                <a:srgbClr val="000000"/>
              </a:solidFill>
              <a:effectLst/>
              <a:uFillTx/>
              <a:latin typeface="Arial"/>
            </a:endParaRPr>
          </a:p>
        </p:txBody>
      </p:sp>
      <p:sp>
        <p:nvSpPr>
          <p:cNvPr id="223" name="TextBox 15"/>
          <p:cNvSpPr/>
          <p:nvPr/>
        </p:nvSpPr>
        <p:spPr>
          <a:xfrm>
            <a:off x="6014520" y="944640"/>
            <a:ext cx="5810760" cy="59832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Dica: </a:t>
            </a:r>
            <a:r>
              <a:rPr lang="en-US" sz="1000" b="0" u="none" strike="noStrike">
                <a:solidFill>
                  <a:srgbClr val="000000"/>
                </a:solidFill>
                <a:effectLst/>
                <a:uFillTx/>
                <a:latin typeface="Arial"/>
              </a:rPr>
              <a:t>Existem coisas que sabemos: existem coisas que pensamos que sabemos (suposições), e existem coisas que não sabemos. Agora é o momento de olhar novamente para o seu mapa de empatia e cenário atual e fazer uma análise crítica. Existe algo crítico para o sucesso do seu projeto que você talvez ainda não tenha certeza absoluta? </a:t>
            </a:r>
            <a:endParaRPr lang="en-US" sz="1000" b="0" u="none" strike="noStrike">
              <a:solidFill>
                <a:srgbClr val="000000"/>
              </a:solidFill>
              <a:effectLst/>
              <a:uFillTx/>
              <a:latin typeface="Arial"/>
            </a:endParaRPr>
          </a:p>
        </p:txBody>
      </p:sp>
      <p:sp>
        <p:nvSpPr>
          <p:cNvPr id="224" name="TextBox 16"/>
          <p:cNvSpPr/>
          <p:nvPr/>
        </p:nvSpPr>
        <p:spPr>
          <a:xfrm>
            <a:off x="6014520" y="1706400"/>
            <a:ext cx="5891040" cy="59832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O valor para o usuário está no coração da inovação. </a:t>
            </a:r>
            <a:r>
              <a:rPr lang="en-US" sz="1000" b="0" u="none" strike="noStrike">
                <a:solidFill>
                  <a:srgbClr val="000000"/>
                </a:solidFill>
                <a:effectLst/>
                <a:uFillTx/>
                <a:latin typeface="Arial"/>
              </a:rPr>
              <a:t>O mercado está cheio de soluções que não resolvem o problema de ninguém porque falharam em entender as necessidades, dores e desejos de seus usuários, este é o momento de você ter certeza de que está resolvendo um problema real e humano, que fará com que os usuários queiram utilizar sua solução.</a:t>
            </a:r>
            <a:endParaRPr lang="en-US" sz="1000" b="0" u="none" strike="noStrike">
              <a:solidFill>
                <a:srgbClr val="000000"/>
              </a:solidFill>
              <a:effectLst/>
              <a:uFillTx/>
              <a:latin typeface="Arial"/>
            </a:endParaRPr>
          </a:p>
        </p:txBody>
      </p:sp>
      <p:sp>
        <p:nvSpPr>
          <p:cNvPr id="225" name="TextBox 17"/>
          <p:cNvSpPr/>
          <p:nvPr/>
        </p:nvSpPr>
        <p:spPr>
          <a:xfrm>
            <a:off x="288000" y="3958560"/>
            <a:ext cx="139320" cy="4762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defTabSz="457200">
              <a:lnSpc>
                <a:spcPts val="1154"/>
              </a:lnSpc>
              <a:spcBef>
                <a:spcPts val="167"/>
              </a:spcBef>
            </a:pP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3.</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Rectangle 1"/>
          <p:cNvSpPr/>
          <p:nvPr/>
        </p:nvSpPr>
        <p:spPr>
          <a:xfrm>
            <a:off x="0" y="0"/>
            <a:ext cx="12191400" cy="5999400"/>
          </a:xfrm>
          <a:prstGeom prst="rect">
            <a:avLst/>
          </a:prstGeom>
          <a:solidFill>
            <a:srgbClr val="E5F6FF"/>
          </a:solidFill>
          <a:ln w="9523">
            <a:solidFill>
              <a:srgbClr val="E5F6FF"/>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pic>
        <p:nvPicPr>
          <p:cNvPr id="227" name="Picture 2" descr="image.png"/>
          <p:cNvPicPr/>
          <p:nvPr/>
        </p:nvPicPr>
        <p:blipFill>
          <a:blip r:embed="rId1"/>
          <a:stretch/>
        </p:blipFill>
        <p:spPr>
          <a:xfrm>
            <a:off x="11125800" y="6246720"/>
            <a:ext cx="847440" cy="332280"/>
          </a:xfrm>
          <a:prstGeom prst="rect">
            <a:avLst/>
          </a:prstGeom>
          <a:noFill/>
          <a:ln w="0">
            <a:noFill/>
          </a:ln>
        </p:spPr>
      </p:pic>
      <p:sp>
        <p:nvSpPr>
          <p:cNvPr id="228" name="TextBox 3"/>
          <p:cNvSpPr/>
          <p:nvPr/>
        </p:nvSpPr>
        <p:spPr>
          <a:xfrm>
            <a:off x="288000" y="228960"/>
            <a:ext cx="5297760" cy="1263600"/>
          </a:xfrm>
          <a:prstGeom prst="rect">
            <a:avLst/>
          </a:prstGeom>
          <a:noFill/>
          <a:ln w="0">
            <a:noFill/>
          </a:ln>
        </p:spPr>
        <p:style>
          <a:lnRef idx="0"/>
          <a:fillRef idx="0"/>
          <a:effectRef idx="0"/>
          <a:fontRef idx="minor"/>
        </p:style>
        <p:txBody>
          <a:bodyPr lIns="0" tIns="0" rIns="0" bIns="0" anchor="t">
            <a:noAutofit/>
          </a:bodyPr>
          <a:p>
            <a:pPr defTabSz="457200">
              <a:lnSpc>
                <a:spcPts val="5159"/>
              </a:lnSpc>
            </a:pPr>
            <a:r>
              <a:rPr lang="en-US" sz="4300" b="0" u="none" strike="noStrike">
                <a:solidFill>
                  <a:srgbClr val="000000"/>
                </a:solidFill>
                <a:effectLst/>
                <a:uFillTx/>
                <a:latin typeface="Arial"/>
              </a:rPr>
              <a:t>Solução centrada no usuário</a:t>
            </a:r>
            <a:endParaRPr lang="en-US" sz="4300" b="0" u="none" strike="noStrike">
              <a:solidFill>
                <a:srgbClr val="000000"/>
              </a:solidFill>
              <a:effectLst/>
              <a:uFillTx/>
              <a:latin typeface="Arial"/>
            </a:endParaRPr>
          </a:p>
        </p:txBody>
      </p:sp>
      <p:sp>
        <p:nvSpPr>
          <p:cNvPr id="229" name="TextBox 4"/>
          <p:cNvSpPr/>
          <p:nvPr/>
        </p:nvSpPr>
        <p:spPr>
          <a:xfrm>
            <a:off x="288000" y="2194560"/>
            <a:ext cx="5979240" cy="1918080"/>
          </a:xfrm>
          <a:prstGeom prst="rect">
            <a:avLst/>
          </a:prstGeom>
          <a:noFill/>
          <a:ln w="0">
            <a:noFill/>
          </a:ln>
        </p:spPr>
        <p:style>
          <a:lnRef idx="0"/>
          <a:fillRef idx="0"/>
          <a:effectRef idx="0"/>
          <a:fontRef idx="minor"/>
        </p:style>
        <p:txBody>
          <a:bodyPr lIns="0" tIns="0" rIns="0" bIns="0" anchor="t">
            <a:noAutofit/>
          </a:bodyPr>
          <a:p>
            <a:pPr defTabSz="457200">
              <a:lnSpc>
                <a:spcPts val="5159"/>
              </a:lnSpc>
            </a:pPr>
            <a:r>
              <a:rPr lang="en-US" sz="4300" b="0" i="1" u="none" strike="noStrike">
                <a:solidFill>
                  <a:srgbClr val="000000"/>
                </a:solidFill>
                <a:effectLst/>
                <a:uFillTx/>
                <a:latin typeface="Arial"/>
              </a:rPr>
              <a:t>Da oportunidade ao conceito: abordando as dores do usuário</a:t>
            </a:r>
            <a:endParaRPr lang="en-US" sz="4300" b="0" u="none" strike="noStrike">
              <a:solidFill>
                <a:srgbClr val="000000"/>
              </a:solidFill>
              <a:effectLst/>
              <a:uFillTx/>
              <a:latin typeface="Arial"/>
            </a:endParaRPr>
          </a:p>
        </p:txBody>
      </p:sp>
      <p:sp>
        <p:nvSpPr>
          <p:cNvPr id="230" name="Rectangle 5"/>
          <p:cNvSpPr/>
          <p:nvPr/>
        </p:nvSpPr>
        <p:spPr>
          <a:xfrm>
            <a:off x="285840" y="2094120"/>
            <a:ext cx="7228440" cy="3479760"/>
          </a:xfrm>
          <a:prstGeom prst="rect">
            <a:avLst/>
          </a:prstGeom>
          <a:solidFill>
            <a:srgbClr val="E5F6FF"/>
          </a:solidFill>
          <a:ln w="9523">
            <a:solidFill>
              <a:srgbClr val="E5F6FF"/>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31" name="TextBox 6"/>
          <p:cNvSpPr/>
          <p:nvPr/>
        </p:nvSpPr>
        <p:spPr>
          <a:xfrm>
            <a:off x="331560" y="2148480"/>
            <a:ext cx="7245720" cy="29376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u="none" strike="noStrike">
                <a:solidFill>
                  <a:srgbClr val="000000"/>
                </a:solidFill>
                <a:effectLst/>
                <a:uFillTx/>
                <a:latin typeface="Arial"/>
              </a:rPr>
              <a:t>Antes de preencher a seção de Solução centrada no usuário, as equipes são fortemente incentivadas a realizar primeiro dois exercícios fundamentais:</a:t>
            </a:r>
            <a:endParaRPr lang="en-US" sz="1000" b="0" u="none" strike="noStrike">
              <a:solidFill>
                <a:srgbClr val="000000"/>
              </a:solidFill>
              <a:effectLst/>
              <a:uFillTx/>
              <a:latin typeface="Arial"/>
            </a:endParaRPr>
          </a:p>
        </p:txBody>
      </p:sp>
      <p:sp>
        <p:nvSpPr>
          <p:cNvPr id="232" name="TextBox 7"/>
          <p:cNvSpPr/>
          <p:nvPr/>
        </p:nvSpPr>
        <p:spPr>
          <a:xfrm>
            <a:off x="331560" y="2605680"/>
            <a:ext cx="704160" cy="14112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Ideação.</a:t>
            </a:r>
            <a:endParaRPr lang="en-US" sz="1000" b="0" u="none" strike="noStrike">
              <a:solidFill>
                <a:srgbClr val="000000"/>
              </a:solidFill>
              <a:effectLst/>
              <a:uFillTx/>
              <a:latin typeface="Arial"/>
            </a:endParaRPr>
          </a:p>
        </p:txBody>
      </p:sp>
      <p:pic>
        <p:nvPicPr>
          <p:cNvPr id="233" name="Picture 8" descr="image.png"/>
          <p:cNvPicPr/>
          <p:nvPr/>
        </p:nvPicPr>
        <p:blipFill>
          <a:blip r:embed="rId2"/>
          <a:stretch/>
        </p:blipFill>
        <p:spPr>
          <a:xfrm>
            <a:off x="254520" y="3168000"/>
            <a:ext cx="326520" cy="266400"/>
          </a:xfrm>
          <a:prstGeom prst="rect">
            <a:avLst/>
          </a:prstGeom>
          <a:noFill/>
          <a:ln w="0">
            <a:noFill/>
          </a:ln>
        </p:spPr>
      </p:pic>
      <p:sp>
        <p:nvSpPr>
          <p:cNvPr id="234" name="TextBox 9"/>
          <p:cNvSpPr/>
          <p:nvPr/>
        </p:nvSpPr>
        <p:spPr>
          <a:xfrm>
            <a:off x="541080" y="3215160"/>
            <a:ext cx="619344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Dica: </a:t>
            </a:r>
            <a:r>
              <a:rPr lang="en-US" sz="1000" b="0" u="none" strike="noStrike">
                <a:solidFill>
                  <a:srgbClr val="000000"/>
                </a:solidFill>
                <a:effectLst/>
                <a:uFillTx/>
                <a:latin typeface="Arial"/>
              </a:rPr>
              <a:t>Mantenha a linguagem focada no usuário, evite jargões técnicos e escreva em frases curtas e claras.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TextBox 1"/>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12</a:t>
            </a:r>
            <a:endParaRPr lang="en-US" sz="800" b="0" u="none" strike="noStrike">
              <a:solidFill>
                <a:srgbClr val="000000"/>
              </a:solidFill>
              <a:effectLst/>
              <a:uFillTx/>
              <a:latin typeface="Arial"/>
            </a:endParaRPr>
          </a:p>
        </p:txBody>
      </p:sp>
      <p:sp>
        <p:nvSpPr>
          <p:cNvPr id="236" name="TextBox 2"/>
          <p:cNvSpPr/>
          <p:nvPr/>
        </p:nvSpPr>
        <p:spPr>
          <a:xfrm>
            <a:off x="288000" y="727200"/>
            <a:ext cx="3371040" cy="837360"/>
          </a:xfrm>
          <a:prstGeom prst="rect">
            <a:avLst/>
          </a:prstGeom>
          <a:noFill/>
          <a:ln w="0">
            <a:noFill/>
          </a:ln>
        </p:spPr>
        <p:style>
          <a:lnRef idx="0"/>
          <a:fillRef idx="0"/>
          <a:effectRef idx="0"/>
          <a:fontRef idx="minor"/>
        </p:style>
        <p:txBody>
          <a:bodyPr lIns="0" tIns="0" rIns="0" bIns="0" anchor="t">
            <a:noAutofit/>
          </a:bodyPr>
          <a:p>
            <a:pPr defTabSz="457200">
              <a:lnSpc>
                <a:spcPts val="1678"/>
              </a:lnSpc>
            </a:pPr>
            <a:r>
              <a:rPr lang="en-US" sz="1400" b="1" u="none" strike="noStrike">
                <a:solidFill>
                  <a:srgbClr val="000000"/>
                </a:solidFill>
                <a:effectLst/>
                <a:uFillTx/>
                <a:latin typeface="Arial"/>
              </a:rPr>
              <a:t>Objetivo:</a:t>
            </a:r>
            <a:r>
              <a:rPr lang="en-US" sz="1400" b="0" u="none" strike="noStrike">
                <a:solidFill>
                  <a:srgbClr val="000000"/>
                </a:solidFill>
                <a:effectLst/>
                <a:uFillTx/>
                <a:latin typeface="Arial"/>
              </a:rPr>
              <a:t> Garantir que sua solução seja centrada no usuário e resolva problemas reais do usuário.</a:t>
            </a:r>
            <a:endParaRPr lang="en-US" sz="1400" b="0" u="none" strike="noStrike">
              <a:solidFill>
                <a:srgbClr val="000000"/>
              </a:solidFill>
              <a:effectLst/>
              <a:uFillTx/>
              <a:latin typeface="Arial"/>
            </a:endParaRPr>
          </a:p>
          <a:p>
            <a:pPr defTabSz="457200">
              <a:lnSpc>
                <a:spcPts val="1607"/>
              </a:lnSpc>
              <a:spcBef>
                <a:spcPts val="71"/>
              </a:spcBef>
            </a:pPr>
            <a:r>
              <a:rPr lang="en-US" sz="1400" b="1" u="none" strike="noStrike">
                <a:solidFill>
                  <a:srgbClr val="000000"/>
                </a:solidFill>
                <a:effectLst/>
                <a:uFillTx/>
                <a:latin typeface="Arial"/>
              </a:rPr>
              <a:t>Quando:</a:t>
            </a:r>
            <a:r>
              <a:rPr lang="en-US" sz="1400" b="0" u="none" strike="noStrike">
                <a:solidFill>
                  <a:srgbClr val="000000"/>
                </a:solidFill>
                <a:effectLst/>
                <a:uFillTx/>
                <a:latin typeface="Arial"/>
              </a:rPr>
              <a:t> Até a Semana 3.</a:t>
            </a:r>
            <a:endParaRPr lang="en-US" sz="1400" b="0" u="none" strike="noStrike">
              <a:solidFill>
                <a:srgbClr val="000000"/>
              </a:solidFill>
              <a:effectLst/>
              <a:uFillTx/>
              <a:latin typeface="Arial"/>
            </a:endParaRPr>
          </a:p>
        </p:txBody>
      </p:sp>
      <p:sp>
        <p:nvSpPr>
          <p:cNvPr id="237" name="Rectangle 3"/>
          <p:cNvSpPr/>
          <p:nvPr/>
        </p:nvSpPr>
        <p:spPr>
          <a:xfrm>
            <a:off x="5849640" y="288000"/>
            <a:ext cx="17449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38" name="TextBox 4"/>
          <p:cNvSpPr/>
          <p:nvPr/>
        </p:nvSpPr>
        <p:spPr>
          <a:xfrm>
            <a:off x="5895360" y="342000"/>
            <a:ext cx="1366200" cy="29376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Ferramentas-chave:</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Persona do usuário.</a:t>
            </a:r>
            <a:endParaRPr lang="en-US" sz="1000" b="0" u="none" strike="noStrike">
              <a:solidFill>
                <a:srgbClr val="000000"/>
              </a:solidFill>
              <a:effectLst/>
              <a:uFillTx/>
              <a:latin typeface="Arial"/>
            </a:endParaRPr>
          </a:p>
        </p:txBody>
      </p:sp>
      <p:sp>
        <p:nvSpPr>
          <p:cNvPr id="239" name="Rectangle 5"/>
          <p:cNvSpPr/>
          <p:nvPr/>
        </p:nvSpPr>
        <p:spPr>
          <a:xfrm>
            <a:off x="7595280" y="288000"/>
            <a:ext cx="43081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40" name="TextBox 6"/>
          <p:cNvSpPr/>
          <p:nvPr/>
        </p:nvSpPr>
        <p:spPr>
          <a:xfrm>
            <a:off x="7641360" y="342000"/>
            <a:ext cx="2944800" cy="1414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Dica: </a:t>
            </a:r>
            <a:r>
              <a:rPr lang="en-US" sz="1000" b="0" u="none" strike="noStrike">
                <a:solidFill>
                  <a:srgbClr val="000000"/>
                </a:solidFill>
                <a:effectLst/>
                <a:uFillTx/>
                <a:latin typeface="Arial"/>
              </a:rPr>
              <a:t>Assim que terminar, resuma as informações.</a:t>
            </a:r>
            <a:endParaRPr lang="en-US" sz="1000" b="0" u="none" strike="noStrike">
              <a:solidFill>
                <a:srgbClr val="000000"/>
              </a:solidFill>
              <a:effectLst/>
              <a:uFillTx/>
              <a:latin typeface="Arial"/>
            </a:endParaRPr>
          </a:p>
        </p:txBody>
      </p:sp>
      <p:sp>
        <p:nvSpPr>
          <p:cNvPr id="241" name="TextBox 7"/>
          <p:cNvSpPr/>
          <p:nvPr/>
        </p:nvSpPr>
        <p:spPr>
          <a:xfrm>
            <a:off x="333720" y="4246560"/>
            <a:ext cx="1139760" cy="1414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Nome Sobrenome</a:t>
            </a:r>
            <a:endParaRPr lang="en-US" sz="1000" b="0" u="none" strike="noStrike">
              <a:solidFill>
                <a:srgbClr val="000000"/>
              </a:solidFill>
              <a:effectLst/>
              <a:uFillTx/>
              <a:latin typeface="Arial"/>
            </a:endParaRPr>
          </a:p>
        </p:txBody>
      </p:sp>
      <p:sp>
        <p:nvSpPr>
          <p:cNvPr id="242" name="TextBox 8"/>
          <p:cNvSpPr/>
          <p:nvPr/>
        </p:nvSpPr>
        <p:spPr>
          <a:xfrm>
            <a:off x="333720" y="4582080"/>
            <a:ext cx="49248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Função</a:t>
            </a:r>
            <a:endParaRPr lang="en-US" sz="1000" b="0" u="none" strike="noStrike">
              <a:solidFill>
                <a:srgbClr val="000000"/>
              </a:solidFill>
              <a:effectLst/>
              <a:uFillTx/>
              <a:latin typeface="Arial"/>
            </a:endParaRPr>
          </a:p>
        </p:txBody>
      </p:sp>
      <p:sp>
        <p:nvSpPr>
          <p:cNvPr id="243" name="TextBox 9"/>
          <p:cNvSpPr/>
          <p:nvPr/>
        </p:nvSpPr>
        <p:spPr>
          <a:xfrm>
            <a:off x="333720" y="4917240"/>
            <a:ext cx="1758960" cy="6436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Dados demográficos</a:t>
            </a:r>
            <a:endParaRPr lang="en-US" sz="1000" b="0" u="none" strike="noStrike">
              <a:solidFill>
                <a:srgbClr val="000000"/>
              </a:solidFill>
              <a:effectLst/>
              <a:uFillTx/>
              <a:latin typeface="Arial"/>
            </a:endParaRPr>
          </a:p>
          <a:p>
            <a:pPr defTabSz="457200">
              <a:lnSpc>
                <a:spcPts val="1318"/>
              </a:lnSpc>
            </a:pPr>
            <a:r>
              <a:rPr lang="en-US" sz="1000" b="0" i="1" u="none" strike="noStrike">
                <a:solidFill>
                  <a:srgbClr val="000000"/>
                </a:solidFill>
                <a:effectLst/>
                <a:uFillTx/>
                <a:latin typeface="Arial"/>
              </a:rPr>
              <a:t>Outros dados demográficos, como idade, gênero, renda, escolaridade, localização, etc.</a:t>
            </a:r>
            <a:endParaRPr lang="en-US" sz="1000" b="0" u="none" strike="noStrike">
              <a:solidFill>
                <a:srgbClr val="000000"/>
              </a:solidFill>
              <a:effectLst/>
              <a:uFillTx/>
              <a:latin typeface="Arial"/>
            </a:endParaRPr>
          </a:p>
        </p:txBody>
      </p:sp>
      <p:sp>
        <p:nvSpPr>
          <p:cNvPr id="244" name="TextBox 10"/>
          <p:cNvSpPr/>
          <p:nvPr/>
        </p:nvSpPr>
        <p:spPr>
          <a:xfrm>
            <a:off x="333720" y="1751040"/>
            <a:ext cx="171540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Persona do usuário-alvo</a:t>
            </a:r>
            <a:endParaRPr lang="en-US" sz="1200" b="0" u="none" strike="noStrike">
              <a:solidFill>
                <a:srgbClr val="000000"/>
              </a:solidFill>
              <a:effectLst/>
              <a:uFillTx/>
              <a:latin typeface="Arial"/>
            </a:endParaRPr>
          </a:p>
        </p:txBody>
      </p:sp>
      <p:sp>
        <p:nvSpPr>
          <p:cNvPr id="245" name="Rectangle 11"/>
          <p:cNvSpPr/>
          <p:nvPr/>
        </p:nvSpPr>
        <p:spPr>
          <a:xfrm>
            <a:off x="288000" y="2147040"/>
            <a:ext cx="1974600" cy="1866240"/>
          </a:xfrm>
          <a:prstGeom prst="rect">
            <a:avLst/>
          </a:prstGeom>
          <a:solidFill>
            <a:srgbClr val="F2F2F2"/>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46" name="TextBox 12"/>
          <p:cNvSpPr/>
          <p:nvPr/>
        </p:nvSpPr>
        <p:spPr>
          <a:xfrm>
            <a:off x="446040" y="3012840"/>
            <a:ext cx="1722960" cy="1414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u="none" strike="noStrike">
                <a:solidFill>
                  <a:srgbClr val="0F62FE"/>
                </a:solidFill>
                <a:effectLst/>
                <a:uFillTx/>
                <a:latin typeface="Arial"/>
              </a:rPr>
              <a:t>Imagem ilustrativa do usuário</a:t>
            </a:r>
            <a:endParaRPr lang="en-US" sz="1000" b="0" u="none" strike="noStrike">
              <a:solidFill>
                <a:srgbClr val="000000"/>
              </a:solidFill>
              <a:effectLst/>
              <a:uFillTx/>
              <a:latin typeface="Arial"/>
            </a:endParaRPr>
          </a:p>
        </p:txBody>
      </p:sp>
      <p:sp>
        <p:nvSpPr>
          <p:cNvPr id="247" name="Rectangle 13"/>
          <p:cNvSpPr/>
          <p:nvPr/>
        </p:nvSpPr>
        <p:spPr>
          <a:xfrm>
            <a:off x="3155400" y="2147040"/>
            <a:ext cx="3435480" cy="203040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48" name="TextBox 14"/>
          <p:cNvSpPr/>
          <p:nvPr/>
        </p:nvSpPr>
        <p:spPr>
          <a:xfrm>
            <a:off x="3201480" y="2203920"/>
            <a:ext cx="107712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Biografia breve</a:t>
            </a:r>
            <a:endParaRPr lang="en-US" sz="1200" b="0" u="none" strike="noStrike">
              <a:solidFill>
                <a:srgbClr val="000000"/>
              </a:solidFill>
              <a:effectLst/>
              <a:uFillTx/>
              <a:latin typeface="Arial"/>
            </a:endParaRPr>
          </a:p>
        </p:txBody>
      </p:sp>
      <p:sp>
        <p:nvSpPr>
          <p:cNvPr id="249" name="TextBox 15"/>
          <p:cNvSpPr/>
          <p:nvPr/>
        </p:nvSpPr>
        <p:spPr>
          <a:xfrm>
            <a:off x="3201480" y="2568600"/>
            <a:ext cx="3217680" cy="44568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i="1" u="none" strike="noStrike">
                <a:solidFill>
                  <a:srgbClr val="000000"/>
                </a:solidFill>
                <a:effectLst/>
                <a:uFillTx/>
                <a:latin typeface="Arial"/>
              </a:rPr>
              <a:t>Explique quem é o usuário, sua descrição de trabalho, suas preferências e qualquer outro histórico que possa ajudar a criar um personagem mais autêntico. </a:t>
            </a:r>
            <a:endParaRPr lang="en-US" sz="1000" b="0" u="none" strike="noStrike">
              <a:solidFill>
                <a:srgbClr val="000000"/>
              </a:solidFill>
              <a:effectLst/>
              <a:uFillTx/>
              <a:latin typeface="Arial"/>
            </a:endParaRPr>
          </a:p>
        </p:txBody>
      </p:sp>
      <p:sp>
        <p:nvSpPr>
          <p:cNvPr id="250" name="Rectangle 16"/>
          <p:cNvSpPr/>
          <p:nvPr/>
        </p:nvSpPr>
        <p:spPr>
          <a:xfrm>
            <a:off x="3155400" y="4390200"/>
            <a:ext cx="3435480" cy="170532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51" name="TextBox 17"/>
          <p:cNvSpPr/>
          <p:nvPr/>
        </p:nvSpPr>
        <p:spPr>
          <a:xfrm>
            <a:off x="3201480" y="4447080"/>
            <a:ext cx="21218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Experiência Ideal / Obrigatório</a:t>
            </a:r>
            <a:endParaRPr lang="en-US" sz="1200" b="0" u="none" strike="noStrike">
              <a:solidFill>
                <a:srgbClr val="000000"/>
              </a:solidFill>
              <a:effectLst/>
              <a:uFillTx/>
              <a:latin typeface="Arial"/>
            </a:endParaRPr>
          </a:p>
        </p:txBody>
      </p:sp>
      <p:sp>
        <p:nvSpPr>
          <p:cNvPr id="252" name="TextBox 18"/>
          <p:cNvSpPr/>
          <p:nvPr/>
        </p:nvSpPr>
        <p:spPr>
          <a:xfrm>
            <a:off x="3201480" y="4811760"/>
            <a:ext cx="3454920" cy="59832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i="1" u="none" strike="noStrike">
                <a:solidFill>
                  <a:srgbClr val="000000"/>
                </a:solidFill>
                <a:effectLst/>
                <a:uFillTx/>
                <a:latin typeface="Arial"/>
              </a:rPr>
              <a:t>Conhecendo seu usuário central, explique como seu produto pode atendê-lo melhor para criar a experiência de usuário ideal com base no que ele adoraria ter ou no que é indispensável para ele.</a:t>
            </a:r>
            <a:endParaRPr lang="en-US" sz="1000" b="0" u="none" strike="noStrike">
              <a:solidFill>
                <a:srgbClr val="000000"/>
              </a:solidFill>
              <a:effectLst/>
              <a:uFillTx/>
              <a:latin typeface="Arial"/>
            </a:endParaRPr>
          </a:p>
        </p:txBody>
      </p:sp>
      <p:sp>
        <p:nvSpPr>
          <p:cNvPr id="253" name="Rectangle 19"/>
          <p:cNvSpPr/>
          <p:nvPr/>
        </p:nvSpPr>
        <p:spPr>
          <a:xfrm>
            <a:off x="6822000" y="4390200"/>
            <a:ext cx="5081400" cy="170532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54" name="TextBox 20"/>
          <p:cNvSpPr/>
          <p:nvPr/>
        </p:nvSpPr>
        <p:spPr>
          <a:xfrm>
            <a:off x="6868080" y="4447080"/>
            <a:ext cx="192312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Habilidades e Capacidades</a:t>
            </a:r>
            <a:endParaRPr lang="en-US" sz="1200" b="0" u="none" strike="noStrike">
              <a:solidFill>
                <a:srgbClr val="000000"/>
              </a:solidFill>
              <a:effectLst/>
              <a:uFillTx/>
              <a:latin typeface="Arial"/>
            </a:endParaRPr>
          </a:p>
        </p:txBody>
      </p:sp>
      <p:sp>
        <p:nvSpPr>
          <p:cNvPr id="255" name="TextBox 21"/>
          <p:cNvSpPr/>
          <p:nvPr/>
        </p:nvSpPr>
        <p:spPr>
          <a:xfrm>
            <a:off x="6868080" y="4811760"/>
            <a:ext cx="5103720" cy="29340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i="1" u="none" strike="noStrike">
                <a:solidFill>
                  <a:srgbClr val="000000"/>
                </a:solidFill>
                <a:effectLst/>
                <a:uFillTx/>
                <a:latin typeface="Arial"/>
              </a:rPr>
              <a:t>Liste as capacidades técnicas de IA e do setor que seu usuário central possui, incluindo lacunas potenciais que sua solução precisará considerar.    </a:t>
            </a:r>
            <a:endParaRPr lang="en-US" sz="1000" b="0" u="none" strike="noStrike">
              <a:solidFill>
                <a:srgbClr val="000000"/>
              </a:solidFill>
              <a:effectLst/>
              <a:uFillTx/>
              <a:latin typeface="Arial"/>
            </a:endParaRPr>
          </a:p>
        </p:txBody>
      </p:sp>
      <p:sp>
        <p:nvSpPr>
          <p:cNvPr id="256" name="Rectangle 22"/>
          <p:cNvSpPr/>
          <p:nvPr/>
        </p:nvSpPr>
        <p:spPr>
          <a:xfrm>
            <a:off x="6822000" y="2147040"/>
            <a:ext cx="2540520" cy="203040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57" name="TextBox 23"/>
          <p:cNvSpPr/>
          <p:nvPr/>
        </p:nvSpPr>
        <p:spPr>
          <a:xfrm>
            <a:off x="6868080" y="2203920"/>
            <a:ext cx="163728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Objetivos e motivações</a:t>
            </a:r>
            <a:endParaRPr lang="en-US" sz="1200" b="0" u="none" strike="noStrike">
              <a:solidFill>
                <a:srgbClr val="000000"/>
              </a:solidFill>
              <a:effectLst/>
              <a:uFillTx/>
              <a:latin typeface="Arial"/>
            </a:endParaRPr>
          </a:p>
        </p:txBody>
      </p:sp>
      <p:sp>
        <p:nvSpPr>
          <p:cNvPr id="258" name="TextBox 24"/>
          <p:cNvSpPr/>
          <p:nvPr/>
        </p:nvSpPr>
        <p:spPr>
          <a:xfrm>
            <a:off x="6868080" y="2568600"/>
            <a:ext cx="2554560" cy="59796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i="1" u="none" strike="noStrike">
                <a:solidFill>
                  <a:srgbClr val="000000"/>
                </a:solidFill>
                <a:effectLst/>
                <a:uFillTx/>
                <a:latin typeface="Arial"/>
              </a:rPr>
              <a:t>O que seu público deseja obter ou fazer com o seu produto. Liste todos os objetivos e motivações possíveis que você encontrou na sua pesquisa de usuário.</a:t>
            </a:r>
            <a:endParaRPr lang="en-US" sz="1000" b="0" u="none" strike="noStrike">
              <a:solidFill>
                <a:srgbClr val="000000"/>
              </a:solidFill>
              <a:effectLst/>
              <a:uFillTx/>
              <a:latin typeface="Arial"/>
            </a:endParaRPr>
          </a:p>
        </p:txBody>
      </p:sp>
      <p:sp>
        <p:nvSpPr>
          <p:cNvPr id="259" name="Rectangle 25"/>
          <p:cNvSpPr/>
          <p:nvPr/>
        </p:nvSpPr>
        <p:spPr>
          <a:xfrm>
            <a:off x="9362880" y="2147040"/>
            <a:ext cx="2540520" cy="203040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60" name="TextBox 26"/>
          <p:cNvSpPr/>
          <p:nvPr/>
        </p:nvSpPr>
        <p:spPr>
          <a:xfrm>
            <a:off x="9409320" y="2203920"/>
            <a:ext cx="14126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Frustrações e dores</a:t>
            </a:r>
            <a:endParaRPr lang="en-US" sz="1200" b="0" u="none" strike="noStrike">
              <a:solidFill>
                <a:srgbClr val="000000"/>
              </a:solidFill>
              <a:effectLst/>
              <a:uFillTx/>
              <a:latin typeface="Arial"/>
            </a:endParaRPr>
          </a:p>
        </p:txBody>
      </p:sp>
      <p:sp>
        <p:nvSpPr>
          <p:cNvPr id="261" name="TextBox 27"/>
          <p:cNvSpPr/>
          <p:nvPr/>
        </p:nvSpPr>
        <p:spPr>
          <a:xfrm>
            <a:off x="9409320" y="2568600"/>
            <a:ext cx="2475720" cy="90288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i="1" u="none" strike="noStrike">
                <a:solidFill>
                  <a:srgbClr val="000000"/>
                </a:solidFill>
                <a:effectLst/>
                <a:uFillTx/>
                <a:latin typeface="Arial"/>
              </a:rPr>
              <a:t>Liste todos os problemas, desafios e até mesmo medos possíveis que seu público pode encontrar ao interagir com seus produtos. Essas informações ajudam a criar um produto que realmente atenda às necessidades dos seus usuários.</a:t>
            </a:r>
            <a:endParaRPr lang="en-US" sz="1000" b="0" u="none" strike="noStrike">
              <a:solidFill>
                <a:srgbClr val="000000"/>
              </a:solidFill>
              <a:effectLst/>
              <a:uFillTx/>
              <a:latin typeface="Arial"/>
            </a:endParaRPr>
          </a:p>
        </p:txBody>
      </p:sp>
      <p:sp>
        <p:nvSpPr>
          <p:cNvPr id="262" name="TextBox 28"/>
          <p:cNvSpPr/>
          <p:nvPr/>
        </p:nvSpPr>
        <p:spPr>
          <a:xfrm>
            <a:off x="288000" y="300240"/>
            <a:ext cx="177660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Usuário-alvo central</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TextBox 1"/>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13</a:t>
            </a:r>
            <a:endParaRPr lang="en-US" sz="800" b="0" u="none" strike="noStrike">
              <a:solidFill>
                <a:srgbClr val="000000"/>
              </a:solidFill>
              <a:effectLst/>
              <a:uFillTx/>
              <a:latin typeface="Arial"/>
            </a:endParaRPr>
          </a:p>
        </p:txBody>
      </p:sp>
      <p:sp>
        <p:nvSpPr>
          <p:cNvPr id="264" name="TextBox 2"/>
          <p:cNvSpPr/>
          <p:nvPr/>
        </p:nvSpPr>
        <p:spPr>
          <a:xfrm>
            <a:off x="288000" y="300240"/>
            <a:ext cx="25826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Conceito da solução (Parte 2)</a:t>
            </a:r>
            <a:endParaRPr lang="en-US" sz="1400" b="0" u="none" strike="noStrike">
              <a:solidFill>
                <a:srgbClr val="000000"/>
              </a:solidFill>
              <a:effectLst/>
              <a:uFillTx/>
              <a:latin typeface="Arial"/>
            </a:endParaRPr>
          </a:p>
        </p:txBody>
      </p:sp>
      <p:sp>
        <p:nvSpPr>
          <p:cNvPr id="265" name="TextBox 3"/>
          <p:cNvSpPr/>
          <p:nvPr/>
        </p:nvSpPr>
        <p:spPr>
          <a:xfrm>
            <a:off x="288000" y="727200"/>
            <a:ext cx="3557160" cy="837360"/>
          </a:xfrm>
          <a:prstGeom prst="rect">
            <a:avLst/>
          </a:prstGeom>
          <a:noFill/>
          <a:ln w="0">
            <a:noFill/>
          </a:ln>
        </p:spPr>
        <p:style>
          <a:lnRef idx="0"/>
          <a:fillRef idx="0"/>
          <a:effectRef idx="0"/>
          <a:fontRef idx="minor"/>
        </p:style>
        <p:txBody>
          <a:bodyPr lIns="0" tIns="0" rIns="0" bIns="0" anchor="t">
            <a:noAutofit/>
          </a:bodyPr>
          <a:p>
            <a:pPr defTabSz="457200">
              <a:lnSpc>
                <a:spcPts val="1678"/>
              </a:lnSpc>
            </a:pPr>
            <a:r>
              <a:rPr lang="en-US" sz="1400" b="1" u="none" strike="noStrike">
                <a:solidFill>
                  <a:srgbClr val="000000"/>
                </a:solidFill>
                <a:effectLst/>
                <a:uFillTx/>
                <a:latin typeface="Arial"/>
              </a:rPr>
              <a:t>Objetivo:</a:t>
            </a:r>
            <a:r>
              <a:rPr lang="en-US" sz="1400" b="0" u="none" strike="noStrike">
                <a:solidFill>
                  <a:srgbClr val="000000"/>
                </a:solidFill>
                <a:effectLst/>
                <a:uFillTx/>
                <a:latin typeface="Arial"/>
              </a:rPr>
              <a:t> Compreender o que sua solução fará e como ela resolverá as dores do usuário.</a:t>
            </a:r>
            <a:endParaRPr lang="en-US" sz="1400" b="0" u="none" strike="noStrike">
              <a:solidFill>
                <a:srgbClr val="000000"/>
              </a:solidFill>
              <a:effectLst/>
              <a:uFillTx/>
              <a:latin typeface="Arial"/>
            </a:endParaRPr>
          </a:p>
          <a:p>
            <a:pPr defTabSz="457200">
              <a:lnSpc>
                <a:spcPts val="1607"/>
              </a:lnSpc>
              <a:spcBef>
                <a:spcPts val="71"/>
              </a:spcBef>
            </a:pPr>
            <a:r>
              <a:rPr lang="en-US" sz="1400" b="1" u="none" strike="noStrike">
                <a:solidFill>
                  <a:srgbClr val="000000"/>
                </a:solidFill>
                <a:effectLst/>
                <a:uFillTx/>
                <a:latin typeface="Arial"/>
              </a:rPr>
              <a:t>Quando:</a:t>
            </a:r>
            <a:r>
              <a:rPr lang="en-US" sz="1400" b="0" u="none" strike="noStrike">
                <a:solidFill>
                  <a:srgbClr val="000000"/>
                </a:solidFill>
                <a:effectLst/>
                <a:uFillTx/>
                <a:latin typeface="Arial"/>
              </a:rPr>
              <a:t> Até a Semana 3.</a:t>
            </a:r>
            <a:endParaRPr lang="en-US" sz="1400" b="0" u="none" strike="noStrike">
              <a:solidFill>
                <a:srgbClr val="000000"/>
              </a:solidFill>
              <a:effectLst/>
              <a:uFillTx/>
              <a:latin typeface="Arial"/>
            </a:endParaRPr>
          </a:p>
        </p:txBody>
      </p:sp>
      <p:sp>
        <p:nvSpPr>
          <p:cNvPr id="266" name="TextBox 4"/>
          <p:cNvSpPr/>
          <p:nvPr/>
        </p:nvSpPr>
        <p:spPr>
          <a:xfrm>
            <a:off x="287280" y="1996200"/>
            <a:ext cx="23126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Apresentação do grupo de ideias</a:t>
            </a:r>
            <a:endParaRPr lang="en-US" sz="1200" b="0" u="none" strike="noStrike">
              <a:solidFill>
                <a:srgbClr val="000000"/>
              </a:solidFill>
              <a:effectLst/>
              <a:uFillTx/>
              <a:latin typeface="Arial"/>
            </a:endParaRPr>
          </a:p>
        </p:txBody>
      </p:sp>
      <p:sp>
        <p:nvSpPr>
          <p:cNvPr id="267" name="TextBox 5"/>
          <p:cNvSpPr/>
          <p:nvPr/>
        </p:nvSpPr>
        <p:spPr>
          <a:xfrm>
            <a:off x="287280" y="2362320"/>
            <a:ext cx="3374640" cy="64404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i="1" u="none" strike="noStrike">
                <a:solidFill>
                  <a:srgbClr val="000000"/>
                </a:solidFill>
                <a:effectLst/>
                <a:uFillTx/>
                <a:latin typeface="Arial"/>
              </a:rPr>
              <a:t>Liste as principais ideias que a equipe deseja desenvolver</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3… </a:t>
            </a:r>
            <a:endParaRPr lang="en-US" sz="1000" b="0" u="none" strike="noStrike">
              <a:solidFill>
                <a:srgbClr val="000000"/>
              </a:solidFill>
              <a:effectLst/>
              <a:uFillTx/>
              <a:latin typeface="Arial"/>
            </a:endParaRPr>
          </a:p>
        </p:txBody>
      </p:sp>
      <p:sp>
        <p:nvSpPr>
          <p:cNvPr id="268" name="TextBox 6"/>
          <p:cNvSpPr/>
          <p:nvPr/>
        </p:nvSpPr>
        <p:spPr>
          <a:xfrm>
            <a:off x="287280" y="3437640"/>
            <a:ext cx="258912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Proposta de valor e justificativa da IA</a:t>
            </a:r>
            <a:endParaRPr lang="en-US" sz="1200" b="0" u="none" strike="noStrike">
              <a:solidFill>
                <a:srgbClr val="000000"/>
              </a:solidFill>
              <a:effectLst/>
              <a:uFillTx/>
              <a:latin typeface="Arial"/>
            </a:endParaRPr>
          </a:p>
        </p:txBody>
      </p:sp>
      <p:sp>
        <p:nvSpPr>
          <p:cNvPr id="269" name="TextBox 7"/>
          <p:cNvSpPr/>
          <p:nvPr/>
        </p:nvSpPr>
        <p:spPr>
          <a:xfrm>
            <a:off x="287280" y="3786840"/>
            <a:ext cx="3339720" cy="277200"/>
          </a:xfrm>
          <a:prstGeom prst="rect">
            <a:avLst/>
          </a:prstGeom>
          <a:noFill/>
          <a:ln w="0">
            <a:noFill/>
          </a:ln>
        </p:spPr>
        <p:style>
          <a:lnRef idx="0"/>
          <a:fillRef idx="0"/>
          <a:effectRef idx="0"/>
          <a:fontRef idx="minor"/>
        </p:style>
        <p:txBody>
          <a:bodyPr lIns="0" tIns="0" rIns="0" bIns="0" anchor="t">
            <a:noAutofit/>
          </a:bodyPr>
          <a:p>
            <a:pPr defTabSz="457200">
              <a:lnSpc>
                <a:spcPts val="1188"/>
              </a:lnSpc>
            </a:pPr>
            <a:r>
              <a:rPr lang="en-US" sz="900" b="0" i="1" u="none" strike="noStrike">
                <a:solidFill>
                  <a:srgbClr val="000000"/>
                </a:solidFill>
                <a:effectLst/>
                <a:uFillTx/>
                <a:latin typeface="Arial"/>
              </a:rPr>
              <a:t>Explique por que essas ideias resolverão as dores do usuário e gerarão valor para ele por meio da IA agêntica.</a:t>
            </a:r>
            <a:endParaRPr lang="en-US" sz="900" b="0" u="none" strike="noStrike">
              <a:solidFill>
                <a:srgbClr val="000000"/>
              </a:solidFill>
              <a:effectLst/>
              <a:uFillTx/>
              <a:latin typeface="Arial"/>
            </a:endParaRPr>
          </a:p>
        </p:txBody>
      </p:sp>
      <p:sp>
        <p:nvSpPr>
          <p:cNvPr id="270" name="TextBox 8"/>
          <p:cNvSpPr/>
          <p:nvPr/>
        </p:nvSpPr>
        <p:spPr>
          <a:xfrm>
            <a:off x="287280" y="4239720"/>
            <a:ext cx="3417480" cy="277200"/>
          </a:xfrm>
          <a:prstGeom prst="rect">
            <a:avLst/>
          </a:prstGeom>
          <a:noFill/>
          <a:ln w="0">
            <a:noFill/>
          </a:ln>
        </p:spPr>
        <p:style>
          <a:lnRef idx="0"/>
          <a:fillRef idx="0"/>
          <a:effectRef idx="0"/>
          <a:fontRef idx="minor"/>
        </p:style>
        <p:txBody>
          <a:bodyPr lIns="0" tIns="0" rIns="0" bIns="0" anchor="t">
            <a:noAutofit/>
          </a:bodyPr>
          <a:p>
            <a:pPr defTabSz="457200">
              <a:lnSpc>
                <a:spcPts val="1188"/>
              </a:lnSpc>
            </a:pPr>
            <a:r>
              <a:rPr lang="en-US" sz="900" b="0" i="1" u="none" strike="noStrike">
                <a:solidFill>
                  <a:srgbClr val="000000"/>
                </a:solidFill>
                <a:effectLst/>
                <a:uFillTx/>
                <a:latin typeface="Arial"/>
              </a:rPr>
              <a:t>Por que esta solução continuará sendo interessante mesmo se a tecnologia de IA evoluir amanhã?</a:t>
            </a:r>
            <a:endParaRPr lang="en-US" sz="900" b="0" u="none" strike="noStrike">
              <a:solidFill>
                <a:srgbClr val="000000"/>
              </a:solidFill>
              <a:effectLst/>
              <a:uFillTx/>
              <a:latin typeface="Arial"/>
            </a:endParaRPr>
          </a:p>
        </p:txBody>
      </p:sp>
      <p:sp>
        <p:nvSpPr>
          <p:cNvPr id="271" name="Rectangle 9"/>
          <p:cNvSpPr/>
          <p:nvPr/>
        </p:nvSpPr>
        <p:spPr>
          <a:xfrm>
            <a:off x="5849640" y="288000"/>
            <a:ext cx="17449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72" name="TextBox 10"/>
          <p:cNvSpPr/>
          <p:nvPr/>
        </p:nvSpPr>
        <p:spPr>
          <a:xfrm>
            <a:off x="5895360" y="342000"/>
            <a:ext cx="1458360" cy="5986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Ferramentas-chave:</a:t>
            </a:r>
            <a:endParaRPr lang="en-US" sz="1000" b="0" u="none" strike="noStrike">
              <a:solidFill>
                <a:srgbClr val="000000"/>
              </a:solidFill>
              <a:effectLst/>
              <a:uFillTx/>
              <a:latin typeface="Arial"/>
            </a:endParaRPr>
          </a:p>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Vinhetas de Grandes Ideias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Cenário futuro</a:t>
            </a:r>
            <a:endParaRPr lang="en-US" sz="1000" b="0" u="none" strike="noStrike">
              <a:solidFill>
                <a:srgbClr val="000000"/>
              </a:solidFill>
              <a:effectLst/>
              <a:uFillTx/>
              <a:latin typeface="Arial"/>
            </a:endParaRPr>
          </a:p>
        </p:txBody>
      </p:sp>
      <p:sp>
        <p:nvSpPr>
          <p:cNvPr id="273" name="Rectangle 11"/>
          <p:cNvSpPr/>
          <p:nvPr/>
        </p:nvSpPr>
        <p:spPr>
          <a:xfrm>
            <a:off x="7595280" y="288000"/>
            <a:ext cx="43081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74" name="TextBox 12"/>
          <p:cNvSpPr/>
          <p:nvPr/>
        </p:nvSpPr>
        <p:spPr>
          <a:xfrm>
            <a:off x="7641360" y="342000"/>
            <a:ext cx="513000" cy="1414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Dica: </a:t>
            </a: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275" name="Rectangle 13"/>
          <p:cNvSpPr/>
          <p:nvPr/>
        </p:nvSpPr>
        <p:spPr>
          <a:xfrm>
            <a:off x="4158720" y="1982880"/>
            <a:ext cx="7744320" cy="440532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76" name="TextBox 14"/>
          <p:cNvSpPr/>
          <p:nvPr/>
        </p:nvSpPr>
        <p:spPr>
          <a:xfrm>
            <a:off x="4204800" y="2039400"/>
            <a:ext cx="318528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Conceito inicial (Protótipo de baixa fidelidade)</a:t>
            </a:r>
            <a:endParaRPr lang="en-US" sz="1200" b="0" u="none" strike="noStrike">
              <a:solidFill>
                <a:srgbClr val="000000"/>
              </a:solidFill>
              <a:effectLst/>
              <a:uFillTx/>
              <a:latin typeface="Arial"/>
            </a:endParaRPr>
          </a:p>
        </p:txBody>
      </p:sp>
      <p:sp>
        <p:nvSpPr>
          <p:cNvPr id="277" name="TextBox 15"/>
          <p:cNvSpPr/>
          <p:nvPr/>
        </p:nvSpPr>
        <p:spPr>
          <a:xfrm>
            <a:off x="4204800" y="2404080"/>
            <a:ext cx="6577560" cy="14112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i="1" u="none" strike="noStrike">
                <a:solidFill>
                  <a:srgbClr val="000000"/>
                </a:solidFill>
                <a:effectLst/>
                <a:uFillTx/>
                <a:latin typeface="Arial"/>
              </a:rPr>
              <a:t>Resuma/Ilustre aqui como suas ideias se uniriam para formar uma solução de IA agêntica poderosa e inovadora.  </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TextBox 1"/>
          <p:cNvSpPr/>
          <p:nvPr/>
        </p:nvSpPr>
        <p:spPr>
          <a:xfrm>
            <a:off x="10321560" y="2240640"/>
            <a:ext cx="10008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Etapa</a:t>
            </a:r>
            <a:endParaRPr lang="en-US" sz="1000" b="0" u="none" strike="noStrike">
              <a:solidFill>
                <a:srgbClr val="000000"/>
              </a:solidFill>
              <a:effectLst/>
              <a:uFillTx/>
              <a:latin typeface="Arial"/>
            </a:endParaRPr>
          </a:p>
          <a:p>
            <a:pPr defTabSz="457200">
              <a:lnSpc>
                <a:spcPts val="1318"/>
              </a:lnSpc>
              <a:spcBef>
                <a:spcPts val="28"/>
              </a:spcBef>
            </a:pPr>
            <a:r>
              <a:rPr lang="en-US" sz="1000" b="0" i="1" u="none" strike="noStrike">
                <a:solidFill>
                  <a:srgbClr val="000000"/>
                </a:solidFill>
                <a:effectLst/>
                <a:uFillTx/>
                <a:latin typeface="Arial"/>
              </a:rPr>
              <a:t>O que encerra a jornada do </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usuário?</a:t>
            </a:r>
            <a:endParaRPr lang="en-US" sz="1000" b="0" u="none" strike="noStrike">
              <a:solidFill>
                <a:srgbClr val="000000"/>
              </a:solidFill>
              <a:effectLst/>
              <a:uFillTx/>
              <a:latin typeface="Arial"/>
            </a:endParaRPr>
          </a:p>
        </p:txBody>
      </p:sp>
      <p:sp>
        <p:nvSpPr>
          <p:cNvPr id="279" name="TextBox 2"/>
          <p:cNvSpPr/>
          <p:nvPr/>
        </p:nvSpPr>
        <p:spPr>
          <a:xfrm>
            <a:off x="5013360" y="224136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Etapa</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sp>
        <p:nvSpPr>
          <p:cNvPr id="280" name="TextBox 3"/>
          <p:cNvSpPr/>
          <p:nvPr/>
        </p:nvSpPr>
        <p:spPr>
          <a:xfrm>
            <a:off x="7696080" y="224136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Etapa</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sp>
        <p:nvSpPr>
          <p:cNvPr id="281" name="TextBox 4"/>
          <p:cNvSpPr/>
          <p:nvPr/>
        </p:nvSpPr>
        <p:spPr>
          <a:xfrm>
            <a:off x="288000" y="303120"/>
            <a:ext cx="187632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Intenção de Inovação</a:t>
            </a:r>
            <a:endParaRPr lang="en-US" sz="1400" b="0" u="none" strike="noStrike">
              <a:solidFill>
                <a:srgbClr val="000000"/>
              </a:solidFill>
              <a:effectLst/>
              <a:uFillTx/>
              <a:latin typeface="Arial"/>
            </a:endParaRPr>
          </a:p>
        </p:txBody>
      </p:sp>
      <p:sp>
        <p:nvSpPr>
          <p:cNvPr id="282" name="TextBox 5"/>
          <p:cNvSpPr/>
          <p:nvPr/>
        </p:nvSpPr>
        <p:spPr>
          <a:xfrm>
            <a:off x="288000" y="772920"/>
            <a:ext cx="4262400" cy="43200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Objetivo:</a:t>
            </a:r>
            <a:r>
              <a:rPr lang="en-US" sz="1400" b="0" u="none" strike="noStrike">
                <a:solidFill>
                  <a:srgbClr val="000000"/>
                </a:solidFill>
                <a:effectLst/>
                <a:uFillTx/>
                <a:latin typeface="Arial"/>
              </a:rPr>
              <a:t> Explique por que esta solução é diferente.</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Quando:</a:t>
            </a:r>
            <a:r>
              <a:rPr lang="en-US" sz="1400" b="0" u="none" strike="noStrike">
                <a:solidFill>
                  <a:srgbClr val="000000"/>
                </a:solidFill>
                <a:effectLst/>
                <a:uFillTx/>
                <a:latin typeface="Arial"/>
              </a:rPr>
              <a:t> Até a Semana 3.</a:t>
            </a:r>
            <a:endParaRPr lang="en-US" sz="1400" b="0" u="none" strike="noStrike">
              <a:solidFill>
                <a:srgbClr val="000000"/>
              </a:solidFill>
              <a:effectLst/>
              <a:uFillTx/>
              <a:latin typeface="Arial"/>
            </a:endParaRPr>
          </a:p>
        </p:txBody>
      </p:sp>
      <p:sp>
        <p:nvSpPr>
          <p:cNvPr id="283" name="TextBox 6"/>
          <p:cNvSpPr/>
          <p:nvPr/>
        </p:nvSpPr>
        <p:spPr>
          <a:xfrm>
            <a:off x="3627000" y="2271600"/>
            <a:ext cx="85896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Gatilho</a:t>
            </a:r>
            <a:endParaRPr lang="en-US" sz="1000" b="0" u="none" strike="noStrike">
              <a:solidFill>
                <a:srgbClr val="000000"/>
              </a:solidFill>
              <a:effectLst/>
              <a:uFillTx/>
              <a:latin typeface="Arial"/>
            </a:endParaRPr>
          </a:p>
          <a:p>
            <a:pPr defTabSz="457200">
              <a:lnSpc>
                <a:spcPts val="1318"/>
              </a:lnSpc>
              <a:spcBef>
                <a:spcPts val="28"/>
              </a:spcBef>
            </a:pPr>
            <a:r>
              <a:rPr lang="en-US" sz="1000" b="0" i="1" u="none" strike="noStrike">
                <a:solidFill>
                  <a:srgbClr val="000000"/>
                </a:solidFill>
                <a:effectLst/>
                <a:uFillTx/>
                <a:latin typeface="Arial"/>
              </a:rPr>
              <a:t>O que inicia a jornada do usuário?</a:t>
            </a:r>
            <a:endParaRPr lang="en-US" sz="1000" b="0" u="none" strike="noStrike">
              <a:solidFill>
                <a:srgbClr val="000000"/>
              </a:solidFill>
              <a:effectLst/>
              <a:uFillTx/>
              <a:latin typeface="Arial"/>
            </a:endParaRPr>
          </a:p>
        </p:txBody>
      </p:sp>
      <p:sp>
        <p:nvSpPr>
          <p:cNvPr id="284" name="TextBox 7"/>
          <p:cNvSpPr/>
          <p:nvPr/>
        </p:nvSpPr>
        <p:spPr>
          <a:xfrm>
            <a:off x="6327720" y="227160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Etapa</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sp>
        <p:nvSpPr>
          <p:cNvPr id="285" name="TextBox 8"/>
          <p:cNvSpPr/>
          <p:nvPr/>
        </p:nvSpPr>
        <p:spPr>
          <a:xfrm>
            <a:off x="9010440" y="227160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Etapa</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cxnSp>
        <p:nvCxnSpPr>
          <p:cNvPr id="286" name="Connector 9"/>
          <p:cNvCxnSpPr/>
          <p:nvPr/>
        </p:nvCxnSpPr>
        <p:spPr>
          <a:xfrm>
            <a:off x="10237680" y="2249280"/>
            <a:ext cx="720" cy="1043280"/>
          </a:xfrm>
          <a:prstGeom prst="straightConnector1">
            <a:avLst/>
          </a:prstGeom>
          <a:ln w="6349">
            <a:solidFill>
              <a:srgbClr val="000000"/>
            </a:solidFill>
            <a:round/>
          </a:ln>
        </p:spPr>
      </p:cxnSp>
      <p:cxnSp>
        <p:nvCxnSpPr>
          <p:cNvPr id="287" name="Connector 10"/>
          <p:cNvCxnSpPr/>
          <p:nvPr/>
        </p:nvCxnSpPr>
        <p:spPr>
          <a:xfrm>
            <a:off x="4912200" y="2249640"/>
            <a:ext cx="720" cy="1043280"/>
          </a:xfrm>
          <a:prstGeom prst="straightConnector1">
            <a:avLst/>
          </a:prstGeom>
          <a:ln w="6349">
            <a:solidFill>
              <a:srgbClr val="000000"/>
            </a:solidFill>
            <a:round/>
          </a:ln>
        </p:spPr>
      </p:cxnSp>
      <p:cxnSp>
        <p:nvCxnSpPr>
          <p:cNvPr id="288" name="Connector 11"/>
          <p:cNvCxnSpPr/>
          <p:nvPr/>
        </p:nvCxnSpPr>
        <p:spPr>
          <a:xfrm>
            <a:off x="7594920" y="2249640"/>
            <a:ext cx="720" cy="1042920"/>
          </a:xfrm>
          <a:prstGeom prst="straightConnector1">
            <a:avLst/>
          </a:prstGeom>
          <a:ln w="6349">
            <a:solidFill>
              <a:srgbClr val="000000"/>
            </a:solidFill>
            <a:round/>
          </a:ln>
        </p:spPr>
      </p:cxnSp>
      <p:cxnSp>
        <p:nvCxnSpPr>
          <p:cNvPr id="289" name="Connector 12"/>
          <p:cNvCxnSpPr/>
          <p:nvPr/>
        </p:nvCxnSpPr>
        <p:spPr>
          <a:xfrm>
            <a:off x="3543480" y="2265480"/>
            <a:ext cx="720" cy="1043640"/>
          </a:xfrm>
          <a:prstGeom prst="straightConnector1">
            <a:avLst/>
          </a:prstGeom>
          <a:ln w="6349">
            <a:solidFill>
              <a:srgbClr val="000000"/>
            </a:solidFill>
            <a:round/>
          </a:ln>
        </p:spPr>
      </p:cxnSp>
      <p:cxnSp>
        <p:nvCxnSpPr>
          <p:cNvPr id="290" name="Connector 13"/>
          <p:cNvCxnSpPr/>
          <p:nvPr/>
        </p:nvCxnSpPr>
        <p:spPr>
          <a:xfrm>
            <a:off x="6226560" y="2265480"/>
            <a:ext cx="720" cy="1043640"/>
          </a:xfrm>
          <a:prstGeom prst="straightConnector1">
            <a:avLst/>
          </a:prstGeom>
          <a:ln w="6349">
            <a:solidFill>
              <a:srgbClr val="000000"/>
            </a:solidFill>
            <a:round/>
          </a:ln>
        </p:spPr>
      </p:cxnSp>
      <p:cxnSp>
        <p:nvCxnSpPr>
          <p:cNvPr id="291" name="Connector 14"/>
          <p:cNvCxnSpPr/>
          <p:nvPr/>
        </p:nvCxnSpPr>
        <p:spPr>
          <a:xfrm>
            <a:off x="8909280" y="2265480"/>
            <a:ext cx="720" cy="1043280"/>
          </a:xfrm>
          <a:prstGeom prst="straightConnector1">
            <a:avLst/>
          </a:prstGeom>
          <a:ln w="6349">
            <a:solidFill>
              <a:srgbClr val="000000"/>
            </a:solidFill>
            <a:round/>
          </a:ln>
        </p:spPr>
      </p:cxnSp>
      <p:pic>
        <p:nvPicPr>
          <p:cNvPr id="292" name="Picture 15" descr="image.png"/>
          <p:cNvPicPr/>
          <p:nvPr/>
        </p:nvPicPr>
        <p:blipFill>
          <a:blip r:embed="rId1"/>
          <a:stretch/>
        </p:blipFill>
        <p:spPr>
          <a:xfrm>
            <a:off x="3519720" y="3376440"/>
            <a:ext cx="7957440" cy="95400"/>
          </a:xfrm>
          <a:prstGeom prst="rect">
            <a:avLst/>
          </a:prstGeom>
          <a:noFill/>
          <a:ln w="0">
            <a:noFill/>
          </a:ln>
        </p:spPr>
      </p:pic>
      <p:sp>
        <p:nvSpPr>
          <p:cNvPr id="293" name="Oval 16"/>
          <p:cNvSpPr/>
          <p:nvPr/>
        </p:nvSpPr>
        <p:spPr>
          <a:xfrm>
            <a:off x="339012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94" name="Oval 17"/>
          <p:cNvSpPr/>
          <p:nvPr/>
        </p:nvSpPr>
        <p:spPr>
          <a:xfrm>
            <a:off x="4714200" y="3251520"/>
            <a:ext cx="337320" cy="337320"/>
          </a:xfrm>
          <a:prstGeom prst="ellipse">
            <a:avLst/>
          </a:prstGeom>
          <a:solidFill>
            <a:srgbClr val="CFE0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95" name="Oval 18"/>
          <p:cNvSpPr/>
          <p:nvPr/>
        </p:nvSpPr>
        <p:spPr>
          <a:xfrm>
            <a:off x="607428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96" name="Oval 19"/>
          <p:cNvSpPr/>
          <p:nvPr/>
        </p:nvSpPr>
        <p:spPr>
          <a:xfrm>
            <a:off x="7398360" y="3251520"/>
            <a:ext cx="337320" cy="337320"/>
          </a:xfrm>
          <a:prstGeom prst="ellipse">
            <a:avLst/>
          </a:prstGeom>
          <a:solidFill>
            <a:srgbClr val="CFE0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97" name="Oval 20"/>
          <p:cNvSpPr/>
          <p:nvPr/>
        </p:nvSpPr>
        <p:spPr>
          <a:xfrm>
            <a:off x="875052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98" name="Oval 21"/>
          <p:cNvSpPr/>
          <p:nvPr/>
        </p:nvSpPr>
        <p:spPr>
          <a:xfrm>
            <a:off x="1007856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299" name="TextBox 22"/>
          <p:cNvSpPr/>
          <p:nvPr/>
        </p:nvSpPr>
        <p:spPr>
          <a:xfrm>
            <a:off x="288000" y="6354720"/>
            <a:ext cx="239688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Fonte: Se aplicável, descreva a origem da fonte de </a:t>
            </a:r>
            <a:endParaRPr lang="en-US" sz="800" b="0" u="none" strike="noStrike">
              <a:solidFill>
                <a:srgbClr val="000000"/>
              </a:solidFill>
              <a:effectLst/>
              <a:uFillTx/>
              <a:latin typeface="Arial"/>
            </a:endParaRPr>
          </a:p>
        </p:txBody>
      </p:sp>
      <p:sp>
        <p:nvSpPr>
          <p:cNvPr id="300" name="TextBox 23"/>
          <p:cNvSpPr/>
          <p:nvPr/>
        </p:nvSpPr>
        <p:spPr>
          <a:xfrm>
            <a:off x="288000" y="6476760"/>
            <a:ext cx="34164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dados.</a:t>
            </a:r>
            <a:endParaRPr lang="en-US" sz="800" b="0" u="none" strike="noStrike">
              <a:solidFill>
                <a:srgbClr val="000000"/>
              </a:solidFill>
              <a:effectLst/>
              <a:uFillTx/>
              <a:latin typeface="Arial"/>
            </a:endParaRPr>
          </a:p>
        </p:txBody>
      </p:sp>
      <p:sp>
        <p:nvSpPr>
          <p:cNvPr id="301" name="TextBox 24"/>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14</a:t>
            </a:r>
            <a:endParaRPr lang="en-US" sz="800" b="0" u="none" strike="noStrike">
              <a:solidFill>
                <a:srgbClr val="000000"/>
              </a:solidFill>
              <a:effectLst/>
              <a:uFillTx/>
              <a:latin typeface="Arial"/>
            </a:endParaRPr>
          </a:p>
        </p:txBody>
      </p:sp>
      <p:sp>
        <p:nvSpPr>
          <p:cNvPr id="302" name="TextBox 25"/>
          <p:cNvSpPr/>
          <p:nvPr/>
        </p:nvSpPr>
        <p:spPr>
          <a:xfrm>
            <a:off x="288000" y="2261880"/>
            <a:ext cx="2240640" cy="50724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Transformação proposta </a:t>
            </a:r>
            <a:endParaRPr lang="en-US" sz="1200" b="0" u="none" strike="noStrike">
              <a:solidFill>
                <a:srgbClr val="000000"/>
              </a:solidFill>
              <a:effectLst/>
              <a:uFillTx/>
              <a:latin typeface="Arial"/>
            </a:endParaRPr>
          </a:p>
          <a:p>
            <a:pPr defTabSz="457200">
              <a:lnSpc>
                <a:spcPts val="1318"/>
              </a:lnSpc>
              <a:spcBef>
                <a:spcPts val="65"/>
              </a:spcBef>
            </a:pPr>
            <a:r>
              <a:rPr lang="en-US" sz="1000" b="0" i="1" u="none" strike="noStrike">
                <a:solidFill>
                  <a:srgbClr val="000000"/>
                </a:solidFill>
                <a:effectLst/>
                <a:uFillTx/>
                <a:latin typeface="Arial"/>
              </a:rPr>
              <a:t>Em um parágrafo, descreva como a experiência muda com a sua solução. </a:t>
            </a:r>
            <a:endParaRPr lang="en-US" sz="1000" b="0" u="none" strike="noStrike">
              <a:solidFill>
                <a:srgbClr val="000000"/>
              </a:solidFill>
              <a:effectLst/>
              <a:uFillTx/>
              <a:latin typeface="Arial"/>
            </a:endParaRPr>
          </a:p>
        </p:txBody>
      </p:sp>
      <p:sp>
        <p:nvSpPr>
          <p:cNvPr id="303" name="TextBox 26"/>
          <p:cNvSpPr/>
          <p:nvPr/>
        </p:nvSpPr>
        <p:spPr>
          <a:xfrm>
            <a:off x="333720" y="3633840"/>
            <a:ext cx="2263320" cy="6750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Por que esta solução?</a:t>
            </a:r>
            <a:endParaRPr lang="en-US" sz="1200" b="0" u="none" strike="noStrike">
              <a:solidFill>
                <a:srgbClr val="000000"/>
              </a:solidFill>
              <a:effectLst/>
              <a:uFillTx/>
              <a:latin typeface="Arial"/>
            </a:endParaRPr>
          </a:p>
          <a:p>
            <a:pPr defTabSz="457200">
              <a:lnSpc>
                <a:spcPts val="1321"/>
              </a:lnSpc>
              <a:spcBef>
                <a:spcPts val="65"/>
              </a:spcBef>
            </a:pPr>
            <a:r>
              <a:rPr lang="en-US" sz="1000" b="0" i="1" u="none" strike="noStrike">
                <a:solidFill>
                  <a:srgbClr val="000000"/>
                </a:solidFill>
                <a:effectLst/>
                <a:uFillTx/>
                <a:latin typeface="Arial"/>
              </a:rPr>
              <a:t>Explique por que esta solução de IA Agêntica é melhor do que as soluções existentes. </a:t>
            </a:r>
            <a:endParaRPr lang="en-US" sz="1000" b="0" u="none" strike="noStrike">
              <a:solidFill>
                <a:srgbClr val="000000"/>
              </a:solidFill>
              <a:effectLst/>
              <a:uFillTx/>
              <a:latin typeface="Arial"/>
            </a:endParaRPr>
          </a:p>
        </p:txBody>
      </p:sp>
      <p:sp>
        <p:nvSpPr>
          <p:cNvPr id="304" name="TextBox 27"/>
          <p:cNvSpPr/>
          <p:nvPr/>
        </p:nvSpPr>
        <p:spPr>
          <a:xfrm>
            <a:off x="333720" y="4503240"/>
            <a:ext cx="2498400" cy="476280"/>
          </a:xfrm>
          <a:prstGeom prst="rect">
            <a:avLst/>
          </a:prstGeom>
          <a:noFill/>
          <a:ln w="0">
            <a:noFill/>
          </a:ln>
        </p:spPr>
        <p:style>
          <a:lnRef idx="0"/>
          <a:fillRef idx="0"/>
          <a:effectRef idx="0"/>
          <a:fontRef idx="minor"/>
        </p:style>
        <p:txBody>
          <a:bodyPr lIns="0" tIns="0" rIns="0" bIns="0" anchor="t">
            <a:noAutofit/>
          </a:bodyPr>
          <a:p>
            <a:pPr defTabSz="457200">
              <a:lnSpc>
                <a:spcPts val="1318"/>
              </a:lnSpc>
            </a:pPr>
            <a:r>
              <a:rPr lang="en-US" sz="1000" b="0" i="1" u="none" strike="noStrike">
                <a:solidFill>
                  <a:srgbClr val="000000"/>
                </a:solidFill>
                <a:effectLst/>
                <a:uFillTx/>
                <a:latin typeface="Arial"/>
              </a:rPr>
              <a:t>Qual é o valor central da IA? Como ela vai além de um prompt simples ou de uma automação básica?</a:t>
            </a:r>
            <a:endParaRPr lang="en-US" sz="1000" b="0" u="none" strike="noStrike">
              <a:solidFill>
                <a:srgbClr val="000000"/>
              </a:solidFill>
              <a:effectLst/>
              <a:uFillTx/>
              <a:latin typeface="Arial"/>
            </a:endParaRPr>
          </a:p>
        </p:txBody>
      </p:sp>
      <p:pic>
        <p:nvPicPr>
          <p:cNvPr id="305" name="Picture 28" descr="image.png"/>
          <p:cNvPicPr/>
          <p:nvPr/>
        </p:nvPicPr>
        <p:blipFill>
          <a:blip r:embed="rId2"/>
          <a:stretch/>
        </p:blipFill>
        <p:spPr>
          <a:xfrm>
            <a:off x="3531240" y="3890160"/>
            <a:ext cx="6718680" cy="123120"/>
          </a:xfrm>
          <a:prstGeom prst="rect">
            <a:avLst/>
          </a:prstGeom>
          <a:noFill/>
          <a:ln w="0">
            <a:noFill/>
          </a:ln>
        </p:spPr>
      </p:pic>
      <p:sp>
        <p:nvSpPr>
          <p:cNvPr id="306" name="TextBox 29"/>
          <p:cNvSpPr/>
          <p:nvPr/>
        </p:nvSpPr>
        <p:spPr>
          <a:xfrm>
            <a:off x="5864400" y="4145040"/>
            <a:ext cx="21776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O que a torna inovadora? </a:t>
            </a:r>
            <a:r>
              <a:rPr lang="en-US" sz="1000" b="0" i="1" u="none" strike="noStrike">
                <a:solidFill>
                  <a:srgbClr val="000000"/>
                </a:solidFill>
                <a:effectLst/>
                <a:uFillTx/>
                <a:latin typeface="Arial"/>
              </a:rPr>
              <a:t>Novo </a:t>
            </a:r>
            <a:endParaRPr lang="en-US" sz="1000" b="0" u="none" strike="noStrike">
              <a:solidFill>
                <a:srgbClr val="000000"/>
              </a:solidFill>
              <a:effectLst/>
              <a:uFillTx/>
              <a:latin typeface="Arial"/>
            </a:endParaRPr>
          </a:p>
        </p:txBody>
      </p:sp>
      <p:sp>
        <p:nvSpPr>
          <p:cNvPr id="307" name="TextBox 30"/>
          <p:cNvSpPr/>
          <p:nvPr/>
        </p:nvSpPr>
        <p:spPr>
          <a:xfrm>
            <a:off x="5907960" y="4343760"/>
            <a:ext cx="2018160" cy="308520"/>
          </a:xfrm>
          <a:prstGeom prst="rect">
            <a:avLst/>
          </a:prstGeom>
          <a:noFill/>
          <a:ln w="0">
            <a:noFill/>
          </a:ln>
        </p:spPr>
        <p:style>
          <a:lnRef idx="0"/>
          <a:fillRef idx="0"/>
          <a:effectRef idx="0"/>
          <a:fontRef idx="minor"/>
        </p:style>
        <p:txBody>
          <a:bodyPr lIns="0" tIns="0" rIns="0" bIns="0" anchor="t">
            <a:noAutofit/>
          </a:bodyPr>
          <a:p>
            <a:pPr marL="505080" defTabSz="457200">
              <a:lnSpc>
                <a:spcPts val="1151"/>
              </a:lnSpc>
              <a:tabLst>
                <a:tab pos="0" algn="l"/>
              </a:tabLst>
            </a:pPr>
            <a:r>
              <a:rPr lang="en-US" sz="1000" b="0" i="1" u="none" strike="noStrike">
                <a:solidFill>
                  <a:srgbClr val="000000"/>
                </a:solidFill>
                <a:effectLst/>
                <a:uFillTx/>
                <a:latin typeface="Arial"/>
              </a:rPr>
              <a:t>fluxo de trabalho</a:t>
            </a:r>
            <a:endParaRPr lang="en-US" sz="1000" b="0" u="none" strike="noStrike">
              <a:solidFill>
                <a:srgbClr val="000000"/>
              </a:solidFill>
              <a:effectLst/>
              <a:uFillTx/>
              <a:latin typeface="Arial"/>
            </a:endParaRPr>
          </a:p>
          <a:p>
            <a:pPr defTabSz="457200">
              <a:lnSpc>
                <a:spcPts val="1151"/>
              </a:lnSpc>
              <a:spcBef>
                <a:spcPts val="167"/>
              </a:spcBef>
              <a:tabLst>
                <a:tab pos="0" algn="l"/>
              </a:tabLst>
            </a:pPr>
            <a:r>
              <a:rPr lang="en-US" sz="1000" b="0" i="1" u="none" strike="noStrike">
                <a:solidFill>
                  <a:srgbClr val="000000"/>
                </a:solidFill>
                <a:effectLst/>
                <a:uFillTx/>
                <a:latin typeface="Arial"/>
              </a:rPr>
              <a:t>Nova lógica de tomada de decisão</a:t>
            </a:r>
            <a:endParaRPr lang="en-US" sz="1000" b="0" u="none" strike="noStrike">
              <a:solidFill>
                <a:srgbClr val="000000"/>
              </a:solidFill>
              <a:effectLst/>
              <a:uFillTx/>
              <a:latin typeface="Arial"/>
            </a:endParaRPr>
          </a:p>
        </p:txBody>
      </p:sp>
      <p:sp>
        <p:nvSpPr>
          <p:cNvPr id="308" name="TextBox 31"/>
          <p:cNvSpPr/>
          <p:nvPr/>
        </p:nvSpPr>
        <p:spPr>
          <a:xfrm>
            <a:off x="5922360" y="4678920"/>
            <a:ext cx="1990080" cy="308880"/>
          </a:xfrm>
          <a:prstGeom prst="rect">
            <a:avLst/>
          </a:prstGeom>
          <a:noFill/>
          <a:ln w="0">
            <a:noFill/>
          </a:ln>
        </p:spPr>
        <p:style>
          <a:lnRef idx="0"/>
          <a:fillRef idx="0"/>
          <a:effectRef idx="0"/>
          <a:fontRef idx="minor"/>
        </p:style>
        <p:txBody>
          <a:bodyPr lIns="0" tIns="0" rIns="0" bIns="0" anchor="t">
            <a:noAutofit/>
          </a:bodyPr>
          <a:p>
            <a:pPr marL="112680" defTabSz="457200">
              <a:lnSpc>
                <a:spcPts val="1154"/>
              </a:lnSpc>
              <a:tabLst>
                <a:tab pos="0" algn="l"/>
              </a:tabLst>
            </a:pPr>
            <a:r>
              <a:rPr lang="en-US" sz="1000" b="0" i="1" u="none" strike="noStrike">
                <a:solidFill>
                  <a:srgbClr val="000000"/>
                </a:solidFill>
                <a:effectLst/>
                <a:uFillTx/>
                <a:latin typeface="Arial"/>
              </a:rPr>
              <a:t>Novo modelo de coordenação</a:t>
            </a:r>
            <a:endParaRPr lang="en-US" sz="1000" b="0" u="none" strike="noStrike">
              <a:solidFill>
                <a:srgbClr val="000000"/>
              </a:solidFill>
              <a:effectLst/>
              <a:uFillTx/>
              <a:latin typeface="Arial"/>
            </a:endParaRPr>
          </a:p>
          <a:p>
            <a:pPr defTabSz="457200">
              <a:lnSpc>
                <a:spcPts val="1151"/>
              </a:lnSpc>
              <a:spcBef>
                <a:spcPts val="167"/>
              </a:spcBef>
              <a:tabLst>
                <a:tab pos="0" algn="l"/>
              </a:tabLst>
            </a:pPr>
            <a:r>
              <a:rPr lang="en-US" sz="1000" b="0" i="1" u="none" strike="noStrike">
                <a:solidFill>
                  <a:srgbClr val="000000"/>
                </a:solidFill>
                <a:effectLst/>
                <a:uFillTx/>
                <a:latin typeface="Arial"/>
              </a:rPr>
              <a:t>Novo uso de dados/conhecimento</a:t>
            </a:r>
            <a:endParaRPr lang="en-US" sz="1000" b="0" u="none" strike="noStrike">
              <a:solidFill>
                <a:srgbClr val="000000"/>
              </a:solidFill>
              <a:effectLst/>
              <a:uFillTx/>
              <a:latin typeface="Arial"/>
            </a:endParaRPr>
          </a:p>
        </p:txBody>
      </p:sp>
      <p:sp>
        <p:nvSpPr>
          <p:cNvPr id="309" name="TextBox 32"/>
          <p:cNvSpPr/>
          <p:nvPr/>
        </p:nvSpPr>
        <p:spPr>
          <a:xfrm>
            <a:off x="6179760" y="5014440"/>
            <a:ext cx="146340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Novo nível de autonomia</a:t>
            </a:r>
            <a:endParaRPr lang="en-US" sz="1000" b="0" u="none" strike="noStrike">
              <a:solidFill>
                <a:srgbClr val="000000"/>
              </a:solidFill>
              <a:effectLst/>
              <a:uFillTx/>
              <a:latin typeface="Arial"/>
            </a:endParaRPr>
          </a:p>
        </p:txBody>
      </p:sp>
      <p:sp>
        <p:nvSpPr>
          <p:cNvPr id="310" name="TextBox 33"/>
          <p:cNvSpPr/>
          <p:nvPr/>
        </p:nvSpPr>
        <p:spPr>
          <a:xfrm>
            <a:off x="6881760" y="5182200"/>
            <a:ext cx="6696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311" name="TextBox 34"/>
          <p:cNvSpPr/>
          <p:nvPr/>
        </p:nvSpPr>
        <p:spPr>
          <a:xfrm>
            <a:off x="333720" y="1538280"/>
            <a:ext cx="3978360" cy="33984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Objetivo do usuário</a:t>
            </a:r>
            <a:endParaRPr lang="en-US" sz="1200" b="0" u="none" strike="noStrike">
              <a:solidFill>
                <a:srgbClr val="000000"/>
              </a:solidFill>
              <a:effectLst/>
              <a:uFillTx/>
              <a:latin typeface="Arial"/>
            </a:endParaRPr>
          </a:p>
          <a:p>
            <a:pPr defTabSz="457200">
              <a:lnSpc>
                <a:spcPts val="1151"/>
              </a:lnSpc>
              <a:spcBef>
                <a:spcPts val="232"/>
              </a:spcBef>
            </a:pPr>
            <a:r>
              <a:rPr lang="en-US" sz="1000" b="1" i="1" u="none" strike="noStrike">
                <a:solidFill>
                  <a:srgbClr val="000000"/>
                </a:solidFill>
                <a:effectLst/>
                <a:uFillTx/>
                <a:latin typeface="Arial"/>
              </a:rPr>
              <a:t>1 frase: </a:t>
            </a:r>
            <a:r>
              <a:rPr lang="en-US" sz="1000" b="0" i="1" u="none" strike="noStrike">
                <a:solidFill>
                  <a:srgbClr val="000000"/>
                </a:solidFill>
                <a:effectLst/>
                <a:uFillTx/>
                <a:latin typeface="Arial"/>
              </a:rPr>
              <a:t>O que o usuário está tentando alcançar? Seja breve e claro.</a:t>
            </a:r>
            <a:endParaRPr lang="en-US" sz="1000" b="0" u="none" strike="noStrike">
              <a:solidFill>
                <a:srgbClr val="000000"/>
              </a:solidFill>
              <a:effectLst/>
              <a:uFillTx/>
              <a:latin typeface="Arial"/>
            </a:endParaRPr>
          </a:p>
        </p:txBody>
      </p:sp>
      <p:sp>
        <p:nvSpPr>
          <p:cNvPr id="312" name="Rectangle 35"/>
          <p:cNvSpPr/>
          <p:nvPr/>
        </p:nvSpPr>
        <p:spPr>
          <a:xfrm>
            <a:off x="5849640" y="288000"/>
            <a:ext cx="17449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13" name="TextBox 36"/>
          <p:cNvSpPr/>
          <p:nvPr/>
        </p:nvSpPr>
        <p:spPr>
          <a:xfrm>
            <a:off x="5895360" y="342000"/>
            <a:ext cx="1458360" cy="5986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Ferramentas-chave:</a:t>
            </a:r>
            <a:endParaRPr lang="en-US" sz="1000" b="0" u="none" strike="noStrike">
              <a:solidFill>
                <a:srgbClr val="000000"/>
              </a:solidFill>
              <a:effectLst/>
              <a:uFillTx/>
              <a:latin typeface="Arial"/>
            </a:endParaRPr>
          </a:p>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Vinhetas de Grandes Ideias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Cenário futuro</a:t>
            </a:r>
            <a:endParaRPr lang="en-US" sz="1000" b="0" u="none" strike="noStrike">
              <a:solidFill>
                <a:srgbClr val="000000"/>
              </a:solidFill>
              <a:effectLst/>
              <a:uFillTx/>
              <a:latin typeface="Arial"/>
            </a:endParaRPr>
          </a:p>
        </p:txBody>
      </p:sp>
      <p:sp>
        <p:nvSpPr>
          <p:cNvPr id="314" name="Rectangle 37"/>
          <p:cNvSpPr/>
          <p:nvPr/>
        </p:nvSpPr>
        <p:spPr>
          <a:xfrm>
            <a:off x="7595280" y="288000"/>
            <a:ext cx="386928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15" name="TextBox 38"/>
          <p:cNvSpPr/>
          <p:nvPr/>
        </p:nvSpPr>
        <p:spPr>
          <a:xfrm>
            <a:off x="7641360" y="342000"/>
            <a:ext cx="513000" cy="1414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Dica: </a:t>
            </a: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6" name="Picture 1" descr="image.png"/>
          <p:cNvPicPr/>
          <p:nvPr/>
        </p:nvPicPr>
        <p:blipFill>
          <a:blip r:embed="rId1"/>
          <a:stretch/>
        </p:blipFill>
        <p:spPr>
          <a:xfrm>
            <a:off x="44280" y="70200"/>
            <a:ext cx="1044360" cy="852840"/>
          </a:xfrm>
          <a:prstGeom prst="rect">
            <a:avLst/>
          </a:prstGeom>
          <a:noFill/>
          <a:ln w="0">
            <a:noFill/>
          </a:ln>
        </p:spPr>
      </p:pic>
      <p:sp>
        <p:nvSpPr>
          <p:cNvPr id="317" name="TextBox 2"/>
          <p:cNvSpPr/>
          <p:nvPr/>
        </p:nvSpPr>
        <p:spPr>
          <a:xfrm>
            <a:off x="288000" y="219600"/>
            <a:ext cx="4192920" cy="939960"/>
          </a:xfrm>
          <a:prstGeom prst="rect">
            <a:avLst/>
          </a:prstGeom>
          <a:noFill/>
          <a:ln w="0">
            <a:noFill/>
          </a:ln>
        </p:spPr>
        <p:style>
          <a:lnRef idx="0"/>
          <a:fillRef idx="0"/>
          <a:effectRef idx="0"/>
          <a:fontRef idx="minor"/>
        </p:style>
        <p:txBody>
          <a:bodyPr lIns="0" tIns="0" rIns="0" bIns="0" anchor="t">
            <a:noAutofit/>
          </a:bodyPr>
          <a:p>
            <a:pPr marL="670320" defTabSz="457200">
              <a:lnSpc>
                <a:spcPts val="3679"/>
              </a:lnSpc>
              <a:tabLst>
                <a:tab pos="0" algn="l"/>
              </a:tabLst>
            </a:pPr>
            <a:r>
              <a:rPr lang="en-US" sz="3200" b="0" u="none" strike="noStrike">
                <a:solidFill>
                  <a:srgbClr val="000000"/>
                </a:solidFill>
                <a:effectLst/>
                <a:uFillTx/>
                <a:latin typeface="Arial"/>
              </a:rPr>
              <a:t>Ponto de controle: </a:t>
            </a:r>
            <a:endParaRPr lang="en-US" sz="3200" b="0" u="none" strike="noStrike">
              <a:solidFill>
                <a:srgbClr val="000000"/>
              </a:solidFill>
              <a:effectLst/>
              <a:uFillTx/>
              <a:latin typeface="Arial"/>
            </a:endParaRPr>
          </a:p>
          <a:p>
            <a:pPr defTabSz="457200">
              <a:lnSpc>
                <a:spcPts val="3677"/>
              </a:lnSpc>
              <a:spcBef>
                <a:spcPts val="164"/>
              </a:spcBef>
              <a:tabLst>
                <a:tab pos="0" algn="l"/>
              </a:tabLst>
            </a:pPr>
            <a:r>
              <a:rPr lang="en-US" sz="3200" b="0" u="none" strike="noStrike">
                <a:solidFill>
                  <a:srgbClr val="000000"/>
                </a:solidFill>
                <a:effectLst/>
                <a:uFillTx/>
                <a:latin typeface="Arial"/>
              </a:rPr>
              <a:t>Semana 3</a:t>
            </a:r>
            <a:endParaRPr lang="en-US" sz="3200" b="0" u="none" strike="noStrike">
              <a:solidFill>
                <a:srgbClr val="000000"/>
              </a:solidFill>
              <a:effectLst/>
              <a:uFillTx/>
              <a:latin typeface="Arial"/>
            </a:endParaRPr>
          </a:p>
        </p:txBody>
      </p:sp>
      <p:sp>
        <p:nvSpPr>
          <p:cNvPr id="318" name="TextBox 3"/>
          <p:cNvSpPr/>
          <p:nvPr/>
        </p:nvSpPr>
        <p:spPr>
          <a:xfrm>
            <a:off x="288000" y="1251000"/>
            <a:ext cx="5287320" cy="308880"/>
          </a:xfrm>
          <a:prstGeom prst="rect">
            <a:avLst/>
          </a:prstGeom>
          <a:noFill/>
          <a:ln w="0">
            <a:noFill/>
          </a:ln>
        </p:spPr>
        <p:style>
          <a:lnRef idx="0"/>
          <a:fillRef idx="0"/>
          <a:effectRef idx="0"/>
          <a:fontRef idx="minor"/>
        </p:style>
        <p:txBody>
          <a:bodyPr lIns="0" tIns="0" rIns="0" bIns="0" anchor="t">
            <a:noAutofit/>
          </a:bodyPr>
          <a:p>
            <a:pPr defTabSz="457200">
              <a:lnSpc>
                <a:spcPts val="1321"/>
              </a:lnSpc>
            </a:pPr>
            <a:r>
              <a:rPr lang="en-US" sz="1000" b="1" u="none" strike="noStrike">
                <a:solidFill>
                  <a:srgbClr val="000000"/>
                </a:solidFill>
                <a:effectLst/>
                <a:uFillTx/>
                <a:latin typeface="Arial"/>
              </a:rPr>
              <a:t>Nesta etapa, você deve ter uma visão clara de como será a sua solução. Este é o seu primeiro design de solução.</a:t>
            </a:r>
            <a:endParaRPr lang="en-US" sz="1000" b="0" u="none" strike="noStrike">
              <a:solidFill>
                <a:srgbClr val="000000"/>
              </a:solidFill>
              <a:effectLst/>
              <a:uFillTx/>
              <a:latin typeface="Arial"/>
            </a:endParaRPr>
          </a:p>
        </p:txBody>
      </p:sp>
      <p:sp>
        <p:nvSpPr>
          <p:cNvPr id="319" name="TextBox 4"/>
          <p:cNvSpPr/>
          <p:nvPr/>
        </p:nvSpPr>
        <p:spPr>
          <a:xfrm>
            <a:off x="288000" y="1755000"/>
            <a:ext cx="5162400" cy="307440"/>
          </a:xfrm>
          <a:prstGeom prst="rect">
            <a:avLst/>
          </a:prstGeom>
          <a:noFill/>
          <a:ln w="0">
            <a:noFill/>
          </a:ln>
        </p:spPr>
        <p:style>
          <a:lnRef idx="0"/>
          <a:fillRef idx="0"/>
          <a:effectRef idx="0"/>
          <a:fontRef idx="minor"/>
        </p:style>
        <p:txBody>
          <a:bodyPr lIns="0" tIns="0" rIns="0" bIns="0" anchor="t">
            <a:noAutofit/>
          </a:bodyPr>
          <a:p>
            <a:pPr marL="228600" indent="-228600" defTabSz="457200">
              <a:lnSpc>
                <a:spcPts val="115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O conceito está claro?</a:t>
            </a:r>
            <a:endParaRPr lang="en-US" sz="1000" b="0" u="none" strike="noStrike">
              <a:solidFill>
                <a:srgbClr val="000000"/>
              </a:solidFill>
              <a:effectLst/>
              <a:uFillTx/>
              <a:latin typeface="Arial"/>
            </a:endParaRPr>
          </a:p>
          <a:p>
            <a:pPr marL="228600" indent="-22860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Esta solução é diferente/inovadora em comparação com o que já existe no mercado?</a:t>
            </a:r>
            <a:endParaRPr lang="en-US" sz="1000" b="0" u="none" strike="noStrike">
              <a:solidFill>
                <a:srgbClr val="000000"/>
              </a:solidFill>
              <a:effectLst/>
              <a:uFillTx/>
              <a:latin typeface="Arial"/>
            </a:endParaRPr>
          </a:p>
        </p:txBody>
      </p:sp>
      <p:sp>
        <p:nvSpPr>
          <p:cNvPr id="320" name="TextBox 5"/>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15</a:t>
            </a:r>
            <a:endParaRPr lang="en-US" sz="800" b="0" u="none" strike="noStrike">
              <a:solidFill>
                <a:srgbClr val="000000"/>
              </a:solidFill>
              <a:effectLst/>
              <a:uFillTx/>
              <a:latin typeface="Arial"/>
            </a:endParaRPr>
          </a:p>
        </p:txBody>
      </p:sp>
      <p:sp>
        <p:nvSpPr>
          <p:cNvPr id="321" name="TextBox 6"/>
          <p:cNvSpPr/>
          <p:nvPr/>
        </p:nvSpPr>
        <p:spPr>
          <a:xfrm>
            <a:off x="288000" y="2854440"/>
            <a:ext cx="2415240" cy="16920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1" u="none" strike="noStrike">
                <a:solidFill>
                  <a:srgbClr val="000000"/>
                </a:solidFill>
                <a:effectLst/>
                <a:uFillTx/>
                <a:latin typeface="Arial"/>
              </a:rPr>
              <a:t>Perguntas abertas e suposições</a:t>
            </a:r>
            <a:endParaRPr lang="en-US" sz="1200" b="0" u="none" strike="noStrike">
              <a:solidFill>
                <a:srgbClr val="000000"/>
              </a:solidFill>
              <a:effectLst/>
              <a:uFillTx/>
              <a:latin typeface="Arial"/>
            </a:endParaRPr>
          </a:p>
        </p:txBody>
      </p:sp>
      <p:sp>
        <p:nvSpPr>
          <p:cNvPr id="322" name="TextBox 7"/>
          <p:cNvSpPr/>
          <p:nvPr/>
        </p:nvSpPr>
        <p:spPr>
          <a:xfrm>
            <a:off x="288000" y="3256920"/>
            <a:ext cx="3008520" cy="50724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O que ainda não sabemos?</a:t>
            </a:r>
            <a:endParaRPr lang="en-US" sz="1200" b="0" u="none" strike="noStrike">
              <a:solidFill>
                <a:srgbClr val="000000"/>
              </a:solidFill>
              <a:effectLst/>
              <a:uFillTx/>
              <a:latin typeface="Arial"/>
            </a:endParaRPr>
          </a:p>
          <a:p>
            <a:pPr defTabSz="457200">
              <a:lnSpc>
                <a:spcPts val="1318"/>
              </a:lnSpc>
              <a:spcBef>
                <a:spcPts val="65"/>
              </a:spcBef>
            </a:pPr>
            <a:r>
              <a:rPr lang="en-US" sz="1000" b="0" i="1" u="none" strike="noStrike">
                <a:solidFill>
                  <a:srgbClr val="000000"/>
                </a:solidFill>
                <a:effectLst/>
                <a:uFillTx/>
                <a:latin typeface="Arial"/>
              </a:rPr>
              <a:t>Liste as lacunas de conhecimento que precisam de validação.</a:t>
            </a:r>
            <a:endParaRPr lang="en-US" sz="1000" b="0" u="none" strike="noStrike">
              <a:solidFill>
                <a:srgbClr val="000000"/>
              </a:solidFill>
              <a:effectLst/>
              <a:uFillTx/>
              <a:latin typeface="Arial"/>
            </a:endParaRPr>
          </a:p>
        </p:txBody>
      </p:sp>
      <p:sp>
        <p:nvSpPr>
          <p:cNvPr id="323" name="TextBox 8"/>
          <p:cNvSpPr/>
          <p:nvPr/>
        </p:nvSpPr>
        <p:spPr>
          <a:xfrm>
            <a:off x="288000" y="3958560"/>
            <a:ext cx="139320" cy="4762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defTabSz="457200">
              <a:lnSpc>
                <a:spcPts val="1154"/>
              </a:lnSpc>
              <a:spcBef>
                <a:spcPts val="167"/>
              </a:spcBef>
            </a:pP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3.</a:t>
            </a:r>
            <a:endParaRPr lang="en-US" sz="1000" b="0" u="none" strike="noStrike">
              <a:solidFill>
                <a:srgbClr val="000000"/>
              </a:solidFill>
              <a:effectLst/>
              <a:uFillTx/>
              <a:latin typeface="Arial"/>
            </a:endParaRPr>
          </a:p>
        </p:txBody>
      </p:sp>
      <p:sp>
        <p:nvSpPr>
          <p:cNvPr id="324" name="TextBox 9"/>
          <p:cNvSpPr/>
          <p:nvPr/>
        </p:nvSpPr>
        <p:spPr>
          <a:xfrm>
            <a:off x="3926160" y="3254760"/>
            <a:ext cx="2939400" cy="47412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Suposições do que estamos fazendo</a:t>
            </a:r>
            <a:endParaRPr lang="en-US" sz="1200" b="0" u="none" strike="noStrike">
              <a:solidFill>
                <a:srgbClr val="000000"/>
              </a:solidFill>
              <a:effectLst/>
              <a:uFillTx/>
              <a:latin typeface="Arial"/>
            </a:endParaRPr>
          </a:p>
          <a:p>
            <a:pPr defTabSz="457200">
              <a:lnSpc>
                <a:spcPts val="1199"/>
              </a:lnSpc>
              <a:spcBef>
                <a:spcPts val="43"/>
              </a:spcBef>
            </a:pPr>
            <a:r>
              <a:rPr lang="en-US" sz="1000" b="0" i="1" u="none" strike="noStrike">
                <a:solidFill>
                  <a:srgbClr val="000000"/>
                </a:solidFill>
                <a:effectLst/>
                <a:uFillTx/>
                <a:latin typeface="Arial"/>
              </a:rPr>
              <a:t>Documente quaisquer suposições sobre usuários, processos ou tecnologia.</a:t>
            </a:r>
            <a:endParaRPr lang="en-US" sz="1000" b="0" u="none" strike="noStrike">
              <a:solidFill>
                <a:srgbClr val="000000"/>
              </a:solidFill>
              <a:effectLst/>
              <a:uFillTx/>
              <a:latin typeface="Arial"/>
            </a:endParaRPr>
          </a:p>
        </p:txBody>
      </p:sp>
      <p:sp>
        <p:nvSpPr>
          <p:cNvPr id="325" name="TextBox 10"/>
          <p:cNvSpPr/>
          <p:nvPr/>
        </p:nvSpPr>
        <p:spPr>
          <a:xfrm>
            <a:off x="7650360" y="3254760"/>
            <a:ext cx="2995560" cy="47412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Pesquisa de validação</a:t>
            </a:r>
            <a:endParaRPr lang="en-US" sz="1200" b="0" u="none" strike="noStrike">
              <a:solidFill>
                <a:srgbClr val="000000"/>
              </a:solidFill>
              <a:effectLst/>
              <a:uFillTx/>
              <a:latin typeface="Arial"/>
            </a:endParaRPr>
          </a:p>
          <a:p>
            <a:pPr defTabSz="457200">
              <a:lnSpc>
                <a:spcPts val="1199"/>
              </a:lnSpc>
              <a:spcBef>
                <a:spcPts val="43"/>
              </a:spcBef>
            </a:pPr>
            <a:r>
              <a:rPr lang="en-US" sz="1000" b="0" i="1" u="none" strike="noStrike">
                <a:solidFill>
                  <a:srgbClr val="000000"/>
                </a:solidFill>
                <a:effectLst/>
                <a:uFillTx/>
                <a:latin typeface="Arial"/>
              </a:rPr>
              <a:t>Liste quais pesquisas são necessárias para coletar informações e/ou validar as suposições.</a:t>
            </a:r>
            <a:endParaRPr lang="en-US" sz="1000" b="0" u="none" strike="noStrike">
              <a:solidFill>
                <a:srgbClr val="000000"/>
              </a:solidFill>
              <a:effectLst/>
              <a:uFillTx/>
              <a:latin typeface="Arial"/>
            </a:endParaRPr>
          </a:p>
        </p:txBody>
      </p:sp>
      <p:sp>
        <p:nvSpPr>
          <p:cNvPr id="326" name="TextBox 11"/>
          <p:cNvSpPr/>
          <p:nvPr/>
        </p:nvSpPr>
        <p:spPr>
          <a:xfrm>
            <a:off x="7650360" y="3892320"/>
            <a:ext cx="335520" cy="59796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3.</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a:t>
            </a:r>
            <a:endParaRPr lang="en-US" sz="1000" b="0" u="none" strike="noStrike">
              <a:solidFill>
                <a:srgbClr val="000000"/>
              </a:solidFill>
              <a:effectLst/>
              <a:uFillTx/>
              <a:latin typeface="Arial"/>
            </a:endParaRPr>
          </a:p>
        </p:txBody>
      </p:sp>
      <p:cxnSp>
        <p:nvCxnSpPr>
          <p:cNvPr id="327" name="Connector 12"/>
          <p:cNvCxnSpPr/>
          <p:nvPr/>
        </p:nvCxnSpPr>
        <p:spPr>
          <a:xfrm>
            <a:off x="3656880" y="3276360"/>
            <a:ext cx="720" cy="3040920"/>
          </a:xfrm>
          <a:prstGeom prst="straightConnector1">
            <a:avLst/>
          </a:prstGeom>
          <a:ln w="6349">
            <a:solidFill>
              <a:srgbClr val="000000"/>
            </a:solidFill>
            <a:round/>
          </a:ln>
        </p:spPr>
      </p:cxnSp>
      <p:cxnSp>
        <p:nvCxnSpPr>
          <p:cNvPr id="328" name="Connector 13"/>
          <p:cNvCxnSpPr/>
          <p:nvPr/>
        </p:nvCxnSpPr>
        <p:spPr>
          <a:xfrm>
            <a:off x="7381080" y="3276360"/>
            <a:ext cx="720" cy="3040920"/>
          </a:xfrm>
          <a:prstGeom prst="straightConnector1">
            <a:avLst/>
          </a:prstGeom>
          <a:ln w="6349">
            <a:solidFill>
              <a:srgbClr val="000000"/>
            </a:solidFill>
            <a:round/>
          </a:ln>
        </p:spPr>
      </p:cxnSp>
      <p:sp>
        <p:nvSpPr>
          <p:cNvPr id="329" name="Rectangle 14"/>
          <p:cNvSpPr/>
          <p:nvPr/>
        </p:nvSpPr>
        <p:spPr>
          <a:xfrm>
            <a:off x="5968080" y="280800"/>
            <a:ext cx="5935320" cy="192600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30" name="TextBox 15"/>
          <p:cNvSpPr/>
          <p:nvPr/>
        </p:nvSpPr>
        <p:spPr>
          <a:xfrm>
            <a:off x="6014520" y="334800"/>
            <a:ext cx="171144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Ferramentas-chave:</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Ideação.</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Prototipagem de conceito.</a:t>
            </a:r>
            <a:endParaRPr lang="en-US" sz="1000" b="0" u="none" strike="noStrike">
              <a:solidFill>
                <a:srgbClr val="000000"/>
              </a:solidFill>
              <a:effectLst/>
              <a:uFillTx/>
              <a:latin typeface="Arial"/>
            </a:endParaRPr>
          </a:p>
        </p:txBody>
      </p:sp>
      <p:sp>
        <p:nvSpPr>
          <p:cNvPr id="331" name="TextBox 16"/>
          <p:cNvSpPr/>
          <p:nvPr/>
        </p:nvSpPr>
        <p:spPr>
          <a:xfrm>
            <a:off x="6014520" y="944640"/>
            <a:ext cx="6010560" cy="29340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Dica: </a:t>
            </a:r>
            <a:r>
              <a:rPr lang="en-US" sz="1000" b="0" u="none" strike="noStrike">
                <a:solidFill>
                  <a:srgbClr val="000000"/>
                </a:solidFill>
                <a:effectLst/>
                <a:uFillTx/>
                <a:latin typeface="Arial"/>
              </a:rPr>
              <a:t>Testes e validações iniciais. Comece a obter feedbacks de usuários e especialistas apresentando o conceito da sua solução.</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Rectangle 1"/>
          <p:cNvSpPr/>
          <p:nvPr/>
        </p:nvSpPr>
        <p:spPr>
          <a:xfrm>
            <a:off x="0" y="0"/>
            <a:ext cx="12191400" cy="5999400"/>
          </a:xfrm>
          <a:prstGeom prst="rect">
            <a:avLst/>
          </a:prstGeom>
          <a:solidFill>
            <a:srgbClr val="E5F6FF"/>
          </a:solidFill>
          <a:ln w="9523">
            <a:solidFill>
              <a:srgbClr val="E5F6FF"/>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pic>
        <p:nvPicPr>
          <p:cNvPr id="333" name="Picture 2" descr="image.png"/>
          <p:cNvPicPr/>
          <p:nvPr/>
        </p:nvPicPr>
        <p:blipFill>
          <a:blip r:embed="rId1"/>
          <a:stretch/>
        </p:blipFill>
        <p:spPr>
          <a:xfrm>
            <a:off x="11125800" y="6246720"/>
            <a:ext cx="847440" cy="332280"/>
          </a:xfrm>
          <a:prstGeom prst="rect">
            <a:avLst/>
          </a:prstGeom>
          <a:noFill/>
          <a:ln w="0">
            <a:noFill/>
          </a:ln>
        </p:spPr>
      </p:pic>
      <p:sp>
        <p:nvSpPr>
          <p:cNvPr id="334" name="TextBox 3"/>
          <p:cNvSpPr/>
          <p:nvPr/>
        </p:nvSpPr>
        <p:spPr>
          <a:xfrm>
            <a:off x="288000" y="228960"/>
            <a:ext cx="3220920" cy="1263600"/>
          </a:xfrm>
          <a:prstGeom prst="rect">
            <a:avLst/>
          </a:prstGeom>
          <a:noFill/>
          <a:ln w="0">
            <a:noFill/>
          </a:ln>
        </p:spPr>
        <p:style>
          <a:lnRef idx="0"/>
          <a:fillRef idx="0"/>
          <a:effectRef idx="0"/>
          <a:fontRef idx="minor"/>
        </p:style>
        <p:txBody>
          <a:bodyPr lIns="0" tIns="0" rIns="0" bIns="0" anchor="t">
            <a:noAutofit/>
          </a:bodyPr>
          <a:p>
            <a:pPr defTabSz="457200">
              <a:lnSpc>
                <a:spcPts val="5159"/>
              </a:lnSpc>
            </a:pPr>
            <a:r>
              <a:rPr lang="en-US" sz="4300" b="0" u="none" strike="noStrike">
                <a:solidFill>
                  <a:srgbClr val="000000"/>
                </a:solidFill>
                <a:effectLst/>
                <a:uFillTx/>
                <a:latin typeface="Arial"/>
              </a:rPr>
              <a:t>Estrutura da Solução</a:t>
            </a:r>
            <a:endParaRPr lang="en-US" sz="4300" b="0" u="none" strike="noStrike">
              <a:solidFill>
                <a:srgbClr val="000000"/>
              </a:solidFill>
              <a:effectLst/>
              <a:uFillTx/>
              <a:latin typeface="Arial"/>
            </a:endParaRPr>
          </a:p>
        </p:txBody>
      </p:sp>
      <p:sp>
        <p:nvSpPr>
          <p:cNvPr id="335" name="TextBox 4"/>
          <p:cNvSpPr/>
          <p:nvPr/>
        </p:nvSpPr>
        <p:spPr>
          <a:xfrm>
            <a:off x="288000" y="2194560"/>
            <a:ext cx="5297760" cy="2573640"/>
          </a:xfrm>
          <a:prstGeom prst="rect">
            <a:avLst/>
          </a:prstGeom>
          <a:noFill/>
          <a:ln w="0">
            <a:noFill/>
          </a:ln>
        </p:spPr>
        <p:style>
          <a:lnRef idx="0"/>
          <a:fillRef idx="0"/>
          <a:effectRef idx="0"/>
          <a:fontRef idx="minor"/>
        </p:style>
        <p:txBody>
          <a:bodyPr lIns="0" tIns="0" rIns="0" bIns="0" anchor="t">
            <a:noAutofit/>
          </a:bodyPr>
          <a:p>
            <a:pPr defTabSz="457200">
              <a:lnSpc>
                <a:spcPts val="5159"/>
              </a:lnSpc>
            </a:pPr>
            <a:r>
              <a:rPr lang="en-US" sz="4300" b="0" i="1" u="none" strike="noStrike">
                <a:solidFill>
                  <a:srgbClr val="000000"/>
                </a:solidFill>
                <a:effectLst/>
                <a:uFillTx/>
                <a:latin typeface="Arial"/>
              </a:rPr>
              <a:t>Da ideia à realidade: construindo </a:t>
            </a:r>
            <a:endParaRPr lang="en-US" sz="4300" b="0" u="none" strike="noStrike">
              <a:solidFill>
                <a:srgbClr val="000000"/>
              </a:solidFill>
              <a:effectLst/>
              <a:uFillTx/>
              <a:latin typeface="Arial"/>
            </a:endParaRPr>
          </a:p>
          <a:p>
            <a:pPr defTabSz="457200">
              <a:lnSpc>
                <a:spcPts val="5159"/>
              </a:lnSpc>
            </a:pPr>
            <a:r>
              <a:rPr lang="en-US" sz="4300" b="0" i="1" u="none" strike="noStrike">
                <a:solidFill>
                  <a:srgbClr val="000000"/>
                </a:solidFill>
                <a:effectLst/>
                <a:uFillTx/>
                <a:latin typeface="Arial"/>
              </a:rPr>
              <a:t>soluções de IA robustas</a:t>
            </a:r>
            <a:endParaRPr lang="en-US" sz="4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TextBox 1"/>
          <p:cNvSpPr/>
          <p:nvPr/>
        </p:nvSpPr>
        <p:spPr>
          <a:xfrm>
            <a:off x="275400" y="303120"/>
            <a:ext cx="241092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Arquitetura do agente de IA</a:t>
            </a:r>
            <a:endParaRPr lang="en-US" sz="1400" b="0" u="none" strike="noStrike">
              <a:solidFill>
                <a:srgbClr val="000000"/>
              </a:solidFill>
              <a:effectLst/>
              <a:uFillTx/>
              <a:latin typeface="Arial"/>
            </a:endParaRPr>
          </a:p>
        </p:txBody>
      </p:sp>
      <p:sp>
        <p:nvSpPr>
          <p:cNvPr id="337" name="TextBox 2"/>
          <p:cNvSpPr/>
          <p:nvPr/>
        </p:nvSpPr>
        <p:spPr>
          <a:xfrm>
            <a:off x="275400" y="772920"/>
            <a:ext cx="5067360" cy="901080"/>
          </a:xfrm>
          <a:prstGeom prst="rect">
            <a:avLst/>
          </a:prstGeom>
          <a:noFill/>
          <a:ln w="0">
            <a:noFill/>
          </a:ln>
        </p:spPr>
        <p:style>
          <a:lnRef idx="0"/>
          <a:fillRef idx="0"/>
          <a:effectRef idx="0"/>
          <a:fontRef idx="minor"/>
        </p:style>
        <p:txBody>
          <a:bodyPr lIns="0" tIns="0" rIns="0" bIns="0" anchor="t">
            <a:noAutofit/>
          </a:bodyPr>
          <a:p>
            <a:pPr defTabSz="457200">
              <a:lnSpc>
                <a:spcPts val="1848"/>
              </a:lnSpc>
            </a:pPr>
            <a:r>
              <a:rPr lang="en-US" sz="1400" b="1" u="none" strike="noStrike">
                <a:solidFill>
                  <a:srgbClr val="000000"/>
                </a:solidFill>
                <a:effectLst/>
                <a:uFillTx/>
                <a:latin typeface="Arial"/>
              </a:rPr>
              <a:t>Objetivo:</a:t>
            </a:r>
            <a:r>
              <a:rPr lang="en-US" sz="1400" b="0" u="none" strike="noStrike">
                <a:solidFill>
                  <a:srgbClr val="000000"/>
                </a:solidFill>
                <a:effectLst/>
                <a:uFillTx/>
                <a:latin typeface="Arial"/>
              </a:rPr>
              <a:t> Mostrar o </a:t>
            </a:r>
            <a:r>
              <a:rPr lang="en-US" sz="1400" b="0" i="1" u="none" strike="noStrike">
                <a:solidFill>
                  <a:srgbClr val="000000"/>
                </a:solidFill>
                <a:effectLst/>
                <a:uFillTx/>
                <a:latin typeface="Arial"/>
              </a:rPr>
              <a:t>design estrutural</a:t>
            </a:r>
            <a:r>
              <a:rPr lang="en-US" sz="1400" b="0" u="none" strike="noStrike">
                <a:solidFill>
                  <a:srgbClr val="000000"/>
                </a:solidFill>
                <a:effectLst/>
                <a:uFillTx/>
                <a:latin typeface="Arial"/>
              </a:rPr>
              <a:t> do seu agente, de quais componentes principais ele é composto e como eles se conectam.</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Quando:</a:t>
            </a:r>
            <a:r>
              <a:rPr lang="en-US" sz="1400" b="0" u="none" strike="noStrike">
                <a:solidFill>
                  <a:srgbClr val="000000"/>
                </a:solidFill>
                <a:effectLst/>
                <a:uFillTx/>
                <a:latin typeface="Arial"/>
              </a:rPr>
              <a:t> Entre as semanas 4 e 5.</a:t>
            </a:r>
            <a:endParaRPr lang="en-US" sz="1400" b="0" u="none" strike="noStrike">
              <a:solidFill>
                <a:srgbClr val="000000"/>
              </a:solidFill>
              <a:effectLst/>
              <a:uFillTx/>
              <a:latin typeface="Arial"/>
            </a:endParaRPr>
          </a:p>
        </p:txBody>
      </p:sp>
      <p:sp>
        <p:nvSpPr>
          <p:cNvPr id="338" name="TextBox 3"/>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17</a:t>
            </a:r>
            <a:endParaRPr lang="en-US" sz="800" b="0" u="none" strike="noStrike">
              <a:solidFill>
                <a:srgbClr val="000000"/>
              </a:solidFill>
              <a:effectLst/>
              <a:uFillTx/>
              <a:latin typeface="Arial"/>
            </a:endParaRPr>
          </a:p>
        </p:txBody>
      </p:sp>
      <p:sp>
        <p:nvSpPr>
          <p:cNvPr id="339" name="Rectangle 4"/>
          <p:cNvSpPr/>
          <p:nvPr/>
        </p:nvSpPr>
        <p:spPr>
          <a:xfrm>
            <a:off x="5849640" y="288000"/>
            <a:ext cx="1744920" cy="1149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40" name="TextBox 5"/>
          <p:cNvSpPr/>
          <p:nvPr/>
        </p:nvSpPr>
        <p:spPr>
          <a:xfrm>
            <a:off x="5895360" y="342000"/>
            <a:ext cx="1263600" cy="29376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Ferramentas-chave:</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IBM Orchestrate</a:t>
            </a:r>
            <a:endParaRPr lang="en-US" sz="1000" b="0" u="none" strike="noStrike">
              <a:solidFill>
                <a:srgbClr val="000000"/>
              </a:solidFill>
              <a:effectLst/>
              <a:uFillTx/>
              <a:latin typeface="Arial"/>
            </a:endParaRPr>
          </a:p>
        </p:txBody>
      </p:sp>
      <p:sp>
        <p:nvSpPr>
          <p:cNvPr id="341" name="Rectangle 6"/>
          <p:cNvSpPr/>
          <p:nvPr/>
        </p:nvSpPr>
        <p:spPr>
          <a:xfrm>
            <a:off x="7595280" y="288000"/>
            <a:ext cx="3869280" cy="1149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42" name="TextBox 7"/>
          <p:cNvSpPr/>
          <p:nvPr/>
        </p:nvSpPr>
        <p:spPr>
          <a:xfrm>
            <a:off x="7641360" y="342000"/>
            <a:ext cx="3906720" cy="29376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Dica: </a:t>
            </a:r>
            <a:r>
              <a:rPr lang="en-US" sz="1000" b="0" u="none" strike="noStrike">
                <a:solidFill>
                  <a:srgbClr val="000000"/>
                </a:solidFill>
                <a:effectLst/>
                <a:uFillTx/>
                <a:latin typeface="Arial"/>
              </a:rPr>
              <a:t>A arquitetura determina o que seu agente pode fazer e como ele faz.</a:t>
            </a:r>
            <a:endParaRPr lang="en-US" sz="1000" b="0" u="none" strike="noStrike">
              <a:solidFill>
                <a:srgbClr val="000000"/>
              </a:solidFill>
              <a:effectLst/>
              <a:uFillTx/>
              <a:latin typeface="Arial"/>
            </a:endParaRPr>
          </a:p>
        </p:txBody>
      </p:sp>
      <p:pic>
        <p:nvPicPr>
          <p:cNvPr id="343" name="Picture 8" descr="image.png"/>
          <p:cNvPicPr/>
          <p:nvPr/>
        </p:nvPicPr>
        <p:blipFill>
          <a:blip r:embed="rId1"/>
          <a:stretch/>
        </p:blipFill>
        <p:spPr>
          <a:xfrm>
            <a:off x="7564320" y="752040"/>
            <a:ext cx="254160" cy="266400"/>
          </a:xfrm>
          <a:prstGeom prst="rect">
            <a:avLst/>
          </a:prstGeom>
          <a:noFill/>
          <a:ln w="0">
            <a:noFill/>
          </a:ln>
        </p:spPr>
      </p:pic>
      <p:sp>
        <p:nvSpPr>
          <p:cNvPr id="344" name="TextBox 9"/>
          <p:cNvSpPr/>
          <p:nvPr/>
        </p:nvSpPr>
        <p:spPr>
          <a:xfrm>
            <a:off x="7641360" y="799200"/>
            <a:ext cx="3340440" cy="293400"/>
          </a:xfrm>
          <a:prstGeom prst="rect">
            <a:avLst/>
          </a:prstGeom>
          <a:noFill/>
          <a:ln w="0">
            <a:noFill/>
          </a:ln>
        </p:spPr>
        <p:style>
          <a:lnRef idx="0"/>
          <a:fillRef idx="0"/>
          <a:effectRef idx="0"/>
          <a:fontRef idx="minor"/>
        </p:style>
        <p:txBody>
          <a:bodyPr lIns="0" tIns="0" rIns="0" bIns="0" anchor="t">
            <a:noAutofit/>
          </a:bodyPr>
          <a:p>
            <a:pPr marL="136440" defTabSz="457200">
              <a:lnSpc>
                <a:spcPts val="1151"/>
              </a:lnSpc>
              <a:tabLst>
                <a:tab pos="0" algn="l"/>
              </a:tabLst>
            </a:pPr>
            <a:r>
              <a:rPr lang="en-US" sz="1000" b="0" u="none" strike="noStrike">
                <a:solidFill>
                  <a:srgbClr val="000000"/>
                </a:solidFill>
                <a:effectLst/>
                <a:uFillTx/>
                <a:latin typeface="Arial"/>
              </a:rPr>
              <a:t>Use diagramas claros (ex: fluxogramas para o fluxo de </a:t>
            </a:r>
            <a:endParaRPr lang="en-US" sz="1000" b="0" u="none" strike="noStrike">
              <a:solidFill>
                <a:srgbClr val="000000"/>
              </a:solidFill>
              <a:effectLst/>
              <a:uFillTx/>
              <a:latin typeface="Arial"/>
            </a:endParaRPr>
          </a:p>
          <a:p>
            <a:pPr defTabSz="457200">
              <a:lnSpc>
                <a:spcPts val="1151"/>
              </a:lnSpc>
              <a:spcBef>
                <a:spcPts val="48"/>
              </a:spcBef>
              <a:tabLst>
                <a:tab pos="0" algn="l"/>
              </a:tabLst>
            </a:pPr>
            <a:r>
              <a:rPr lang="en-US" sz="1000" b="0" u="none" strike="noStrike">
                <a:solidFill>
                  <a:srgbClr val="000000"/>
                </a:solidFill>
                <a:effectLst/>
                <a:uFillTx/>
                <a:latin typeface="Arial"/>
              </a:rPr>
              <a:t>trabalho).</a:t>
            </a:r>
            <a:endParaRPr lang="en-US" sz="1000" b="0" u="none" strike="noStrike">
              <a:solidFill>
                <a:srgbClr val="000000"/>
              </a:solidFill>
              <a:effectLst/>
              <a:uFillTx/>
              <a:latin typeface="Arial"/>
            </a:endParaRPr>
          </a:p>
        </p:txBody>
      </p:sp>
      <p:pic>
        <p:nvPicPr>
          <p:cNvPr id="345" name="Picture 10" descr="image.png"/>
          <p:cNvPicPr/>
          <p:nvPr/>
        </p:nvPicPr>
        <p:blipFill>
          <a:blip r:embed="rId2"/>
          <a:stretch/>
        </p:blipFill>
        <p:spPr>
          <a:xfrm>
            <a:off x="7564320" y="1056600"/>
            <a:ext cx="254160" cy="266400"/>
          </a:xfrm>
          <a:prstGeom prst="rect">
            <a:avLst/>
          </a:prstGeom>
          <a:noFill/>
          <a:ln w="0">
            <a:noFill/>
          </a:ln>
        </p:spPr>
      </p:pic>
      <p:sp>
        <p:nvSpPr>
          <p:cNvPr id="346" name="TextBox 11"/>
          <p:cNvSpPr/>
          <p:nvPr/>
        </p:nvSpPr>
        <p:spPr>
          <a:xfrm>
            <a:off x="7641360" y="1104120"/>
            <a:ext cx="3378240" cy="293400"/>
          </a:xfrm>
          <a:prstGeom prst="rect">
            <a:avLst/>
          </a:prstGeom>
          <a:noFill/>
          <a:ln w="0">
            <a:noFill/>
          </a:ln>
        </p:spPr>
        <p:style>
          <a:lnRef idx="0"/>
          <a:fillRef idx="0"/>
          <a:effectRef idx="0"/>
          <a:fontRef idx="minor"/>
        </p:style>
        <p:txBody>
          <a:bodyPr lIns="0" tIns="0" rIns="0" bIns="0" anchor="t">
            <a:noAutofit/>
          </a:bodyPr>
          <a:p>
            <a:pPr marL="136440" defTabSz="457200">
              <a:lnSpc>
                <a:spcPts val="1151"/>
              </a:lnSpc>
              <a:tabLst>
                <a:tab pos="0" algn="l"/>
              </a:tabLst>
            </a:pPr>
            <a:r>
              <a:rPr lang="en-US" sz="1000" b="0" u="none" strike="noStrike">
                <a:solidFill>
                  <a:srgbClr val="000000"/>
                </a:solidFill>
                <a:effectLst/>
                <a:uFillTx/>
                <a:latin typeface="Arial"/>
              </a:rPr>
              <a:t>Mantenha o texto conciso e os diagramas devidamente </a:t>
            </a:r>
            <a:endParaRPr lang="en-US" sz="1000" b="0" u="none" strike="noStrike">
              <a:solidFill>
                <a:srgbClr val="000000"/>
              </a:solidFill>
              <a:effectLst/>
              <a:uFillTx/>
              <a:latin typeface="Arial"/>
            </a:endParaRPr>
          </a:p>
          <a:p>
            <a:pPr defTabSz="457200">
              <a:lnSpc>
                <a:spcPts val="1151"/>
              </a:lnSpc>
              <a:spcBef>
                <a:spcPts val="48"/>
              </a:spcBef>
              <a:tabLst>
                <a:tab pos="0" algn="l"/>
              </a:tabLst>
            </a:pPr>
            <a:r>
              <a:rPr lang="en-US" sz="1000" b="0" u="none" strike="noStrike">
                <a:solidFill>
                  <a:srgbClr val="000000"/>
                </a:solidFill>
                <a:effectLst/>
                <a:uFillTx/>
                <a:latin typeface="Arial"/>
              </a:rPr>
              <a:t>identificados.</a:t>
            </a:r>
            <a:endParaRPr lang="en-US" sz="1000" b="0" u="none" strike="noStrike">
              <a:solidFill>
                <a:srgbClr val="000000"/>
              </a:solidFill>
              <a:effectLst/>
              <a:uFillTx/>
              <a:latin typeface="Arial"/>
            </a:endParaRPr>
          </a:p>
        </p:txBody>
      </p:sp>
      <p:pic>
        <p:nvPicPr>
          <p:cNvPr id="347" name="Picture 12" descr="image.png"/>
          <p:cNvPicPr/>
          <p:nvPr/>
        </p:nvPicPr>
        <p:blipFill>
          <a:blip r:embed="rId3"/>
          <a:stretch/>
        </p:blipFill>
        <p:spPr>
          <a:xfrm>
            <a:off x="7564320" y="1361520"/>
            <a:ext cx="254160" cy="266400"/>
          </a:xfrm>
          <a:prstGeom prst="rect">
            <a:avLst/>
          </a:prstGeom>
          <a:noFill/>
          <a:ln w="0">
            <a:noFill/>
          </a:ln>
        </p:spPr>
      </p:pic>
      <p:sp>
        <p:nvSpPr>
          <p:cNvPr id="348" name="TextBox 13"/>
          <p:cNvSpPr/>
          <p:nvPr/>
        </p:nvSpPr>
        <p:spPr>
          <a:xfrm>
            <a:off x="7777800" y="1408680"/>
            <a:ext cx="356436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Esteja preparado para explicar cada componente e transição.</a:t>
            </a:r>
            <a:endParaRPr lang="en-US" sz="1000" b="0" u="none" strike="noStrike">
              <a:solidFill>
                <a:srgbClr val="000000"/>
              </a:solidFill>
              <a:effectLst/>
              <a:uFillTx/>
              <a:latin typeface="Arial"/>
            </a:endParaRPr>
          </a:p>
        </p:txBody>
      </p:sp>
      <p:sp>
        <p:nvSpPr>
          <p:cNvPr id="349" name="TextBox 14"/>
          <p:cNvSpPr/>
          <p:nvPr/>
        </p:nvSpPr>
        <p:spPr>
          <a:xfrm>
            <a:off x="333720" y="1746000"/>
            <a:ext cx="3601080" cy="47376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Visão geral do agente</a:t>
            </a:r>
            <a:endParaRPr lang="en-US" sz="1200" b="0" u="none" strike="noStrike">
              <a:solidFill>
                <a:srgbClr val="000000"/>
              </a:solidFill>
              <a:effectLst/>
              <a:uFillTx/>
              <a:latin typeface="Arial"/>
            </a:endParaRPr>
          </a:p>
          <a:p>
            <a:pPr defTabSz="457200">
              <a:lnSpc>
                <a:spcPts val="1151"/>
              </a:lnSpc>
              <a:spcBef>
                <a:spcPts val="88"/>
              </a:spcBef>
            </a:pPr>
            <a:r>
              <a:rPr lang="en-US" sz="1000" b="0" i="1" u="none" strike="noStrike">
                <a:solidFill>
                  <a:srgbClr val="000000"/>
                </a:solidFill>
                <a:effectLst/>
                <a:uFillTx/>
                <a:latin typeface="Arial"/>
              </a:rPr>
              <a:t>Resumo de uma frase sobre o propósito do seu agente:</a:t>
            </a:r>
            <a:endParaRPr lang="en-US" sz="1000" b="0" u="none" strike="noStrike">
              <a:solidFill>
                <a:srgbClr val="000000"/>
              </a:solidFill>
              <a:effectLst/>
              <a:uFillTx/>
              <a:latin typeface="Arial"/>
            </a:endParaRPr>
          </a:p>
          <a:p>
            <a:pPr defTabSz="457200">
              <a:lnSpc>
                <a:spcPts val="1154"/>
              </a:lnSpc>
              <a:spcBef>
                <a:spcPts val="45"/>
              </a:spcBef>
            </a:pPr>
            <a:r>
              <a:rPr lang="en-US" sz="1000" b="0" i="1" u="none" strike="noStrike">
                <a:solidFill>
                  <a:srgbClr val="000000"/>
                </a:solidFill>
                <a:effectLst/>
                <a:uFillTx/>
                <a:latin typeface="Arial"/>
              </a:rPr>
              <a:t>Esta é uma solução de agente único ou de múltiplos agentes?</a:t>
            </a:r>
            <a:endParaRPr lang="en-US" sz="1000" b="0" u="none" strike="noStrike">
              <a:solidFill>
                <a:srgbClr val="000000"/>
              </a:solidFill>
              <a:effectLst/>
              <a:uFillTx/>
              <a:latin typeface="Arial"/>
            </a:endParaRPr>
          </a:p>
        </p:txBody>
      </p:sp>
      <p:sp>
        <p:nvSpPr>
          <p:cNvPr id="350" name="TextBox 15"/>
          <p:cNvSpPr/>
          <p:nvPr/>
        </p:nvSpPr>
        <p:spPr>
          <a:xfrm>
            <a:off x="333720" y="2390040"/>
            <a:ext cx="2689920" cy="1854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Papéis dos agentes (único ou múltiplos)</a:t>
            </a:r>
            <a:endParaRPr lang="en-US" sz="1200" b="0" u="none" strike="noStrike">
              <a:solidFill>
                <a:srgbClr val="000000"/>
              </a:solidFill>
              <a:effectLst/>
              <a:uFillTx/>
              <a:latin typeface="Arial"/>
            </a:endParaRPr>
          </a:p>
        </p:txBody>
      </p:sp>
      <p:sp>
        <p:nvSpPr>
          <p:cNvPr id="351" name="TextBox 16"/>
          <p:cNvSpPr/>
          <p:nvPr/>
        </p:nvSpPr>
        <p:spPr>
          <a:xfrm>
            <a:off x="333720" y="2645280"/>
            <a:ext cx="3658320" cy="29340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i="1" u="none" strike="noStrike">
                <a:solidFill>
                  <a:srgbClr val="000000"/>
                </a:solidFill>
                <a:effectLst/>
                <a:uFillTx/>
                <a:latin typeface="Arial"/>
              </a:rPr>
              <a:t>Se a sua solução incluir múltiplos agentes, explique como eles trabalham juntos para gerar a entrega final:</a:t>
            </a:r>
            <a:endParaRPr lang="en-US" sz="1000" b="0" u="none" strike="noStrike">
              <a:solidFill>
                <a:srgbClr val="000000"/>
              </a:solidFill>
              <a:effectLst/>
              <a:uFillTx/>
              <a:latin typeface="Arial"/>
            </a:endParaRPr>
          </a:p>
        </p:txBody>
      </p:sp>
      <p:sp>
        <p:nvSpPr>
          <p:cNvPr id="352" name="Rectangle 17"/>
          <p:cNvSpPr/>
          <p:nvPr/>
        </p:nvSpPr>
        <p:spPr>
          <a:xfrm>
            <a:off x="4158720" y="1712160"/>
            <a:ext cx="7744320" cy="467568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53" name="TextBox 18"/>
          <p:cNvSpPr/>
          <p:nvPr/>
        </p:nvSpPr>
        <p:spPr>
          <a:xfrm>
            <a:off x="4204800" y="1768680"/>
            <a:ext cx="17078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Diagrama de arquitetura</a:t>
            </a:r>
            <a:endParaRPr lang="en-US" sz="1200" b="0" u="none" strike="noStrike">
              <a:solidFill>
                <a:srgbClr val="000000"/>
              </a:solidFill>
              <a:effectLst/>
              <a:uFillTx/>
              <a:latin typeface="Arial"/>
            </a:endParaRPr>
          </a:p>
        </p:txBody>
      </p:sp>
      <p:sp>
        <p:nvSpPr>
          <p:cNvPr id="354" name="TextBox 19"/>
          <p:cNvSpPr/>
          <p:nvPr/>
        </p:nvSpPr>
        <p:spPr>
          <a:xfrm>
            <a:off x="4204800" y="2101680"/>
            <a:ext cx="2169000" cy="14112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i="1" u="none" strike="noStrike">
                <a:solidFill>
                  <a:srgbClr val="000000"/>
                </a:solidFill>
                <a:effectLst/>
                <a:uFillTx/>
                <a:latin typeface="Arial"/>
              </a:rPr>
              <a:t>Insira um bloco/diagrama mostrando:</a:t>
            </a:r>
            <a:endParaRPr lang="en-US" sz="1000" b="0" u="none" strike="noStrike">
              <a:solidFill>
                <a:srgbClr val="000000"/>
              </a:solidFill>
              <a:effectLst/>
              <a:uFillTx/>
              <a:latin typeface="Arial"/>
            </a:endParaRPr>
          </a:p>
        </p:txBody>
      </p:sp>
      <p:sp>
        <p:nvSpPr>
          <p:cNvPr id="355" name="TextBox 20"/>
          <p:cNvSpPr/>
          <p:nvPr/>
        </p:nvSpPr>
        <p:spPr>
          <a:xfrm>
            <a:off x="4204800" y="2254320"/>
            <a:ext cx="763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356" name="TextBox 21"/>
          <p:cNvSpPr/>
          <p:nvPr/>
        </p:nvSpPr>
        <p:spPr>
          <a:xfrm>
            <a:off x="4433400" y="2254320"/>
            <a:ext cx="184644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Camada de Percepção/Entrada</a:t>
            </a:r>
            <a:endParaRPr lang="en-US" sz="1000" b="0" u="none" strike="noStrike">
              <a:solidFill>
                <a:srgbClr val="000000"/>
              </a:solidFill>
              <a:effectLst/>
              <a:uFillTx/>
              <a:latin typeface="Arial"/>
            </a:endParaRPr>
          </a:p>
        </p:txBody>
      </p:sp>
      <p:sp>
        <p:nvSpPr>
          <p:cNvPr id="357" name="TextBox 22"/>
          <p:cNvSpPr/>
          <p:nvPr/>
        </p:nvSpPr>
        <p:spPr>
          <a:xfrm>
            <a:off x="4204800" y="2406600"/>
            <a:ext cx="763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358" name="TextBox 23"/>
          <p:cNvSpPr/>
          <p:nvPr/>
        </p:nvSpPr>
        <p:spPr>
          <a:xfrm>
            <a:off x="4433400" y="2406600"/>
            <a:ext cx="201240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Motor de Raciocínio/Planejamento</a:t>
            </a:r>
            <a:endParaRPr lang="en-US" sz="1000" b="0" u="none" strike="noStrike">
              <a:solidFill>
                <a:srgbClr val="000000"/>
              </a:solidFill>
              <a:effectLst/>
              <a:uFillTx/>
              <a:latin typeface="Arial"/>
            </a:endParaRPr>
          </a:p>
        </p:txBody>
      </p:sp>
      <p:sp>
        <p:nvSpPr>
          <p:cNvPr id="359" name="TextBox 24"/>
          <p:cNvSpPr/>
          <p:nvPr/>
        </p:nvSpPr>
        <p:spPr>
          <a:xfrm>
            <a:off x="4204800" y="2558880"/>
            <a:ext cx="763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360" name="TextBox 25"/>
          <p:cNvSpPr/>
          <p:nvPr/>
        </p:nvSpPr>
        <p:spPr>
          <a:xfrm>
            <a:off x="4433400" y="2558880"/>
            <a:ext cx="257256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Armazenamento de Memória/Conhecimento</a:t>
            </a:r>
            <a:endParaRPr lang="en-US" sz="1000" b="0" u="none" strike="noStrike">
              <a:solidFill>
                <a:srgbClr val="000000"/>
              </a:solidFill>
              <a:effectLst/>
              <a:uFillTx/>
              <a:latin typeface="Arial"/>
            </a:endParaRPr>
          </a:p>
        </p:txBody>
      </p:sp>
      <p:sp>
        <p:nvSpPr>
          <p:cNvPr id="361" name="TextBox 26"/>
          <p:cNvSpPr/>
          <p:nvPr/>
        </p:nvSpPr>
        <p:spPr>
          <a:xfrm>
            <a:off x="4204800" y="2711520"/>
            <a:ext cx="763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362" name="TextBox 27"/>
          <p:cNvSpPr/>
          <p:nvPr/>
        </p:nvSpPr>
        <p:spPr>
          <a:xfrm>
            <a:off x="4433400" y="2711520"/>
            <a:ext cx="191484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Ferramentas/Interfaces Externas</a:t>
            </a:r>
            <a:endParaRPr lang="en-US" sz="1000" b="0" u="none" strike="noStrike">
              <a:solidFill>
                <a:srgbClr val="000000"/>
              </a:solidFill>
              <a:effectLst/>
              <a:uFillTx/>
              <a:latin typeface="Arial"/>
            </a:endParaRPr>
          </a:p>
        </p:txBody>
      </p:sp>
      <p:sp>
        <p:nvSpPr>
          <p:cNvPr id="363" name="TextBox 28"/>
          <p:cNvSpPr/>
          <p:nvPr/>
        </p:nvSpPr>
        <p:spPr>
          <a:xfrm>
            <a:off x="4204800" y="2863800"/>
            <a:ext cx="763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364" name="TextBox 29"/>
          <p:cNvSpPr/>
          <p:nvPr/>
        </p:nvSpPr>
        <p:spPr>
          <a:xfrm>
            <a:off x="4433400" y="2863800"/>
            <a:ext cx="156636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Módulo de Ação/Execução</a:t>
            </a:r>
            <a:endParaRPr lang="en-US" sz="1000" b="0" u="none" strike="noStrike">
              <a:solidFill>
                <a:srgbClr val="000000"/>
              </a:solidFill>
              <a:effectLst/>
              <a:uFillTx/>
              <a:latin typeface="Arial"/>
            </a:endParaRPr>
          </a:p>
        </p:txBody>
      </p:sp>
      <p:sp>
        <p:nvSpPr>
          <p:cNvPr id="365" name="TextBox 30"/>
          <p:cNvSpPr/>
          <p:nvPr/>
        </p:nvSpPr>
        <p:spPr>
          <a:xfrm>
            <a:off x="4204800" y="3168360"/>
            <a:ext cx="4548600" cy="5983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ópicos com descrições curtas:</a:t>
            </a:r>
            <a:endParaRPr lang="en-US" sz="1000" b="0" u="none" strike="noStrike">
              <a:solidFill>
                <a:srgbClr val="000000"/>
              </a:solidFill>
              <a:effectLst/>
              <a:uFillTx/>
              <a:latin typeface="Arial"/>
            </a:endParaRPr>
          </a:p>
          <a:p>
            <a:pPr defTabSz="457200">
              <a:lnSpc>
                <a:spcPts val="1154"/>
              </a:lnSpc>
              <a:spcBef>
                <a:spcPts val="45"/>
              </a:spcBef>
            </a:pPr>
            <a:r>
              <a:rPr lang="en-US" sz="1000" b="0" u="none" strike="noStrike">
                <a:solidFill>
                  <a:srgbClr val="000000"/>
                </a:solidFill>
                <a:effectLst/>
                <a:uFillTx/>
                <a:latin typeface="Arial"/>
              </a:rPr>
              <a:t>Ex.: Processador de Entrada: Interpreta os dados inseridos pelo usuário.</a:t>
            </a:r>
            <a:endParaRPr lang="en-US" sz="1000" b="0" u="none" strike="noStrike">
              <a:solidFill>
                <a:srgbClr val="000000"/>
              </a:solidFill>
              <a:effectLst/>
              <a:uFillTx/>
              <a:latin typeface="Arial"/>
            </a:endParaRPr>
          </a:p>
          <a:p>
            <a:pPr defTabSz="457200">
              <a:lnSpc>
                <a:spcPts val="1151"/>
              </a:lnSpc>
              <a:spcBef>
                <a:spcPts val="48"/>
              </a:spcBef>
            </a:pPr>
            <a:r>
              <a:rPr lang="en-US" sz="1000" b="0" i="1" u="none" strike="noStrike">
                <a:solidFill>
                  <a:srgbClr val="000000"/>
                </a:solidFill>
                <a:effectLst/>
                <a:uFillTx/>
                <a:latin typeface="Arial"/>
              </a:rPr>
              <a:t>Módulo de Planejamento: Decide as próximas ações.</a:t>
            </a:r>
            <a:endParaRPr lang="en-US" sz="1000" b="0" u="none" strike="noStrike">
              <a:solidFill>
                <a:srgbClr val="000000"/>
              </a:solidFill>
              <a:effectLst/>
              <a:uFillTx/>
              <a:latin typeface="Arial"/>
            </a:endParaRPr>
          </a:p>
          <a:p>
            <a:pPr defTabSz="457200">
              <a:lnSpc>
                <a:spcPts val="1151"/>
              </a:lnSpc>
              <a:spcBef>
                <a:spcPts val="48"/>
              </a:spcBef>
            </a:pPr>
            <a:r>
              <a:rPr lang="en-US" sz="1000" b="0" i="1" u="none" strike="noStrike">
                <a:solidFill>
                  <a:srgbClr val="000000"/>
                </a:solidFill>
                <a:effectLst/>
                <a:uFillTx/>
                <a:latin typeface="Arial"/>
              </a:rPr>
              <a:t>Conectores de Ferramentas: APIs, bancos de dados, ferramentas de terceiros.</a:t>
            </a:r>
            <a:endParaRPr lang="en-US" sz="1000" b="0" u="none" strike="noStrike">
              <a:solidFill>
                <a:srgbClr val="000000"/>
              </a:solidFill>
              <a:effectLst/>
              <a:uFillTx/>
              <a:latin typeface="Arial"/>
            </a:endParaRPr>
          </a:p>
        </p:txBody>
      </p:sp>
      <p:sp>
        <p:nvSpPr>
          <p:cNvPr id="366" name="Rectangle 31"/>
          <p:cNvSpPr/>
          <p:nvPr/>
        </p:nvSpPr>
        <p:spPr>
          <a:xfrm>
            <a:off x="288000" y="3180960"/>
            <a:ext cx="1208880" cy="1594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67" name="Rectangle 32"/>
          <p:cNvSpPr/>
          <p:nvPr/>
        </p:nvSpPr>
        <p:spPr>
          <a:xfrm>
            <a:off x="1497600" y="3180960"/>
            <a:ext cx="1218240" cy="1594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68" name="Rectangle 33"/>
          <p:cNvSpPr/>
          <p:nvPr/>
        </p:nvSpPr>
        <p:spPr>
          <a:xfrm>
            <a:off x="2716920" y="3180960"/>
            <a:ext cx="1218240" cy="1594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69" name="Rectangle 34"/>
          <p:cNvSpPr/>
          <p:nvPr/>
        </p:nvSpPr>
        <p:spPr>
          <a:xfrm>
            <a:off x="288000" y="3341160"/>
            <a:ext cx="1208880" cy="1594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70" name="Rectangle 35"/>
          <p:cNvSpPr/>
          <p:nvPr/>
        </p:nvSpPr>
        <p:spPr>
          <a:xfrm>
            <a:off x="1497600" y="3341160"/>
            <a:ext cx="1218240" cy="1594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71" name="Rectangle 36"/>
          <p:cNvSpPr/>
          <p:nvPr/>
        </p:nvSpPr>
        <p:spPr>
          <a:xfrm>
            <a:off x="2716920" y="3341160"/>
            <a:ext cx="1218240" cy="1594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72" name="Rectangle 37"/>
          <p:cNvSpPr/>
          <p:nvPr/>
        </p:nvSpPr>
        <p:spPr>
          <a:xfrm>
            <a:off x="288000" y="3501360"/>
            <a:ext cx="1208880" cy="33480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73" name="Rectangle 38"/>
          <p:cNvSpPr/>
          <p:nvPr/>
        </p:nvSpPr>
        <p:spPr>
          <a:xfrm>
            <a:off x="1497600" y="3501360"/>
            <a:ext cx="1218240" cy="33480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74" name="Rectangle 39"/>
          <p:cNvSpPr/>
          <p:nvPr/>
        </p:nvSpPr>
        <p:spPr>
          <a:xfrm>
            <a:off x="2716920" y="3501360"/>
            <a:ext cx="1218240" cy="33480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cxnSp>
        <p:nvCxnSpPr>
          <p:cNvPr id="375" name="Connector 40"/>
          <p:cNvCxnSpPr/>
          <p:nvPr/>
        </p:nvCxnSpPr>
        <p:spPr>
          <a:xfrm>
            <a:off x="1497600" y="3177360"/>
            <a:ext cx="720" cy="663480"/>
          </a:xfrm>
          <a:prstGeom prst="straightConnector1">
            <a:avLst/>
          </a:prstGeom>
          <a:ln w="6349">
            <a:solidFill>
              <a:srgbClr val="000000"/>
            </a:solidFill>
            <a:round/>
          </a:ln>
        </p:spPr>
      </p:cxnSp>
      <p:cxnSp>
        <p:nvCxnSpPr>
          <p:cNvPr id="376" name="Connector 41"/>
          <p:cNvCxnSpPr/>
          <p:nvPr/>
        </p:nvCxnSpPr>
        <p:spPr>
          <a:xfrm>
            <a:off x="2716560" y="3177360"/>
            <a:ext cx="720" cy="663480"/>
          </a:xfrm>
          <a:prstGeom prst="straightConnector1">
            <a:avLst/>
          </a:prstGeom>
          <a:ln w="6349">
            <a:solidFill>
              <a:srgbClr val="000000"/>
            </a:solidFill>
            <a:round/>
          </a:ln>
        </p:spPr>
      </p:cxnSp>
      <p:cxnSp>
        <p:nvCxnSpPr>
          <p:cNvPr id="377" name="Connector 42"/>
          <p:cNvCxnSpPr/>
          <p:nvPr/>
        </p:nvCxnSpPr>
        <p:spPr>
          <a:xfrm>
            <a:off x="284760" y="3340800"/>
            <a:ext cx="3654720" cy="720"/>
          </a:xfrm>
          <a:prstGeom prst="straightConnector1">
            <a:avLst/>
          </a:prstGeom>
          <a:ln w="19047">
            <a:solidFill>
              <a:srgbClr val="000000"/>
            </a:solidFill>
            <a:round/>
          </a:ln>
        </p:spPr>
      </p:cxnSp>
      <p:cxnSp>
        <p:nvCxnSpPr>
          <p:cNvPr id="378" name="Connector 43"/>
          <p:cNvCxnSpPr/>
          <p:nvPr/>
        </p:nvCxnSpPr>
        <p:spPr>
          <a:xfrm>
            <a:off x="284760" y="3501360"/>
            <a:ext cx="3654720" cy="720"/>
          </a:xfrm>
          <a:prstGeom prst="straightConnector1">
            <a:avLst/>
          </a:prstGeom>
          <a:ln w="6349">
            <a:solidFill>
              <a:srgbClr val="000000"/>
            </a:solidFill>
            <a:round/>
          </a:ln>
        </p:spPr>
      </p:cxnSp>
      <p:cxnSp>
        <p:nvCxnSpPr>
          <p:cNvPr id="379" name="Connector 44"/>
          <p:cNvCxnSpPr/>
          <p:nvPr/>
        </p:nvCxnSpPr>
        <p:spPr>
          <a:xfrm>
            <a:off x="288000" y="3177360"/>
            <a:ext cx="720" cy="663480"/>
          </a:xfrm>
          <a:prstGeom prst="straightConnector1">
            <a:avLst/>
          </a:prstGeom>
          <a:ln w="6349">
            <a:solidFill>
              <a:srgbClr val="000000"/>
            </a:solidFill>
            <a:round/>
          </a:ln>
        </p:spPr>
      </p:cxnSp>
      <p:cxnSp>
        <p:nvCxnSpPr>
          <p:cNvPr id="380" name="Connector 45"/>
          <p:cNvCxnSpPr/>
          <p:nvPr/>
        </p:nvCxnSpPr>
        <p:spPr>
          <a:xfrm>
            <a:off x="3935520" y="3177360"/>
            <a:ext cx="720" cy="663480"/>
          </a:xfrm>
          <a:prstGeom prst="straightConnector1">
            <a:avLst/>
          </a:prstGeom>
          <a:ln w="6349">
            <a:solidFill>
              <a:srgbClr val="000000"/>
            </a:solidFill>
            <a:round/>
          </a:ln>
        </p:spPr>
      </p:cxnSp>
      <p:cxnSp>
        <p:nvCxnSpPr>
          <p:cNvPr id="381" name="Connector 46"/>
          <p:cNvCxnSpPr/>
          <p:nvPr/>
        </p:nvCxnSpPr>
        <p:spPr>
          <a:xfrm>
            <a:off x="284760" y="3180600"/>
            <a:ext cx="3654720" cy="720"/>
          </a:xfrm>
          <a:prstGeom prst="straightConnector1">
            <a:avLst/>
          </a:prstGeom>
          <a:ln w="6349">
            <a:solidFill>
              <a:srgbClr val="000000"/>
            </a:solidFill>
            <a:round/>
          </a:ln>
        </p:spPr>
      </p:cxnSp>
      <p:cxnSp>
        <p:nvCxnSpPr>
          <p:cNvPr id="382" name="Connector 47"/>
          <p:cNvCxnSpPr/>
          <p:nvPr/>
        </p:nvCxnSpPr>
        <p:spPr>
          <a:xfrm>
            <a:off x="284760" y="3836880"/>
            <a:ext cx="3654720" cy="720"/>
          </a:xfrm>
          <a:prstGeom prst="straightConnector1">
            <a:avLst/>
          </a:prstGeom>
          <a:ln w="6349">
            <a:solidFill>
              <a:srgbClr val="000000"/>
            </a:solidFill>
            <a:round/>
          </a:ln>
        </p:spPr>
      </p:cxnSp>
      <p:sp>
        <p:nvSpPr>
          <p:cNvPr id="383" name="TextBox 48"/>
          <p:cNvSpPr/>
          <p:nvPr/>
        </p:nvSpPr>
        <p:spPr>
          <a:xfrm>
            <a:off x="288000" y="3197880"/>
            <a:ext cx="47124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Agente</a:t>
            </a:r>
            <a:endParaRPr lang="en-US" sz="1000" b="0" u="none" strike="noStrike">
              <a:solidFill>
                <a:srgbClr val="000000"/>
              </a:solidFill>
              <a:effectLst/>
              <a:uFillTx/>
              <a:latin typeface="Arial"/>
            </a:endParaRPr>
          </a:p>
        </p:txBody>
      </p:sp>
      <p:sp>
        <p:nvSpPr>
          <p:cNvPr id="384" name="TextBox 49"/>
          <p:cNvSpPr/>
          <p:nvPr/>
        </p:nvSpPr>
        <p:spPr>
          <a:xfrm>
            <a:off x="1497600" y="3197880"/>
            <a:ext cx="225504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ResponsabilidadeDecisões-chave</a:t>
            </a:r>
            <a:endParaRPr lang="en-US" sz="1000" b="0" u="none" strike="noStrike">
              <a:solidFill>
                <a:srgbClr val="000000"/>
              </a:solidFill>
              <a:effectLst/>
              <a:uFillTx/>
              <a:latin typeface="Arial"/>
            </a:endParaRPr>
          </a:p>
        </p:txBody>
      </p:sp>
      <p:sp>
        <p:nvSpPr>
          <p:cNvPr id="385" name="TextBox 50"/>
          <p:cNvSpPr/>
          <p:nvPr/>
        </p:nvSpPr>
        <p:spPr>
          <a:xfrm>
            <a:off x="288000" y="3358080"/>
            <a:ext cx="57780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Agente 1</a:t>
            </a:r>
            <a:endParaRPr lang="en-US" sz="1000" b="0" u="none" strike="noStrike">
              <a:solidFill>
                <a:srgbClr val="000000"/>
              </a:solidFill>
              <a:effectLst/>
              <a:uFillTx/>
              <a:latin typeface="Arial"/>
            </a:endParaRPr>
          </a:p>
        </p:txBody>
      </p:sp>
      <p:sp>
        <p:nvSpPr>
          <p:cNvPr id="386" name="TextBox 51"/>
          <p:cNvSpPr/>
          <p:nvPr/>
        </p:nvSpPr>
        <p:spPr>
          <a:xfrm>
            <a:off x="288000" y="3518640"/>
            <a:ext cx="83736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Agente 2 (se </a:t>
            </a:r>
            <a:endParaRPr lang="en-US" sz="1000" b="0" u="none" strike="noStrike">
              <a:solidFill>
                <a:srgbClr val="000000"/>
              </a:solidFill>
              <a:effectLst/>
              <a:uFillTx/>
              <a:latin typeface="Arial"/>
            </a:endParaRPr>
          </a:p>
        </p:txBody>
      </p:sp>
      <p:sp>
        <p:nvSpPr>
          <p:cNvPr id="387" name="TextBox 52"/>
          <p:cNvSpPr/>
          <p:nvPr/>
        </p:nvSpPr>
        <p:spPr>
          <a:xfrm>
            <a:off x="288000" y="3693600"/>
            <a:ext cx="50544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houver)</a:t>
            </a:r>
            <a:endParaRPr lang="en-US" sz="1000" b="0" u="none" strike="noStrike">
              <a:solidFill>
                <a:srgbClr val="000000"/>
              </a:solidFill>
              <a:effectLst/>
              <a:uFillTx/>
              <a:latin typeface="Arial"/>
            </a:endParaRPr>
          </a:p>
        </p:txBody>
      </p:sp>
      <p:sp>
        <p:nvSpPr>
          <p:cNvPr id="388" name="TextBox 53"/>
          <p:cNvSpPr/>
          <p:nvPr/>
        </p:nvSpPr>
        <p:spPr>
          <a:xfrm>
            <a:off x="333720" y="3884400"/>
            <a:ext cx="3669840" cy="77868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Por que esta arquitetura?</a:t>
            </a:r>
            <a:endParaRPr lang="en-US" sz="1200" b="0" u="none" strike="noStrike">
              <a:solidFill>
                <a:srgbClr val="000000"/>
              </a:solidFill>
              <a:effectLst/>
              <a:uFillTx/>
              <a:latin typeface="Arial"/>
            </a:endParaRPr>
          </a:p>
          <a:p>
            <a:pPr defTabSz="457200">
              <a:lnSpc>
                <a:spcPts val="1199"/>
              </a:lnSpc>
              <a:spcBef>
                <a:spcPts val="40"/>
              </a:spcBef>
            </a:pPr>
            <a:r>
              <a:rPr lang="en-US" sz="1000" b="0" u="none" strike="noStrike">
                <a:solidFill>
                  <a:srgbClr val="000000"/>
                </a:solidFill>
                <a:effectLst/>
                <a:uFillTx/>
                <a:latin typeface="Arial"/>
              </a:rPr>
              <a:t>Quais decisões de design habilitam as capacidades do seu agente?</a:t>
            </a:r>
            <a:endParaRPr lang="en-US" sz="1000" b="0" u="none" strike="noStrike">
              <a:solidFill>
                <a:srgbClr val="000000"/>
              </a:solidFill>
              <a:effectLst/>
              <a:uFillTx/>
              <a:latin typeface="Arial"/>
            </a:endParaRPr>
          </a:p>
          <a:p>
            <a:pPr defTabSz="457200">
              <a:lnSpc>
                <a:spcPts val="1199"/>
              </a:lnSpc>
            </a:pPr>
            <a:r>
              <a:rPr lang="en-US" sz="1000" b="0" u="none" strike="noStrike">
                <a:solidFill>
                  <a:srgbClr val="000000"/>
                </a:solidFill>
                <a:effectLst/>
                <a:uFillTx/>
                <a:latin typeface="Arial"/>
              </a:rPr>
              <a:t>Você consegue rastrear como os dados fluem desde a entrada até a ação? Por que esses componentes são necessários?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TextBox 1"/>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18</a:t>
            </a:r>
            <a:endParaRPr lang="en-US" sz="800" b="0" u="none" strike="noStrike">
              <a:solidFill>
                <a:srgbClr val="000000"/>
              </a:solidFill>
              <a:effectLst/>
              <a:uFillTx/>
              <a:latin typeface="Arial"/>
            </a:endParaRPr>
          </a:p>
        </p:txBody>
      </p:sp>
      <p:sp>
        <p:nvSpPr>
          <p:cNvPr id="390" name="TextBox 2"/>
          <p:cNvSpPr/>
          <p:nvPr/>
        </p:nvSpPr>
        <p:spPr>
          <a:xfrm>
            <a:off x="288000" y="303120"/>
            <a:ext cx="294480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Fluxo de trabalho do agente de IA</a:t>
            </a:r>
            <a:endParaRPr lang="en-US" sz="1400" b="0" u="none" strike="noStrike">
              <a:solidFill>
                <a:srgbClr val="000000"/>
              </a:solidFill>
              <a:effectLst/>
              <a:uFillTx/>
              <a:latin typeface="Arial"/>
            </a:endParaRPr>
          </a:p>
        </p:txBody>
      </p:sp>
      <p:sp>
        <p:nvSpPr>
          <p:cNvPr id="391" name="TextBox 3"/>
          <p:cNvSpPr/>
          <p:nvPr/>
        </p:nvSpPr>
        <p:spPr>
          <a:xfrm>
            <a:off x="288000" y="772920"/>
            <a:ext cx="4553280" cy="666720"/>
          </a:xfrm>
          <a:prstGeom prst="rect">
            <a:avLst/>
          </a:prstGeom>
          <a:noFill/>
          <a:ln w="0">
            <a:noFill/>
          </a:ln>
        </p:spPr>
        <p:style>
          <a:lnRef idx="0"/>
          <a:fillRef idx="0"/>
          <a:effectRef idx="0"/>
          <a:fontRef idx="minor"/>
        </p:style>
        <p:txBody>
          <a:bodyPr lIns="0" tIns="0" rIns="0" bIns="0" anchor="t">
            <a:noAutofit/>
          </a:bodyPr>
          <a:p>
            <a:pPr defTabSz="457200">
              <a:lnSpc>
                <a:spcPts val="1848"/>
              </a:lnSpc>
            </a:pPr>
            <a:r>
              <a:rPr lang="en-US" sz="1400" b="1" u="none" strike="noStrike">
                <a:solidFill>
                  <a:srgbClr val="000000"/>
                </a:solidFill>
                <a:effectLst/>
                <a:uFillTx/>
                <a:latin typeface="Arial"/>
              </a:rPr>
              <a:t>Objetivo:</a:t>
            </a:r>
            <a:r>
              <a:rPr lang="en-US" sz="1400" b="0" u="none" strike="noStrike">
                <a:solidFill>
                  <a:srgbClr val="000000"/>
                </a:solidFill>
                <a:effectLst/>
                <a:uFillTx/>
                <a:latin typeface="Arial"/>
              </a:rPr>
              <a:t> Mostrar o </a:t>
            </a:r>
            <a:r>
              <a:rPr lang="en-US" sz="1400" b="0" i="1" u="none" strike="noStrike">
                <a:solidFill>
                  <a:srgbClr val="000000"/>
                </a:solidFill>
                <a:effectLst/>
                <a:uFillTx/>
                <a:latin typeface="Arial"/>
              </a:rPr>
              <a:t>processo dinâmico</a:t>
            </a:r>
            <a:r>
              <a:rPr lang="en-US" sz="1400" b="0" u="none" strike="noStrike">
                <a:solidFill>
                  <a:srgbClr val="000000"/>
                </a:solidFill>
                <a:effectLst/>
                <a:uFillTx/>
                <a:latin typeface="Arial"/>
              </a:rPr>
              <a:t> que seu agente segue para alcançar seus objetivos, passo a passo.</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Quando:</a:t>
            </a:r>
            <a:r>
              <a:rPr lang="en-US" sz="1400" b="0" u="none" strike="noStrike">
                <a:solidFill>
                  <a:srgbClr val="000000"/>
                </a:solidFill>
                <a:effectLst/>
                <a:uFillTx/>
                <a:latin typeface="Arial"/>
              </a:rPr>
              <a:t> Entre as semanas 4 e 5.</a:t>
            </a:r>
            <a:endParaRPr lang="en-US" sz="1400" b="0" u="none" strike="noStrike">
              <a:solidFill>
                <a:srgbClr val="000000"/>
              </a:solidFill>
              <a:effectLst/>
              <a:uFillTx/>
              <a:latin typeface="Arial"/>
            </a:endParaRPr>
          </a:p>
        </p:txBody>
      </p:sp>
      <p:sp>
        <p:nvSpPr>
          <p:cNvPr id="392" name="Rectangle 4"/>
          <p:cNvSpPr/>
          <p:nvPr/>
        </p:nvSpPr>
        <p:spPr>
          <a:xfrm>
            <a:off x="4158720" y="1712160"/>
            <a:ext cx="7744320" cy="467568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93" name="TextBox 5"/>
          <p:cNvSpPr/>
          <p:nvPr/>
        </p:nvSpPr>
        <p:spPr>
          <a:xfrm>
            <a:off x="4204800" y="1768680"/>
            <a:ext cx="211356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Diagrama de fluxo de trabalho</a:t>
            </a:r>
            <a:endParaRPr lang="en-US" sz="1200" b="0" u="none" strike="noStrike">
              <a:solidFill>
                <a:srgbClr val="000000"/>
              </a:solidFill>
              <a:effectLst/>
              <a:uFillTx/>
              <a:latin typeface="Arial"/>
            </a:endParaRPr>
          </a:p>
        </p:txBody>
      </p:sp>
      <p:sp>
        <p:nvSpPr>
          <p:cNvPr id="394" name="TextBox 6"/>
          <p:cNvSpPr/>
          <p:nvPr/>
        </p:nvSpPr>
        <p:spPr>
          <a:xfrm>
            <a:off x="4204800" y="2133720"/>
            <a:ext cx="2967480" cy="10555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Fluxograma mostrando:</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Solicitação do usuário recebida</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Interpretação/detecção de intenção</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Planejamento/Raciocínio</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Invocação de ferramentas ou execução de ação</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Entrega dos resultados e avaliação</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Ciclo de repetição/feedback se necessário</a:t>
            </a:r>
            <a:endParaRPr lang="en-US" sz="1000" b="0" u="none" strike="noStrike">
              <a:solidFill>
                <a:srgbClr val="000000"/>
              </a:solidFill>
              <a:effectLst/>
              <a:uFillTx/>
              <a:latin typeface="Arial"/>
            </a:endParaRPr>
          </a:p>
        </p:txBody>
      </p:sp>
      <p:sp>
        <p:nvSpPr>
          <p:cNvPr id="395" name="Rectangle 7"/>
          <p:cNvSpPr/>
          <p:nvPr/>
        </p:nvSpPr>
        <p:spPr>
          <a:xfrm>
            <a:off x="5849640" y="288000"/>
            <a:ext cx="1744920" cy="112716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96" name="TextBox 8"/>
          <p:cNvSpPr/>
          <p:nvPr/>
        </p:nvSpPr>
        <p:spPr>
          <a:xfrm>
            <a:off x="5895360" y="342000"/>
            <a:ext cx="1263600" cy="29376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Ferramentas-chave:</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IBM Orchestrate</a:t>
            </a:r>
            <a:endParaRPr lang="en-US" sz="1000" b="0" u="none" strike="noStrike">
              <a:solidFill>
                <a:srgbClr val="000000"/>
              </a:solidFill>
              <a:effectLst/>
              <a:uFillTx/>
              <a:latin typeface="Arial"/>
            </a:endParaRPr>
          </a:p>
        </p:txBody>
      </p:sp>
      <p:sp>
        <p:nvSpPr>
          <p:cNvPr id="397" name="Rectangle 9"/>
          <p:cNvSpPr/>
          <p:nvPr/>
        </p:nvSpPr>
        <p:spPr>
          <a:xfrm>
            <a:off x="7595280" y="288000"/>
            <a:ext cx="3869280" cy="112716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398" name="TextBox 10"/>
          <p:cNvSpPr/>
          <p:nvPr/>
        </p:nvSpPr>
        <p:spPr>
          <a:xfrm>
            <a:off x="7641360" y="342000"/>
            <a:ext cx="3752280" cy="29376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Dica: </a:t>
            </a:r>
            <a:r>
              <a:rPr lang="en-US" sz="1000" b="0" u="none" strike="noStrike">
                <a:solidFill>
                  <a:srgbClr val="000000"/>
                </a:solidFill>
                <a:effectLst/>
                <a:uFillTx/>
                <a:latin typeface="Arial"/>
              </a:rPr>
              <a:t>Certifique-se de que a sequência seja clara e lógica e que os pontos de iteração e decisão estejam indicados.</a:t>
            </a:r>
            <a:endParaRPr lang="en-US" sz="1000" b="0" u="none" strike="noStrike">
              <a:solidFill>
                <a:srgbClr val="000000"/>
              </a:solidFill>
              <a:effectLst/>
              <a:uFillTx/>
              <a:latin typeface="Arial"/>
            </a:endParaRPr>
          </a:p>
        </p:txBody>
      </p:sp>
      <p:pic>
        <p:nvPicPr>
          <p:cNvPr id="399" name="Picture 11" descr="image.png"/>
          <p:cNvPicPr/>
          <p:nvPr/>
        </p:nvPicPr>
        <p:blipFill>
          <a:blip r:embed="rId1"/>
          <a:stretch/>
        </p:blipFill>
        <p:spPr>
          <a:xfrm>
            <a:off x="7564320" y="752040"/>
            <a:ext cx="254160" cy="266400"/>
          </a:xfrm>
          <a:prstGeom prst="rect">
            <a:avLst/>
          </a:prstGeom>
          <a:noFill/>
          <a:ln w="0">
            <a:noFill/>
          </a:ln>
        </p:spPr>
      </p:pic>
      <p:sp>
        <p:nvSpPr>
          <p:cNvPr id="400" name="TextBox 12"/>
          <p:cNvSpPr/>
          <p:nvPr/>
        </p:nvSpPr>
        <p:spPr>
          <a:xfrm>
            <a:off x="7641360" y="799200"/>
            <a:ext cx="3340440" cy="293400"/>
          </a:xfrm>
          <a:prstGeom prst="rect">
            <a:avLst/>
          </a:prstGeom>
          <a:noFill/>
          <a:ln w="0">
            <a:noFill/>
          </a:ln>
        </p:spPr>
        <p:style>
          <a:lnRef idx="0"/>
          <a:fillRef idx="0"/>
          <a:effectRef idx="0"/>
          <a:fontRef idx="minor"/>
        </p:style>
        <p:txBody>
          <a:bodyPr lIns="0" tIns="0" rIns="0" bIns="0" anchor="t">
            <a:noAutofit/>
          </a:bodyPr>
          <a:p>
            <a:pPr marL="136440" defTabSz="457200">
              <a:lnSpc>
                <a:spcPts val="1151"/>
              </a:lnSpc>
              <a:tabLst>
                <a:tab pos="0" algn="l"/>
              </a:tabLst>
            </a:pPr>
            <a:r>
              <a:rPr lang="en-US" sz="1000" b="0" u="none" strike="noStrike">
                <a:solidFill>
                  <a:srgbClr val="000000"/>
                </a:solidFill>
                <a:effectLst/>
                <a:uFillTx/>
                <a:latin typeface="Arial"/>
              </a:rPr>
              <a:t>Use diagramas claros (ex: fluxogramas para o fluxo de </a:t>
            </a:r>
            <a:endParaRPr lang="en-US" sz="1000" b="0" u="none" strike="noStrike">
              <a:solidFill>
                <a:srgbClr val="000000"/>
              </a:solidFill>
              <a:effectLst/>
              <a:uFillTx/>
              <a:latin typeface="Arial"/>
            </a:endParaRPr>
          </a:p>
          <a:p>
            <a:pPr defTabSz="457200">
              <a:lnSpc>
                <a:spcPts val="1151"/>
              </a:lnSpc>
              <a:spcBef>
                <a:spcPts val="48"/>
              </a:spcBef>
              <a:tabLst>
                <a:tab pos="0" algn="l"/>
              </a:tabLst>
            </a:pPr>
            <a:r>
              <a:rPr lang="en-US" sz="1000" b="0" u="none" strike="noStrike">
                <a:solidFill>
                  <a:srgbClr val="000000"/>
                </a:solidFill>
                <a:effectLst/>
                <a:uFillTx/>
                <a:latin typeface="Arial"/>
              </a:rPr>
              <a:t>trabalho).</a:t>
            </a:r>
            <a:endParaRPr lang="en-US" sz="1000" b="0" u="none" strike="noStrike">
              <a:solidFill>
                <a:srgbClr val="000000"/>
              </a:solidFill>
              <a:effectLst/>
              <a:uFillTx/>
              <a:latin typeface="Arial"/>
            </a:endParaRPr>
          </a:p>
        </p:txBody>
      </p:sp>
      <p:pic>
        <p:nvPicPr>
          <p:cNvPr id="401" name="Picture 13" descr="image.png"/>
          <p:cNvPicPr/>
          <p:nvPr/>
        </p:nvPicPr>
        <p:blipFill>
          <a:blip r:embed="rId2"/>
          <a:stretch/>
        </p:blipFill>
        <p:spPr>
          <a:xfrm>
            <a:off x="7564320" y="1056600"/>
            <a:ext cx="254160" cy="266400"/>
          </a:xfrm>
          <a:prstGeom prst="rect">
            <a:avLst/>
          </a:prstGeom>
          <a:noFill/>
          <a:ln w="0">
            <a:noFill/>
          </a:ln>
        </p:spPr>
      </p:pic>
      <p:sp>
        <p:nvSpPr>
          <p:cNvPr id="402" name="TextBox 14"/>
          <p:cNvSpPr/>
          <p:nvPr/>
        </p:nvSpPr>
        <p:spPr>
          <a:xfrm>
            <a:off x="7641360" y="1104120"/>
            <a:ext cx="3378240" cy="293400"/>
          </a:xfrm>
          <a:prstGeom prst="rect">
            <a:avLst/>
          </a:prstGeom>
          <a:noFill/>
          <a:ln w="0">
            <a:noFill/>
          </a:ln>
        </p:spPr>
        <p:style>
          <a:lnRef idx="0"/>
          <a:fillRef idx="0"/>
          <a:effectRef idx="0"/>
          <a:fontRef idx="minor"/>
        </p:style>
        <p:txBody>
          <a:bodyPr lIns="0" tIns="0" rIns="0" bIns="0" anchor="t">
            <a:noAutofit/>
          </a:bodyPr>
          <a:p>
            <a:pPr marL="136440" defTabSz="457200">
              <a:lnSpc>
                <a:spcPts val="1151"/>
              </a:lnSpc>
              <a:tabLst>
                <a:tab pos="0" algn="l"/>
              </a:tabLst>
            </a:pPr>
            <a:r>
              <a:rPr lang="en-US" sz="1000" b="0" u="none" strike="noStrike">
                <a:solidFill>
                  <a:srgbClr val="000000"/>
                </a:solidFill>
                <a:effectLst/>
                <a:uFillTx/>
                <a:latin typeface="Arial"/>
              </a:rPr>
              <a:t>Mantenha o texto conciso e os diagramas devidamente </a:t>
            </a:r>
            <a:endParaRPr lang="en-US" sz="1000" b="0" u="none" strike="noStrike">
              <a:solidFill>
                <a:srgbClr val="000000"/>
              </a:solidFill>
              <a:effectLst/>
              <a:uFillTx/>
              <a:latin typeface="Arial"/>
            </a:endParaRPr>
          </a:p>
          <a:p>
            <a:pPr defTabSz="457200">
              <a:lnSpc>
                <a:spcPts val="1151"/>
              </a:lnSpc>
              <a:spcBef>
                <a:spcPts val="48"/>
              </a:spcBef>
              <a:tabLst>
                <a:tab pos="0" algn="l"/>
              </a:tabLst>
            </a:pPr>
            <a:r>
              <a:rPr lang="en-US" sz="1000" b="0" u="none" strike="noStrike">
                <a:solidFill>
                  <a:srgbClr val="000000"/>
                </a:solidFill>
                <a:effectLst/>
                <a:uFillTx/>
                <a:latin typeface="Arial"/>
              </a:rPr>
              <a:t>identificados.</a:t>
            </a:r>
            <a:endParaRPr lang="en-US" sz="1000" b="0" u="none" strike="noStrike">
              <a:solidFill>
                <a:srgbClr val="000000"/>
              </a:solidFill>
              <a:effectLst/>
              <a:uFillTx/>
              <a:latin typeface="Arial"/>
            </a:endParaRPr>
          </a:p>
        </p:txBody>
      </p:sp>
      <p:pic>
        <p:nvPicPr>
          <p:cNvPr id="403" name="Picture 15" descr="image.png"/>
          <p:cNvPicPr/>
          <p:nvPr/>
        </p:nvPicPr>
        <p:blipFill>
          <a:blip r:embed="rId3"/>
          <a:stretch/>
        </p:blipFill>
        <p:spPr>
          <a:xfrm>
            <a:off x="7564320" y="1361520"/>
            <a:ext cx="254160" cy="266400"/>
          </a:xfrm>
          <a:prstGeom prst="rect">
            <a:avLst/>
          </a:prstGeom>
          <a:noFill/>
          <a:ln w="0">
            <a:noFill/>
          </a:ln>
        </p:spPr>
      </p:pic>
      <p:sp>
        <p:nvSpPr>
          <p:cNvPr id="404" name="TextBox 16"/>
          <p:cNvSpPr/>
          <p:nvPr/>
        </p:nvSpPr>
        <p:spPr>
          <a:xfrm>
            <a:off x="7777800" y="1408680"/>
            <a:ext cx="356436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Esteja preparado para explicar cada componente e transição.</a:t>
            </a:r>
            <a:endParaRPr lang="en-US" sz="1000" b="0" u="none" strike="noStrike">
              <a:solidFill>
                <a:srgbClr val="000000"/>
              </a:solidFill>
              <a:effectLst/>
              <a:uFillTx/>
              <a:latin typeface="Arial"/>
            </a:endParaRPr>
          </a:p>
        </p:txBody>
      </p:sp>
      <p:sp>
        <p:nvSpPr>
          <p:cNvPr id="405" name="TextBox 17"/>
          <p:cNvSpPr/>
          <p:nvPr/>
        </p:nvSpPr>
        <p:spPr>
          <a:xfrm>
            <a:off x="333720" y="1746000"/>
            <a:ext cx="3231720" cy="32148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Descrição do fluxo de trabalho</a:t>
            </a:r>
            <a:endParaRPr lang="en-US" sz="1200" b="0" u="none" strike="noStrike">
              <a:solidFill>
                <a:srgbClr val="000000"/>
              </a:solidFill>
              <a:effectLst/>
              <a:uFillTx/>
              <a:latin typeface="Arial"/>
            </a:endParaRPr>
          </a:p>
          <a:p>
            <a:pPr defTabSz="457200">
              <a:lnSpc>
                <a:spcPts val="1151"/>
              </a:lnSpc>
              <a:spcBef>
                <a:spcPts val="88"/>
              </a:spcBef>
            </a:pPr>
            <a:r>
              <a:rPr lang="en-US" sz="1000" b="0" i="1" u="none" strike="noStrike">
                <a:solidFill>
                  <a:srgbClr val="000000"/>
                </a:solidFill>
                <a:effectLst/>
                <a:uFillTx/>
                <a:latin typeface="Arial"/>
              </a:rPr>
              <a:t>Uma breve explicação de como as tarefas são tratadas.</a:t>
            </a:r>
            <a:endParaRPr lang="en-US" sz="1000" b="0" u="none" strike="noStrike">
              <a:solidFill>
                <a:srgbClr val="000000"/>
              </a:solidFill>
              <a:effectLst/>
              <a:uFillTx/>
              <a:latin typeface="Arial"/>
            </a:endParaRPr>
          </a:p>
        </p:txBody>
      </p:sp>
      <p:sp>
        <p:nvSpPr>
          <p:cNvPr id="406" name="TextBox 18"/>
          <p:cNvSpPr/>
          <p:nvPr/>
        </p:nvSpPr>
        <p:spPr>
          <a:xfrm>
            <a:off x="333720" y="2264400"/>
            <a:ext cx="3376080" cy="6264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Pontos de decisão</a:t>
            </a:r>
            <a:endParaRPr lang="en-US" sz="1200" b="0" u="none" strike="noStrike">
              <a:solidFill>
                <a:srgbClr val="000000"/>
              </a:solidFill>
              <a:effectLst/>
              <a:uFillTx/>
              <a:latin typeface="Arial"/>
            </a:endParaRPr>
          </a:p>
          <a:p>
            <a:pPr defTabSz="457200">
              <a:lnSpc>
                <a:spcPts val="1199"/>
              </a:lnSpc>
              <a:spcBef>
                <a:spcPts val="40"/>
              </a:spcBef>
            </a:pPr>
            <a:r>
              <a:rPr lang="en-US" sz="1000" b="0" u="none" strike="noStrike">
                <a:solidFill>
                  <a:srgbClr val="000000"/>
                </a:solidFill>
                <a:effectLst/>
                <a:uFillTx/>
                <a:latin typeface="Arial"/>
              </a:rPr>
              <a:t>Explique onde e como os agentes tomam decisões, quais condições fazem o agente desviar o caminho ou tentar novamente? </a:t>
            </a:r>
            <a:endParaRPr lang="en-US" sz="1000" b="0" u="none" strike="noStrike">
              <a:solidFill>
                <a:srgbClr val="000000"/>
              </a:solidFill>
              <a:effectLst/>
              <a:uFillTx/>
              <a:latin typeface="Arial"/>
            </a:endParaRPr>
          </a:p>
        </p:txBody>
      </p:sp>
      <p:sp>
        <p:nvSpPr>
          <p:cNvPr id="407" name="TextBox 19"/>
          <p:cNvSpPr/>
          <p:nvPr/>
        </p:nvSpPr>
        <p:spPr>
          <a:xfrm>
            <a:off x="333720" y="3056760"/>
            <a:ext cx="2881440" cy="47412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Momentos de intervenção humana</a:t>
            </a:r>
            <a:endParaRPr lang="en-US" sz="1200" b="0" u="none" strike="noStrike">
              <a:solidFill>
                <a:srgbClr val="000000"/>
              </a:solidFill>
              <a:effectLst/>
              <a:uFillTx/>
              <a:latin typeface="Arial"/>
            </a:endParaRPr>
          </a:p>
          <a:p>
            <a:pPr defTabSz="457200">
              <a:lnSpc>
                <a:spcPts val="1151"/>
              </a:lnSpc>
              <a:spcBef>
                <a:spcPts val="88"/>
              </a:spcBef>
            </a:pPr>
            <a:r>
              <a:rPr lang="en-US" sz="1000" b="0" u="none" strike="noStrike">
                <a:solidFill>
                  <a:srgbClr val="000000"/>
                </a:solidFill>
                <a:effectLst/>
                <a:uFillTx/>
                <a:latin typeface="Arial"/>
              </a:rPr>
              <a:t>Quando o agente pede confirmação?</a:t>
            </a:r>
            <a:endParaRPr lang="en-US" sz="1000" b="0" u="none" strike="noStrike">
              <a:solidFill>
                <a:srgbClr val="000000"/>
              </a:solidFill>
              <a:effectLst/>
              <a:uFillTx/>
              <a:latin typeface="Arial"/>
            </a:endParaRPr>
          </a:p>
          <a:p>
            <a:pPr defTabSz="457200">
              <a:lnSpc>
                <a:spcPts val="1154"/>
              </a:lnSpc>
              <a:spcBef>
                <a:spcPts val="45"/>
              </a:spcBef>
            </a:pPr>
            <a:r>
              <a:rPr lang="en-US" sz="1000" b="0" u="none" strike="noStrike">
                <a:solidFill>
                  <a:srgbClr val="000000"/>
                </a:solidFill>
                <a:effectLst/>
                <a:uFillTx/>
                <a:latin typeface="Arial"/>
              </a:rPr>
              <a:t>Quando ele escala o problema para um humano?</a:t>
            </a:r>
            <a:endParaRPr lang="en-US" sz="1000" b="0" u="none" strike="noStrike">
              <a:solidFill>
                <a:srgbClr val="000000"/>
              </a:solidFill>
              <a:effectLst/>
              <a:uFillTx/>
              <a:latin typeface="Arial"/>
            </a:endParaRPr>
          </a:p>
        </p:txBody>
      </p:sp>
      <p:sp>
        <p:nvSpPr>
          <p:cNvPr id="408" name="TextBox 20"/>
          <p:cNvSpPr/>
          <p:nvPr/>
        </p:nvSpPr>
        <p:spPr>
          <a:xfrm>
            <a:off x="333720" y="3696840"/>
            <a:ext cx="2648880" cy="47412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Nós de estratégia de falha</a:t>
            </a:r>
            <a:endParaRPr lang="en-US" sz="1200" b="0" u="none" strike="noStrike">
              <a:solidFill>
                <a:srgbClr val="000000"/>
              </a:solidFill>
              <a:effectLst/>
              <a:uFillTx/>
              <a:latin typeface="Arial"/>
            </a:endParaRPr>
          </a:p>
          <a:p>
            <a:pPr defTabSz="457200">
              <a:lnSpc>
                <a:spcPts val="1151"/>
              </a:lnSpc>
              <a:spcBef>
                <a:spcPts val="88"/>
              </a:spcBef>
            </a:pPr>
            <a:r>
              <a:rPr lang="en-US" sz="1000" b="0" u="none" strike="noStrike">
                <a:solidFill>
                  <a:srgbClr val="000000"/>
                </a:solidFill>
                <a:effectLst/>
                <a:uFillTx/>
                <a:latin typeface="Arial"/>
              </a:rPr>
              <a:t>O que acontece se o agente não tiver dados?</a:t>
            </a:r>
            <a:endParaRPr lang="en-US" sz="1000" b="0" u="none" strike="noStrike">
              <a:solidFill>
                <a:srgbClr val="000000"/>
              </a:solidFill>
              <a:effectLst/>
              <a:uFillTx/>
              <a:latin typeface="Arial"/>
            </a:endParaRPr>
          </a:p>
          <a:p>
            <a:pPr defTabSz="457200">
              <a:lnSpc>
                <a:spcPts val="1151"/>
              </a:lnSpc>
              <a:spcBef>
                <a:spcPts val="48"/>
              </a:spcBef>
            </a:pPr>
            <a:r>
              <a:rPr lang="en-US" sz="1000" b="0" u="none" strike="noStrike">
                <a:solidFill>
                  <a:srgbClr val="000000"/>
                </a:solidFill>
                <a:effectLst/>
                <a:uFillTx/>
                <a:latin typeface="Arial"/>
              </a:rPr>
              <a:t>O que acontece se uma tarefa falhar?</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TextBox 1"/>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19</a:t>
            </a:r>
            <a:endParaRPr lang="en-US" sz="800" b="0" u="none" strike="noStrike">
              <a:solidFill>
                <a:srgbClr val="000000"/>
              </a:solidFill>
              <a:effectLst/>
              <a:uFillTx/>
              <a:latin typeface="Arial"/>
            </a:endParaRPr>
          </a:p>
        </p:txBody>
      </p:sp>
      <p:sp>
        <p:nvSpPr>
          <p:cNvPr id="410" name="TextBox 2"/>
          <p:cNvSpPr/>
          <p:nvPr/>
        </p:nvSpPr>
        <p:spPr>
          <a:xfrm>
            <a:off x="288000" y="303120"/>
            <a:ext cx="234036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Ferramentas e integrações</a:t>
            </a:r>
            <a:endParaRPr lang="en-US" sz="1400" b="0" u="none" strike="noStrike">
              <a:solidFill>
                <a:srgbClr val="000000"/>
              </a:solidFill>
              <a:effectLst/>
              <a:uFillTx/>
              <a:latin typeface="Arial"/>
            </a:endParaRPr>
          </a:p>
        </p:txBody>
      </p:sp>
      <p:sp>
        <p:nvSpPr>
          <p:cNvPr id="411" name="TextBox 3"/>
          <p:cNvSpPr/>
          <p:nvPr/>
        </p:nvSpPr>
        <p:spPr>
          <a:xfrm>
            <a:off x="288000" y="772920"/>
            <a:ext cx="4553640" cy="666720"/>
          </a:xfrm>
          <a:prstGeom prst="rect">
            <a:avLst/>
          </a:prstGeom>
          <a:noFill/>
          <a:ln w="0">
            <a:noFill/>
          </a:ln>
        </p:spPr>
        <p:style>
          <a:lnRef idx="0"/>
          <a:fillRef idx="0"/>
          <a:effectRef idx="0"/>
          <a:fontRef idx="minor"/>
        </p:style>
        <p:txBody>
          <a:bodyPr lIns="0" tIns="0" rIns="0" bIns="0" anchor="t">
            <a:noAutofit/>
          </a:bodyPr>
          <a:p>
            <a:pPr defTabSz="457200">
              <a:lnSpc>
                <a:spcPts val="1848"/>
              </a:lnSpc>
            </a:pPr>
            <a:r>
              <a:rPr lang="en-US" sz="1400" b="1" u="none" strike="noStrike">
                <a:solidFill>
                  <a:srgbClr val="000000"/>
                </a:solidFill>
                <a:effectLst/>
                <a:uFillTx/>
                <a:latin typeface="Arial"/>
              </a:rPr>
              <a:t>Objetivo:</a:t>
            </a:r>
            <a:r>
              <a:rPr lang="en-US" sz="1400" b="0" u="none" strike="noStrike">
                <a:solidFill>
                  <a:srgbClr val="000000"/>
                </a:solidFill>
                <a:effectLst/>
                <a:uFillTx/>
                <a:latin typeface="Arial"/>
              </a:rPr>
              <a:t> Listar os sistemas externos que seu agente utiliza — APIs, fontes de dados, modelos ou bibliotecas.</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Quando:</a:t>
            </a:r>
            <a:r>
              <a:rPr lang="en-US" sz="1400" b="0" u="none" strike="noStrike">
                <a:solidFill>
                  <a:srgbClr val="000000"/>
                </a:solidFill>
                <a:effectLst/>
                <a:uFillTx/>
                <a:latin typeface="Arial"/>
              </a:rPr>
              <a:t> Entre as semanas 4 e 5.</a:t>
            </a:r>
            <a:endParaRPr lang="en-US" sz="1400" b="0" u="none" strike="noStrike">
              <a:solidFill>
                <a:srgbClr val="000000"/>
              </a:solidFill>
              <a:effectLst/>
              <a:uFillTx/>
              <a:latin typeface="Arial"/>
            </a:endParaRPr>
          </a:p>
        </p:txBody>
      </p:sp>
      <p:sp>
        <p:nvSpPr>
          <p:cNvPr id="412" name="Rectangle 4"/>
          <p:cNvSpPr/>
          <p:nvPr/>
        </p:nvSpPr>
        <p:spPr>
          <a:xfrm>
            <a:off x="287280" y="1767240"/>
            <a:ext cx="1773000" cy="6544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13" name="Rectangle 5"/>
          <p:cNvSpPr/>
          <p:nvPr/>
        </p:nvSpPr>
        <p:spPr>
          <a:xfrm>
            <a:off x="2061000" y="1767240"/>
            <a:ext cx="3814560" cy="6544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14" name="Rectangle 6"/>
          <p:cNvSpPr/>
          <p:nvPr/>
        </p:nvSpPr>
        <p:spPr>
          <a:xfrm>
            <a:off x="5876280" y="1767240"/>
            <a:ext cx="2793600" cy="6544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15" name="Rectangle 7"/>
          <p:cNvSpPr/>
          <p:nvPr/>
        </p:nvSpPr>
        <p:spPr>
          <a:xfrm>
            <a:off x="8670600" y="1767240"/>
            <a:ext cx="2793600" cy="6544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16" name="Rectangle 8"/>
          <p:cNvSpPr/>
          <p:nvPr/>
        </p:nvSpPr>
        <p:spPr>
          <a:xfrm>
            <a:off x="287280" y="2422440"/>
            <a:ext cx="17730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17" name="Rectangle 9"/>
          <p:cNvSpPr/>
          <p:nvPr/>
        </p:nvSpPr>
        <p:spPr>
          <a:xfrm>
            <a:off x="2061000" y="2422440"/>
            <a:ext cx="381456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18" name="Rectangle 10"/>
          <p:cNvSpPr/>
          <p:nvPr/>
        </p:nvSpPr>
        <p:spPr>
          <a:xfrm>
            <a:off x="5876280" y="242244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19" name="Rectangle 11"/>
          <p:cNvSpPr/>
          <p:nvPr/>
        </p:nvSpPr>
        <p:spPr>
          <a:xfrm>
            <a:off x="8670600" y="242244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20" name="Rectangle 12"/>
          <p:cNvSpPr/>
          <p:nvPr/>
        </p:nvSpPr>
        <p:spPr>
          <a:xfrm>
            <a:off x="287280" y="2620440"/>
            <a:ext cx="17730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21" name="Rectangle 13"/>
          <p:cNvSpPr/>
          <p:nvPr/>
        </p:nvSpPr>
        <p:spPr>
          <a:xfrm>
            <a:off x="2061000" y="2620440"/>
            <a:ext cx="381456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22" name="Rectangle 14"/>
          <p:cNvSpPr/>
          <p:nvPr/>
        </p:nvSpPr>
        <p:spPr>
          <a:xfrm>
            <a:off x="5876280" y="262044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23" name="Rectangle 15"/>
          <p:cNvSpPr/>
          <p:nvPr/>
        </p:nvSpPr>
        <p:spPr>
          <a:xfrm>
            <a:off x="8670600" y="262044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24" name="Rectangle 16"/>
          <p:cNvSpPr/>
          <p:nvPr/>
        </p:nvSpPr>
        <p:spPr>
          <a:xfrm>
            <a:off x="287280" y="2818440"/>
            <a:ext cx="17730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25" name="Rectangle 17"/>
          <p:cNvSpPr/>
          <p:nvPr/>
        </p:nvSpPr>
        <p:spPr>
          <a:xfrm>
            <a:off x="2061000" y="2818440"/>
            <a:ext cx="381456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26" name="Rectangle 18"/>
          <p:cNvSpPr/>
          <p:nvPr/>
        </p:nvSpPr>
        <p:spPr>
          <a:xfrm>
            <a:off x="5876280" y="281844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27" name="Rectangle 19"/>
          <p:cNvSpPr/>
          <p:nvPr/>
        </p:nvSpPr>
        <p:spPr>
          <a:xfrm>
            <a:off x="8670600" y="281844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28" name="Rectangle 20"/>
          <p:cNvSpPr/>
          <p:nvPr/>
        </p:nvSpPr>
        <p:spPr>
          <a:xfrm>
            <a:off x="287280" y="3016800"/>
            <a:ext cx="17730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29" name="Rectangle 21"/>
          <p:cNvSpPr/>
          <p:nvPr/>
        </p:nvSpPr>
        <p:spPr>
          <a:xfrm>
            <a:off x="2061000" y="3016800"/>
            <a:ext cx="381456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30" name="Rectangle 22"/>
          <p:cNvSpPr/>
          <p:nvPr/>
        </p:nvSpPr>
        <p:spPr>
          <a:xfrm>
            <a:off x="5876280" y="301680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31" name="Rectangle 23"/>
          <p:cNvSpPr/>
          <p:nvPr/>
        </p:nvSpPr>
        <p:spPr>
          <a:xfrm>
            <a:off x="8670600" y="301680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32" name="Rectangle 24"/>
          <p:cNvSpPr/>
          <p:nvPr/>
        </p:nvSpPr>
        <p:spPr>
          <a:xfrm>
            <a:off x="287280" y="3214800"/>
            <a:ext cx="17730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33" name="Rectangle 25"/>
          <p:cNvSpPr/>
          <p:nvPr/>
        </p:nvSpPr>
        <p:spPr>
          <a:xfrm>
            <a:off x="2061000" y="3214800"/>
            <a:ext cx="381456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34" name="Rectangle 26"/>
          <p:cNvSpPr/>
          <p:nvPr/>
        </p:nvSpPr>
        <p:spPr>
          <a:xfrm>
            <a:off x="5876280" y="321480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35" name="Rectangle 27"/>
          <p:cNvSpPr/>
          <p:nvPr/>
        </p:nvSpPr>
        <p:spPr>
          <a:xfrm>
            <a:off x="8670600" y="321480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cxnSp>
        <p:nvCxnSpPr>
          <p:cNvPr id="436" name="Connector 28"/>
          <p:cNvCxnSpPr/>
          <p:nvPr/>
        </p:nvCxnSpPr>
        <p:spPr>
          <a:xfrm>
            <a:off x="2061000" y="1764000"/>
            <a:ext cx="720" cy="1652760"/>
          </a:xfrm>
          <a:prstGeom prst="straightConnector1">
            <a:avLst/>
          </a:prstGeom>
          <a:ln w="6349">
            <a:solidFill>
              <a:srgbClr val="000000"/>
            </a:solidFill>
            <a:round/>
          </a:ln>
        </p:spPr>
      </p:cxnSp>
      <p:cxnSp>
        <p:nvCxnSpPr>
          <p:cNvPr id="437" name="Connector 29"/>
          <p:cNvCxnSpPr/>
          <p:nvPr/>
        </p:nvCxnSpPr>
        <p:spPr>
          <a:xfrm>
            <a:off x="5875920" y="1764000"/>
            <a:ext cx="720" cy="1652760"/>
          </a:xfrm>
          <a:prstGeom prst="straightConnector1">
            <a:avLst/>
          </a:prstGeom>
          <a:ln w="6349">
            <a:solidFill>
              <a:srgbClr val="000000"/>
            </a:solidFill>
            <a:round/>
          </a:ln>
        </p:spPr>
      </p:cxnSp>
      <p:cxnSp>
        <p:nvCxnSpPr>
          <p:cNvPr id="438" name="Connector 30"/>
          <p:cNvCxnSpPr/>
          <p:nvPr/>
        </p:nvCxnSpPr>
        <p:spPr>
          <a:xfrm>
            <a:off x="8670600" y="1764000"/>
            <a:ext cx="720" cy="1652760"/>
          </a:xfrm>
          <a:prstGeom prst="straightConnector1">
            <a:avLst/>
          </a:prstGeom>
          <a:ln w="6349">
            <a:solidFill>
              <a:srgbClr val="000000"/>
            </a:solidFill>
            <a:round/>
          </a:ln>
        </p:spPr>
      </p:cxnSp>
      <p:cxnSp>
        <p:nvCxnSpPr>
          <p:cNvPr id="439" name="Connector 31"/>
          <p:cNvCxnSpPr/>
          <p:nvPr/>
        </p:nvCxnSpPr>
        <p:spPr>
          <a:xfrm>
            <a:off x="284040" y="2422080"/>
            <a:ext cx="11184840" cy="720"/>
          </a:xfrm>
          <a:prstGeom prst="straightConnector1">
            <a:avLst/>
          </a:prstGeom>
          <a:ln w="6349">
            <a:solidFill>
              <a:srgbClr val="000000"/>
            </a:solidFill>
            <a:round/>
          </a:ln>
        </p:spPr>
      </p:cxnSp>
      <p:cxnSp>
        <p:nvCxnSpPr>
          <p:cNvPr id="440" name="Connector 32"/>
          <p:cNvCxnSpPr/>
          <p:nvPr/>
        </p:nvCxnSpPr>
        <p:spPr>
          <a:xfrm>
            <a:off x="284040" y="2620440"/>
            <a:ext cx="11184840" cy="720"/>
          </a:xfrm>
          <a:prstGeom prst="straightConnector1">
            <a:avLst/>
          </a:prstGeom>
          <a:ln w="6349">
            <a:solidFill>
              <a:srgbClr val="000000"/>
            </a:solidFill>
            <a:round/>
          </a:ln>
        </p:spPr>
      </p:cxnSp>
      <p:cxnSp>
        <p:nvCxnSpPr>
          <p:cNvPr id="441" name="Connector 33"/>
          <p:cNvCxnSpPr/>
          <p:nvPr/>
        </p:nvCxnSpPr>
        <p:spPr>
          <a:xfrm>
            <a:off x="284040" y="2818440"/>
            <a:ext cx="11184840" cy="720"/>
          </a:xfrm>
          <a:prstGeom prst="straightConnector1">
            <a:avLst/>
          </a:prstGeom>
          <a:ln w="6349">
            <a:solidFill>
              <a:srgbClr val="000000"/>
            </a:solidFill>
            <a:round/>
          </a:ln>
        </p:spPr>
      </p:cxnSp>
      <p:cxnSp>
        <p:nvCxnSpPr>
          <p:cNvPr id="442" name="Connector 34"/>
          <p:cNvCxnSpPr/>
          <p:nvPr/>
        </p:nvCxnSpPr>
        <p:spPr>
          <a:xfrm>
            <a:off x="284040" y="3016440"/>
            <a:ext cx="11184840" cy="720"/>
          </a:xfrm>
          <a:prstGeom prst="straightConnector1">
            <a:avLst/>
          </a:prstGeom>
          <a:ln w="6349">
            <a:solidFill>
              <a:srgbClr val="000000"/>
            </a:solidFill>
            <a:round/>
          </a:ln>
        </p:spPr>
      </p:cxnSp>
      <p:cxnSp>
        <p:nvCxnSpPr>
          <p:cNvPr id="443" name="Connector 35"/>
          <p:cNvCxnSpPr/>
          <p:nvPr/>
        </p:nvCxnSpPr>
        <p:spPr>
          <a:xfrm>
            <a:off x="284040" y="3214440"/>
            <a:ext cx="11184840" cy="720"/>
          </a:xfrm>
          <a:prstGeom prst="straightConnector1">
            <a:avLst/>
          </a:prstGeom>
          <a:ln w="6349">
            <a:solidFill>
              <a:srgbClr val="000000"/>
            </a:solidFill>
            <a:round/>
          </a:ln>
        </p:spPr>
      </p:cxnSp>
      <p:cxnSp>
        <p:nvCxnSpPr>
          <p:cNvPr id="444" name="Connector 36"/>
          <p:cNvCxnSpPr/>
          <p:nvPr/>
        </p:nvCxnSpPr>
        <p:spPr>
          <a:xfrm>
            <a:off x="287280" y="1764000"/>
            <a:ext cx="720" cy="1652760"/>
          </a:xfrm>
          <a:prstGeom prst="straightConnector1">
            <a:avLst/>
          </a:prstGeom>
          <a:ln w="6349">
            <a:solidFill>
              <a:srgbClr val="000000"/>
            </a:solidFill>
            <a:round/>
          </a:ln>
        </p:spPr>
      </p:cxnSp>
      <p:cxnSp>
        <p:nvCxnSpPr>
          <p:cNvPr id="445" name="Connector 37"/>
          <p:cNvCxnSpPr/>
          <p:nvPr/>
        </p:nvCxnSpPr>
        <p:spPr>
          <a:xfrm>
            <a:off x="11464920" y="1764000"/>
            <a:ext cx="720" cy="1652760"/>
          </a:xfrm>
          <a:prstGeom prst="straightConnector1">
            <a:avLst/>
          </a:prstGeom>
          <a:ln w="6349">
            <a:solidFill>
              <a:srgbClr val="000000"/>
            </a:solidFill>
            <a:round/>
          </a:ln>
        </p:spPr>
      </p:cxnSp>
      <p:cxnSp>
        <p:nvCxnSpPr>
          <p:cNvPr id="446" name="Connector 38"/>
          <p:cNvCxnSpPr/>
          <p:nvPr/>
        </p:nvCxnSpPr>
        <p:spPr>
          <a:xfrm>
            <a:off x="284040" y="1766880"/>
            <a:ext cx="11184840" cy="720"/>
          </a:xfrm>
          <a:prstGeom prst="straightConnector1">
            <a:avLst/>
          </a:prstGeom>
          <a:ln w="6349">
            <a:solidFill>
              <a:srgbClr val="000000"/>
            </a:solidFill>
            <a:round/>
          </a:ln>
        </p:spPr>
      </p:cxnSp>
      <p:cxnSp>
        <p:nvCxnSpPr>
          <p:cNvPr id="447" name="Connector 39"/>
          <p:cNvCxnSpPr/>
          <p:nvPr/>
        </p:nvCxnSpPr>
        <p:spPr>
          <a:xfrm>
            <a:off x="284040" y="3412800"/>
            <a:ext cx="11184840" cy="720"/>
          </a:xfrm>
          <a:prstGeom prst="straightConnector1">
            <a:avLst/>
          </a:prstGeom>
          <a:ln w="6349">
            <a:solidFill>
              <a:srgbClr val="000000"/>
            </a:solidFill>
            <a:round/>
          </a:ln>
        </p:spPr>
      </p:cxnSp>
      <p:sp>
        <p:nvSpPr>
          <p:cNvPr id="448" name="TextBox 40"/>
          <p:cNvSpPr/>
          <p:nvPr/>
        </p:nvSpPr>
        <p:spPr>
          <a:xfrm>
            <a:off x="333000" y="1798560"/>
            <a:ext cx="124128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Ferramenta/Serviço</a:t>
            </a:r>
            <a:endParaRPr lang="en-US" sz="1000" b="0" u="none" strike="noStrike">
              <a:solidFill>
                <a:srgbClr val="000000"/>
              </a:solidFill>
              <a:effectLst/>
              <a:uFillTx/>
              <a:latin typeface="Arial"/>
            </a:endParaRPr>
          </a:p>
        </p:txBody>
      </p:sp>
      <p:sp>
        <p:nvSpPr>
          <p:cNvPr id="449" name="TextBox 41"/>
          <p:cNvSpPr/>
          <p:nvPr/>
        </p:nvSpPr>
        <p:spPr>
          <a:xfrm>
            <a:off x="2106720" y="1798560"/>
            <a:ext cx="7369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Usado para</a:t>
            </a:r>
            <a:endParaRPr lang="en-US" sz="1000" b="0" u="none" strike="noStrike">
              <a:solidFill>
                <a:srgbClr val="000000"/>
              </a:solidFill>
              <a:effectLst/>
              <a:uFillTx/>
              <a:latin typeface="Arial"/>
            </a:endParaRPr>
          </a:p>
        </p:txBody>
      </p:sp>
      <p:sp>
        <p:nvSpPr>
          <p:cNvPr id="450" name="TextBox 42"/>
          <p:cNvSpPr/>
          <p:nvPr/>
        </p:nvSpPr>
        <p:spPr>
          <a:xfrm>
            <a:off x="5922360" y="1798560"/>
            <a:ext cx="118440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Tipo de integração</a:t>
            </a:r>
            <a:endParaRPr lang="en-US" sz="1000" b="0" u="none" strike="noStrike">
              <a:solidFill>
                <a:srgbClr val="000000"/>
              </a:solidFill>
              <a:effectLst/>
              <a:uFillTx/>
              <a:latin typeface="Arial"/>
            </a:endParaRPr>
          </a:p>
        </p:txBody>
      </p:sp>
      <p:sp>
        <p:nvSpPr>
          <p:cNvPr id="451" name="TextBox 43"/>
          <p:cNvSpPr/>
          <p:nvPr/>
        </p:nvSpPr>
        <p:spPr>
          <a:xfrm>
            <a:off x="8716680" y="1798560"/>
            <a:ext cx="170784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Executáveis vs. Autonomia</a:t>
            </a:r>
            <a:endParaRPr lang="en-US" sz="1000" b="0" u="none" strike="noStrike">
              <a:solidFill>
                <a:srgbClr val="000000"/>
              </a:solidFill>
              <a:effectLst/>
              <a:uFillTx/>
              <a:latin typeface="Arial"/>
            </a:endParaRPr>
          </a:p>
        </p:txBody>
      </p:sp>
      <p:sp>
        <p:nvSpPr>
          <p:cNvPr id="452" name="TextBox 44"/>
          <p:cNvSpPr/>
          <p:nvPr/>
        </p:nvSpPr>
        <p:spPr>
          <a:xfrm>
            <a:off x="8716680" y="1950840"/>
            <a:ext cx="273492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Invocado por agentes ou por fluxos de trabalho</a:t>
            </a:r>
            <a:endParaRPr lang="en-US" sz="1000" b="0" u="none" strike="noStrike">
              <a:solidFill>
                <a:srgbClr val="000000"/>
              </a:solidFill>
              <a:effectLst/>
              <a:uFillTx/>
              <a:latin typeface="Arial"/>
            </a:endParaRPr>
          </a:p>
        </p:txBody>
      </p:sp>
      <p:sp>
        <p:nvSpPr>
          <p:cNvPr id="453" name="TextBox 45"/>
          <p:cNvSpPr/>
          <p:nvPr/>
        </p:nvSpPr>
        <p:spPr>
          <a:xfrm>
            <a:off x="8716680" y="2103480"/>
            <a:ext cx="258516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Ação automatizada ou etapa verificada pelo </a:t>
            </a:r>
            <a:endParaRPr lang="en-US" sz="1000" b="0" u="none" strike="noStrike">
              <a:solidFill>
                <a:srgbClr val="000000"/>
              </a:solidFill>
              <a:effectLst/>
              <a:uFillTx/>
              <a:latin typeface="Arial"/>
            </a:endParaRPr>
          </a:p>
        </p:txBody>
      </p:sp>
      <p:sp>
        <p:nvSpPr>
          <p:cNvPr id="454" name="TextBox 46"/>
          <p:cNvSpPr/>
          <p:nvPr/>
        </p:nvSpPr>
        <p:spPr>
          <a:xfrm>
            <a:off x="8716680" y="2255760"/>
            <a:ext cx="45720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usuário</a:t>
            </a:r>
            <a:endParaRPr lang="en-US" sz="1000" b="0" u="none" strike="noStrike">
              <a:solidFill>
                <a:srgbClr val="000000"/>
              </a:solidFill>
              <a:effectLst/>
              <a:uFillTx/>
              <a:latin typeface="Arial"/>
            </a:endParaRPr>
          </a:p>
        </p:txBody>
      </p:sp>
      <p:sp>
        <p:nvSpPr>
          <p:cNvPr id="455" name="TextBox 47"/>
          <p:cNvSpPr/>
          <p:nvPr/>
        </p:nvSpPr>
        <p:spPr>
          <a:xfrm>
            <a:off x="333000" y="2453760"/>
            <a:ext cx="7711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Ex: Chat API</a:t>
            </a:r>
            <a:endParaRPr lang="en-US" sz="1000" b="0" u="none" strike="noStrike">
              <a:solidFill>
                <a:srgbClr val="000000"/>
              </a:solidFill>
              <a:effectLst/>
              <a:uFillTx/>
              <a:latin typeface="Arial"/>
            </a:endParaRPr>
          </a:p>
        </p:txBody>
      </p:sp>
      <p:sp>
        <p:nvSpPr>
          <p:cNvPr id="456" name="TextBox 48"/>
          <p:cNvSpPr/>
          <p:nvPr/>
        </p:nvSpPr>
        <p:spPr>
          <a:xfrm>
            <a:off x="2106720" y="2453760"/>
            <a:ext cx="191664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Interações em linguagem natural</a:t>
            </a:r>
            <a:endParaRPr lang="en-US" sz="1000" b="0" u="none" strike="noStrike">
              <a:solidFill>
                <a:srgbClr val="000000"/>
              </a:solidFill>
              <a:effectLst/>
              <a:uFillTx/>
              <a:latin typeface="Arial"/>
            </a:endParaRPr>
          </a:p>
        </p:txBody>
      </p:sp>
      <p:sp>
        <p:nvSpPr>
          <p:cNvPr id="457" name="TextBox 49"/>
          <p:cNvSpPr/>
          <p:nvPr/>
        </p:nvSpPr>
        <p:spPr>
          <a:xfrm>
            <a:off x="5922360" y="2453760"/>
            <a:ext cx="62208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REST API</a:t>
            </a:r>
            <a:endParaRPr lang="en-US" sz="1000" b="0" u="none" strike="noStrike">
              <a:solidFill>
                <a:srgbClr val="000000"/>
              </a:solidFill>
              <a:effectLst/>
              <a:uFillTx/>
              <a:latin typeface="Arial"/>
            </a:endParaRPr>
          </a:p>
        </p:txBody>
      </p:sp>
      <p:sp>
        <p:nvSpPr>
          <p:cNvPr id="458" name="TextBox 50"/>
          <p:cNvSpPr/>
          <p:nvPr/>
        </p:nvSpPr>
        <p:spPr>
          <a:xfrm>
            <a:off x="333000" y="2652120"/>
            <a:ext cx="9889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Banco de Dados</a:t>
            </a:r>
            <a:endParaRPr lang="en-US" sz="1000" b="0" u="none" strike="noStrike">
              <a:solidFill>
                <a:srgbClr val="000000"/>
              </a:solidFill>
              <a:effectLst/>
              <a:uFillTx/>
              <a:latin typeface="Arial"/>
            </a:endParaRPr>
          </a:p>
        </p:txBody>
      </p:sp>
      <p:sp>
        <p:nvSpPr>
          <p:cNvPr id="459" name="TextBox 51"/>
          <p:cNvSpPr/>
          <p:nvPr/>
        </p:nvSpPr>
        <p:spPr>
          <a:xfrm>
            <a:off x="2106720" y="2652120"/>
            <a:ext cx="196560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Armazenar e recuperar memórias</a:t>
            </a:r>
            <a:endParaRPr lang="en-US" sz="1000" b="0" u="none" strike="noStrike">
              <a:solidFill>
                <a:srgbClr val="000000"/>
              </a:solidFill>
              <a:effectLst/>
              <a:uFillTx/>
              <a:latin typeface="Arial"/>
            </a:endParaRPr>
          </a:p>
        </p:txBody>
      </p:sp>
      <p:sp>
        <p:nvSpPr>
          <p:cNvPr id="460" name="TextBox 52"/>
          <p:cNvSpPr/>
          <p:nvPr/>
        </p:nvSpPr>
        <p:spPr>
          <a:xfrm>
            <a:off x="5922360" y="2652120"/>
            <a:ext cx="91548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SQL/Vector DB</a:t>
            </a:r>
            <a:endParaRPr lang="en-US" sz="1000" b="0" u="none" strike="noStrike">
              <a:solidFill>
                <a:srgbClr val="000000"/>
              </a:solidFill>
              <a:effectLst/>
              <a:uFillTx/>
              <a:latin typeface="Arial"/>
            </a:endParaRPr>
          </a:p>
        </p:txBody>
      </p:sp>
      <p:sp>
        <p:nvSpPr>
          <p:cNvPr id="461" name="TextBox 53"/>
          <p:cNvSpPr/>
          <p:nvPr/>
        </p:nvSpPr>
        <p:spPr>
          <a:xfrm>
            <a:off x="333000" y="2849760"/>
            <a:ext cx="160920" cy="1414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462" name="TextBox 54"/>
          <p:cNvSpPr/>
          <p:nvPr/>
        </p:nvSpPr>
        <p:spPr>
          <a:xfrm>
            <a:off x="333000" y="1488960"/>
            <a:ext cx="228456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Lista de ferramentas e finalidade</a:t>
            </a:r>
            <a:endParaRPr lang="en-US" sz="1200" b="0" u="none" strike="noStrike">
              <a:solidFill>
                <a:srgbClr val="000000"/>
              </a:solidFill>
              <a:effectLst/>
              <a:uFillTx/>
              <a:latin typeface="Arial"/>
            </a:endParaRPr>
          </a:p>
        </p:txBody>
      </p:sp>
      <p:sp>
        <p:nvSpPr>
          <p:cNvPr id="463" name="TextBox 55"/>
          <p:cNvSpPr/>
          <p:nvPr/>
        </p:nvSpPr>
        <p:spPr>
          <a:xfrm>
            <a:off x="333000" y="3727800"/>
            <a:ext cx="5374440" cy="32148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Observações sobre restrições</a:t>
            </a:r>
            <a:endParaRPr lang="en-US" sz="1200" b="0" u="none" strike="noStrike">
              <a:solidFill>
                <a:srgbClr val="000000"/>
              </a:solidFill>
              <a:effectLst/>
              <a:uFillTx/>
              <a:latin typeface="Arial"/>
            </a:endParaRPr>
          </a:p>
          <a:p>
            <a:pPr defTabSz="457200">
              <a:lnSpc>
                <a:spcPts val="1151"/>
              </a:lnSpc>
              <a:spcBef>
                <a:spcPts val="88"/>
              </a:spcBef>
            </a:pPr>
            <a:r>
              <a:rPr lang="en-US" sz="1000" b="0" i="1" u="none" strike="noStrike">
                <a:solidFill>
                  <a:srgbClr val="000000"/>
                </a:solidFill>
                <a:effectLst/>
                <a:uFillTx/>
                <a:latin typeface="Arial"/>
              </a:rPr>
              <a:t>Liste as restrições do seu agente, por exemplo: latência, cotas, considerações de segurança.</a:t>
            </a:r>
            <a:endParaRPr lang="en-US" sz="1000" b="0" u="none" strike="noStrike">
              <a:solidFill>
                <a:srgbClr val="000000"/>
              </a:solidFill>
              <a:effectLst/>
              <a:uFillTx/>
              <a:latin typeface="Arial"/>
            </a:endParaRPr>
          </a:p>
        </p:txBody>
      </p:sp>
      <p:sp>
        <p:nvSpPr>
          <p:cNvPr id="464" name="Rectangle 56"/>
          <p:cNvSpPr/>
          <p:nvPr/>
        </p:nvSpPr>
        <p:spPr>
          <a:xfrm>
            <a:off x="5849640" y="288000"/>
            <a:ext cx="17449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65" name="TextBox 57"/>
          <p:cNvSpPr/>
          <p:nvPr/>
        </p:nvSpPr>
        <p:spPr>
          <a:xfrm>
            <a:off x="5895360" y="342000"/>
            <a:ext cx="1263600" cy="29376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Ferramentas-chave:</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IBM Orchestrate</a:t>
            </a:r>
            <a:endParaRPr lang="en-US" sz="1000" b="0" u="none" strike="noStrike">
              <a:solidFill>
                <a:srgbClr val="000000"/>
              </a:solidFill>
              <a:effectLst/>
              <a:uFillTx/>
              <a:latin typeface="Arial"/>
            </a:endParaRPr>
          </a:p>
        </p:txBody>
      </p:sp>
      <p:sp>
        <p:nvSpPr>
          <p:cNvPr id="466" name="Rectangle 58"/>
          <p:cNvSpPr/>
          <p:nvPr/>
        </p:nvSpPr>
        <p:spPr>
          <a:xfrm>
            <a:off x="7595280" y="288000"/>
            <a:ext cx="386928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467" name="TextBox 59"/>
          <p:cNvSpPr/>
          <p:nvPr/>
        </p:nvSpPr>
        <p:spPr>
          <a:xfrm>
            <a:off x="7641360" y="342000"/>
            <a:ext cx="3840480" cy="59868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Dica:</a:t>
            </a:r>
            <a:r>
              <a:rPr lang="en-US" sz="1000" b="0" u="none" strike="noStrike">
                <a:solidFill>
                  <a:srgbClr val="000000"/>
                </a:solidFill>
                <a:effectLst/>
                <a:uFillTx/>
                <a:latin typeface="Arial"/>
              </a:rPr>
              <a:t> Você pode combinar qualquer ferramenta externa e integração suportada para criar e/ou aprimorar sua solução de IA agêntica. Mantenha em mente: As ferramentas são necessárias e justificadas? Como a integração afeta o desempenho?</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468" name="Connector 1"/>
          <p:cNvCxnSpPr/>
          <p:nvPr/>
        </p:nvCxnSpPr>
        <p:spPr>
          <a:xfrm>
            <a:off x="290160" y="1576080"/>
            <a:ext cx="11621520" cy="720"/>
          </a:xfrm>
          <a:prstGeom prst="straightConnector1">
            <a:avLst/>
          </a:prstGeom>
          <a:ln w="6349">
            <a:solidFill>
              <a:srgbClr val="000000"/>
            </a:solidFill>
            <a:round/>
          </a:ln>
        </p:spPr>
      </p:cxnSp>
      <p:cxnSp>
        <p:nvCxnSpPr>
          <p:cNvPr id="469" name="Connector 2"/>
          <p:cNvCxnSpPr/>
          <p:nvPr/>
        </p:nvCxnSpPr>
        <p:spPr>
          <a:xfrm>
            <a:off x="3045960" y="1599120"/>
            <a:ext cx="720" cy="4479120"/>
          </a:xfrm>
          <a:prstGeom prst="straightConnector1">
            <a:avLst/>
          </a:prstGeom>
          <a:ln w="6349">
            <a:solidFill>
              <a:srgbClr val="000000"/>
            </a:solidFill>
            <a:round/>
          </a:ln>
        </p:spPr>
      </p:cxnSp>
      <p:cxnSp>
        <p:nvCxnSpPr>
          <p:cNvPr id="470" name="Connector 3"/>
          <p:cNvCxnSpPr/>
          <p:nvPr/>
        </p:nvCxnSpPr>
        <p:spPr>
          <a:xfrm>
            <a:off x="6091920" y="1601280"/>
            <a:ext cx="720" cy="4494960"/>
          </a:xfrm>
          <a:prstGeom prst="straightConnector1">
            <a:avLst/>
          </a:prstGeom>
          <a:ln w="6349">
            <a:solidFill>
              <a:srgbClr val="000000"/>
            </a:solidFill>
            <a:round/>
          </a:ln>
        </p:spPr>
      </p:cxnSp>
      <p:cxnSp>
        <p:nvCxnSpPr>
          <p:cNvPr id="471" name="Connector 4"/>
          <p:cNvCxnSpPr/>
          <p:nvPr/>
        </p:nvCxnSpPr>
        <p:spPr>
          <a:xfrm>
            <a:off x="9141120" y="1599120"/>
            <a:ext cx="720" cy="4477680"/>
          </a:xfrm>
          <a:prstGeom prst="straightConnector1">
            <a:avLst/>
          </a:prstGeom>
          <a:ln w="6349">
            <a:solidFill>
              <a:srgbClr val="000000"/>
            </a:solidFill>
            <a:round/>
          </a:ln>
        </p:spPr>
      </p:cxnSp>
      <p:sp>
        <p:nvSpPr>
          <p:cNvPr id="472" name="TextBox 5"/>
          <p:cNvSpPr/>
          <p:nvPr/>
        </p:nvSpPr>
        <p:spPr>
          <a:xfrm>
            <a:off x="9429120" y="1618200"/>
            <a:ext cx="13442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Riscos e restrições</a:t>
            </a:r>
            <a:endParaRPr lang="en-US" sz="1200" b="0" u="none" strike="noStrike">
              <a:solidFill>
                <a:srgbClr val="000000"/>
              </a:solidFill>
              <a:effectLst/>
              <a:uFillTx/>
              <a:latin typeface="Arial"/>
            </a:endParaRPr>
          </a:p>
        </p:txBody>
      </p:sp>
      <p:sp>
        <p:nvSpPr>
          <p:cNvPr id="473" name="TextBox 6"/>
          <p:cNvSpPr/>
          <p:nvPr/>
        </p:nvSpPr>
        <p:spPr>
          <a:xfrm>
            <a:off x="9429120" y="2487600"/>
            <a:ext cx="2054880" cy="8114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O que incluir:</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Riscos técnicos.</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Riscos de dados e de modelos.</a:t>
            </a:r>
            <a:endParaRPr lang="en-US" sz="1000" b="0" u="none" strike="noStrike">
              <a:solidFill>
                <a:srgbClr val="000000"/>
              </a:solidFill>
              <a:effectLst/>
              <a:uFillTx/>
              <a:latin typeface="Arial"/>
            </a:endParaRPr>
          </a:p>
          <a:p>
            <a:pPr marL="171360" indent="-171360" defTabSz="457200">
              <a:lnSpc>
                <a:spcPts val="1318"/>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Relação de trade-off entre risco autônomo vs. supervisionado.</a:t>
            </a:r>
            <a:endParaRPr lang="en-US" sz="1000" b="0" u="none" strike="noStrike">
              <a:solidFill>
                <a:srgbClr val="000000"/>
              </a:solidFill>
              <a:effectLst/>
              <a:uFillTx/>
              <a:latin typeface="Arial"/>
            </a:endParaRPr>
          </a:p>
        </p:txBody>
      </p:sp>
      <p:sp>
        <p:nvSpPr>
          <p:cNvPr id="474" name="TextBox 7"/>
          <p:cNvSpPr/>
          <p:nvPr/>
        </p:nvSpPr>
        <p:spPr>
          <a:xfrm>
            <a:off x="9429120" y="3493440"/>
            <a:ext cx="2247480" cy="308520"/>
          </a:xfrm>
          <a:prstGeom prst="rect">
            <a:avLst/>
          </a:prstGeom>
          <a:noFill/>
          <a:ln w="0">
            <a:noFill/>
          </a:ln>
        </p:spPr>
        <p:style>
          <a:lnRef idx="0"/>
          <a:fillRef idx="0"/>
          <a:effectRef idx="0"/>
          <a:fontRef idx="minor"/>
        </p:style>
        <p:txBody>
          <a:bodyPr lIns="0" tIns="0" rIns="0" bIns="0" anchor="t">
            <a:noAutofit/>
          </a:bodyPr>
          <a:p>
            <a:pPr defTabSz="457200">
              <a:lnSpc>
                <a:spcPts val="1318"/>
              </a:lnSpc>
            </a:pPr>
            <a:r>
              <a:rPr lang="en-US" sz="1000" b="0" i="1" u="none" strike="noStrike">
                <a:solidFill>
                  <a:srgbClr val="000000"/>
                </a:solidFill>
                <a:effectLst/>
                <a:uFillTx/>
                <a:latin typeface="Arial"/>
              </a:rPr>
              <a:t>Estratégias de mitigação: como esses riscos e restrições serão mitigados?</a:t>
            </a:r>
            <a:endParaRPr lang="en-US" sz="1000" b="0" u="none" strike="noStrike">
              <a:solidFill>
                <a:srgbClr val="000000"/>
              </a:solidFill>
              <a:effectLst/>
              <a:uFillTx/>
              <a:latin typeface="Arial"/>
            </a:endParaRPr>
          </a:p>
        </p:txBody>
      </p:sp>
      <p:sp>
        <p:nvSpPr>
          <p:cNvPr id="475" name="TextBox 8"/>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20</a:t>
            </a:r>
            <a:endParaRPr lang="en-US" sz="800" b="0" u="none" strike="noStrike">
              <a:solidFill>
                <a:srgbClr val="000000"/>
              </a:solidFill>
              <a:effectLst/>
              <a:uFillTx/>
              <a:latin typeface="Arial"/>
            </a:endParaRPr>
          </a:p>
        </p:txBody>
      </p:sp>
      <p:sp>
        <p:nvSpPr>
          <p:cNvPr id="476" name="TextBox 9"/>
          <p:cNvSpPr/>
          <p:nvPr/>
        </p:nvSpPr>
        <p:spPr>
          <a:xfrm>
            <a:off x="313920" y="239400"/>
            <a:ext cx="3004560" cy="41040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i="1" u="none" strike="noStrike">
                <a:solidFill>
                  <a:srgbClr val="000000"/>
                </a:solidFill>
                <a:effectLst/>
                <a:uFillTx/>
                <a:latin typeface="Arial"/>
              </a:rPr>
              <a:t>Opcional </a:t>
            </a:r>
            <a:endParaRPr lang="en-US" sz="1400" b="0" u="none" strike="noStrike">
              <a:solidFill>
                <a:srgbClr val="000000"/>
              </a:solidFill>
              <a:effectLst/>
              <a:uFillTx/>
              <a:latin typeface="Arial"/>
            </a:endParaRPr>
          </a:p>
          <a:p>
            <a:pPr defTabSz="457200">
              <a:lnSpc>
                <a:spcPts val="1607"/>
              </a:lnSpc>
              <a:spcBef>
                <a:spcPts val="71"/>
              </a:spcBef>
            </a:pPr>
            <a:r>
              <a:rPr lang="en-US" sz="1400" b="1" u="none" strike="noStrike">
                <a:solidFill>
                  <a:srgbClr val="000000"/>
                </a:solidFill>
                <a:effectLst/>
                <a:uFillTx/>
                <a:latin typeface="Arial"/>
              </a:rPr>
              <a:t>Design de inteligência e raciocínio</a:t>
            </a:r>
            <a:endParaRPr lang="en-US" sz="1400" b="0" u="none" strike="noStrike">
              <a:solidFill>
                <a:srgbClr val="000000"/>
              </a:solidFill>
              <a:effectLst/>
              <a:uFillTx/>
              <a:latin typeface="Arial"/>
            </a:endParaRPr>
          </a:p>
        </p:txBody>
      </p:sp>
      <p:sp>
        <p:nvSpPr>
          <p:cNvPr id="477" name="TextBox 10"/>
          <p:cNvSpPr/>
          <p:nvPr/>
        </p:nvSpPr>
        <p:spPr>
          <a:xfrm>
            <a:off x="313920" y="879480"/>
            <a:ext cx="4579920" cy="623880"/>
          </a:xfrm>
          <a:prstGeom prst="rect">
            <a:avLst/>
          </a:prstGeom>
          <a:noFill/>
          <a:ln w="0">
            <a:noFill/>
          </a:ln>
        </p:spPr>
        <p:style>
          <a:lnRef idx="0"/>
          <a:fillRef idx="0"/>
          <a:effectRef idx="0"/>
          <a:fontRef idx="minor"/>
        </p:style>
        <p:txBody>
          <a:bodyPr lIns="0" tIns="0" rIns="0" bIns="0" anchor="t">
            <a:noAutofit/>
          </a:bodyPr>
          <a:p>
            <a:pPr defTabSz="457200">
              <a:lnSpc>
                <a:spcPts val="1678"/>
              </a:lnSpc>
            </a:pPr>
            <a:r>
              <a:rPr lang="en-US" sz="1400" b="1" u="none" strike="noStrike">
                <a:solidFill>
                  <a:srgbClr val="000000"/>
                </a:solidFill>
                <a:effectLst/>
                <a:uFillTx/>
                <a:latin typeface="Arial"/>
              </a:rPr>
              <a:t>Objetivo:</a:t>
            </a:r>
            <a:r>
              <a:rPr lang="en-US" sz="1400" b="0" u="none" strike="noStrike">
                <a:solidFill>
                  <a:srgbClr val="000000"/>
                </a:solidFill>
                <a:effectLst/>
                <a:uFillTx/>
                <a:latin typeface="Arial"/>
              </a:rPr>
              <a:t> Definir a profundidade técnica, o "cérebro" do agente, indo além da arquitetura e do fluxo de trabalho.</a:t>
            </a:r>
            <a:endParaRPr lang="en-US" sz="1400" b="0" u="none" strike="noStrike">
              <a:solidFill>
                <a:srgbClr val="000000"/>
              </a:solidFill>
              <a:effectLst/>
              <a:uFillTx/>
              <a:latin typeface="Arial"/>
            </a:endParaRPr>
          </a:p>
          <a:p>
            <a:pPr defTabSz="457200">
              <a:lnSpc>
                <a:spcPts val="1607"/>
              </a:lnSpc>
              <a:spcBef>
                <a:spcPts val="71"/>
              </a:spcBef>
            </a:pPr>
            <a:r>
              <a:rPr lang="en-US" sz="1400" b="1" u="none" strike="noStrike">
                <a:solidFill>
                  <a:srgbClr val="000000"/>
                </a:solidFill>
                <a:effectLst/>
                <a:uFillTx/>
                <a:latin typeface="Arial"/>
              </a:rPr>
              <a:t>Quando:</a:t>
            </a:r>
            <a:r>
              <a:rPr lang="en-US" sz="1400" b="0" u="none" strike="noStrike">
                <a:solidFill>
                  <a:srgbClr val="000000"/>
                </a:solidFill>
                <a:effectLst/>
                <a:uFillTx/>
                <a:latin typeface="Arial"/>
              </a:rPr>
              <a:t> Até a semana 5.</a:t>
            </a:r>
            <a:endParaRPr lang="en-US" sz="1400" b="0" u="none" strike="noStrike">
              <a:solidFill>
                <a:srgbClr val="000000"/>
              </a:solidFill>
              <a:effectLst/>
              <a:uFillTx/>
              <a:latin typeface="Arial"/>
            </a:endParaRPr>
          </a:p>
        </p:txBody>
      </p:sp>
      <p:sp>
        <p:nvSpPr>
          <p:cNvPr id="478" name="TextBox 11"/>
          <p:cNvSpPr/>
          <p:nvPr/>
        </p:nvSpPr>
        <p:spPr>
          <a:xfrm>
            <a:off x="290520" y="1618200"/>
            <a:ext cx="207072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Conhecimento e recuperação</a:t>
            </a:r>
            <a:endParaRPr lang="en-US" sz="1200" b="0" u="none" strike="noStrike">
              <a:solidFill>
                <a:srgbClr val="000000"/>
              </a:solidFill>
              <a:effectLst/>
              <a:uFillTx/>
              <a:latin typeface="Arial"/>
            </a:endParaRPr>
          </a:p>
        </p:txBody>
      </p:sp>
      <p:sp>
        <p:nvSpPr>
          <p:cNvPr id="479" name="TextBox 12"/>
          <p:cNvSpPr/>
          <p:nvPr/>
        </p:nvSpPr>
        <p:spPr>
          <a:xfrm>
            <a:off x="290520" y="2487600"/>
            <a:ext cx="1960920" cy="64404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318"/>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O que o agente precisa saber (documentos, políticas, dados históricos).</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Estratégia de RAG</a:t>
            </a:r>
            <a:endParaRPr lang="en-US" sz="1000" b="0" u="none" strike="noStrike">
              <a:solidFill>
                <a:srgbClr val="000000"/>
              </a:solidFill>
              <a:effectLst/>
              <a:uFillTx/>
              <a:latin typeface="Arial"/>
            </a:endParaRPr>
          </a:p>
        </p:txBody>
      </p:sp>
      <p:sp>
        <p:nvSpPr>
          <p:cNvPr id="480" name="TextBox 13"/>
          <p:cNvSpPr/>
          <p:nvPr/>
        </p:nvSpPr>
        <p:spPr>
          <a:xfrm>
            <a:off x="519120" y="3158280"/>
            <a:ext cx="2302560" cy="81144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318"/>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Tipo de fonte (bancos de dados, arquivos, APIs).</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Lógica de recuperação.</a:t>
            </a:r>
            <a:endParaRPr lang="en-US" sz="1000" b="0" u="none" strike="noStrike">
              <a:solidFill>
                <a:srgbClr val="000000"/>
              </a:solidFill>
              <a:effectLst/>
              <a:uFillTx/>
              <a:latin typeface="Arial"/>
            </a:endParaRPr>
          </a:p>
          <a:p>
            <a:pPr marL="171360" indent="-171360" defTabSz="457200">
              <a:lnSpc>
                <a:spcPts val="1321"/>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Controles de atualização e precisão dos dados.</a:t>
            </a:r>
            <a:endParaRPr lang="en-US" sz="1000" b="0" u="none" strike="noStrike">
              <a:solidFill>
                <a:srgbClr val="000000"/>
              </a:solidFill>
              <a:effectLst/>
              <a:uFillTx/>
              <a:latin typeface="Arial"/>
            </a:endParaRPr>
          </a:p>
        </p:txBody>
      </p:sp>
      <p:sp>
        <p:nvSpPr>
          <p:cNvPr id="481" name="TextBox 14"/>
          <p:cNvSpPr/>
          <p:nvPr/>
        </p:nvSpPr>
        <p:spPr>
          <a:xfrm>
            <a:off x="3338280" y="1618920"/>
            <a:ext cx="154260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Raciocínio e decisões</a:t>
            </a:r>
            <a:endParaRPr lang="en-US" sz="1200" b="0" u="none" strike="noStrike">
              <a:solidFill>
                <a:srgbClr val="000000"/>
              </a:solidFill>
              <a:effectLst/>
              <a:uFillTx/>
              <a:latin typeface="Arial"/>
            </a:endParaRPr>
          </a:p>
        </p:txBody>
      </p:sp>
      <p:sp>
        <p:nvSpPr>
          <p:cNvPr id="482" name="TextBox 15"/>
          <p:cNvSpPr/>
          <p:nvPr/>
        </p:nvSpPr>
        <p:spPr>
          <a:xfrm>
            <a:off x="3338280" y="2488320"/>
            <a:ext cx="2279160" cy="30888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Decisões-chave que o agente toma.</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Padrões de raciocínio.</a:t>
            </a:r>
            <a:endParaRPr lang="en-US" sz="1000" b="0" u="none" strike="noStrike">
              <a:solidFill>
                <a:srgbClr val="000000"/>
              </a:solidFill>
              <a:effectLst/>
              <a:uFillTx/>
              <a:latin typeface="Arial"/>
            </a:endParaRPr>
          </a:p>
        </p:txBody>
      </p:sp>
      <p:sp>
        <p:nvSpPr>
          <p:cNvPr id="483" name="TextBox 16"/>
          <p:cNvSpPr/>
          <p:nvPr/>
        </p:nvSpPr>
        <p:spPr>
          <a:xfrm>
            <a:off x="3338280" y="2823480"/>
            <a:ext cx="2160360" cy="644040"/>
          </a:xfrm>
          <a:prstGeom prst="rect">
            <a:avLst/>
          </a:prstGeom>
          <a:noFill/>
          <a:ln w="0">
            <a:noFill/>
          </a:ln>
        </p:spPr>
        <p:style>
          <a:lnRef idx="0"/>
          <a:fillRef idx="0"/>
          <a:effectRef idx="0"/>
          <a:fontRef idx="minor"/>
        </p:style>
        <p:txBody>
          <a:bodyPr lIns="0" tIns="0" rIns="0" bIns="0" anchor="t">
            <a:noAutofit/>
          </a:bodyPr>
          <a:p>
            <a:pPr marL="399960" indent="-171360" defTabSz="457200">
              <a:lnSpc>
                <a:spcPts val="1318"/>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Classificação, planejamento, avaliação, lógica de múltiplas etapas.</a:t>
            </a:r>
            <a:endParaRPr lang="en-US" sz="1000" b="0" u="none" strike="noStrike">
              <a:solidFill>
                <a:srgbClr val="000000"/>
              </a:solidFill>
              <a:effectLst/>
              <a:uFillTx/>
              <a:latin typeface="Arial"/>
            </a:endParaRPr>
          </a:p>
          <a:p>
            <a:pPr marL="171360" indent="-171360" defTabSz="457200">
              <a:lnSpc>
                <a:spcPts val="1154"/>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Avaliação de resultados.</a:t>
            </a:r>
            <a:endParaRPr lang="en-US" sz="1000" b="0" u="none" strike="noStrike">
              <a:solidFill>
                <a:srgbClr val="000000"/>
              </a:solidFill>
              <a:effectLst/>
              <a:uFillTx/>
              <a:latin typeface="Arial"/>
            </a:endParaRPr>
          </a:p>
        </p:txBody>
      </p:sp>
      <p:sp>
        <p:nvSpPr>
          <p:cNvPr id="484" name="TextBox 17"/>
          <p:cNvSpPr/>
          <p:nvPr/>
        </p:nvSpPr>
        <p:spPr>
          <a:xfrm>
            <a:off x="3566880" y="3494160"/>
            <a:ext cx="2012760" cy="30888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318"/>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Limites de confiança, lógica de validação.</a:t>
            </a:r>
            <a:endParaRPr lang="en-US" sz="1000" b="0" u="none" strike="noStrike">
              <a:solidFill>
                <a:srgbClr val="000000"/>
              </a:solidFill>
              <a:effectLst/>
              <a:uFillTx/>
              <a:latin typeface="Arial"/>
            </a:endParaRPr>
          </a:p>
        </p:txBody>
      </p:sp>
      <p:sp>
        <p:nvSpPr>
          <p:cNvPr id="485" name="TextBox 18"/>
          <p:cNvSpPr/>
          <p:nvPr/>
        </p:nvSpPr>
        <p:spPr>
          <a:xfrm>
            <a:off x="6405480" y="1618200"/>
            <a:ext cx="22946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Lógica Multiagente (se aplicável)</a:t>
            </a:r>
            <a:endParaRPr lang="en-US" sz="1200" b="0" u="none" strike="noStrike">
              <a:solidFill>
                <a:srgbClr val="000000"/>
              </a:solidFill>
              <a:effectLst/>
              <a:uFillTx/>
              <a:latin typeface="Arial"/>
            </a:endParaRPr>
          </a:p>
        </p:txBody>
      </p:sp>
      <p:sp>
        <p:nvSpPr>
          <p:cNvPr id="486" name="TextBox 19"/>
          <p:cNvSpPr/>
          <p:nvPr/>
        </p:nvSpPr>
        <p:spPr>
          <a:xfrm>
            <a:off x="6405480" y="2487600"/>
            <a:ext cx="2169720" cy="47628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Por que usar múltiplos agentes?</a:t>
            </a:r>
            <a:endParaRPr lang="en-US" sz="1000" b="0" u="none" strike="noStrike">
              <a:solidFill>
                <a:srgbClr val="000000"/>
              </a:solidFill>
              <a:effectLst/>
              <a:uFillTx/>
              <a:latin typeface="Arial"/>
            </a:endParaRPr>
          </a:p>
          <a:p>
            <a:pPr marL="171360" indent="-171360" defTabSz="457200">
              <a:lnSpc>
                <a:spcPts val="1318"/>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Padrão de interação: sequencial / paralelo / supervisório.</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TextBox 1"/>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21</a:t>
            </a:r>
            <a:endParaRPr lang="en-US" sz="800" b="0" u="none" strike="noStrike">
              <a:solidFill>
                <a:srgbClr val="000000"/>
              </a:solidFill>
              <a:effectLst/>
              <a:uFillTx/>
              <a:latin typeface="Arial"/>
            </a:endParaRPr>
          </a:p>
        </p:txBody>
      </p:sp>
      <p:sp>
        <p:nvSpPr>
          <p:cNvPr id="488" name="TextBox 2"/>
          <p:cNvSpPr/>
          <p:nvPr/>
        </p:nvSpPr>
        <p:spPr>
          <a:xfrm>
            <a:off x="288000" y="303120"/>
            <a:ext cx="17150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Governança e Ética</a:t>
            </a:r>
            <a:endParaRPr lang="en-US" sz="1400" b="0" u="none" strike="noStrike">
              <a:solidFill>
                <a:srgbClr val="000000"/>
              </a:solidFill>
              <a:effectLst/>
              <a:uFillTx/>
              <a:latin typeface="Arial"/>
            </a:endParaRPr>
          </a:p>
        </p:txBody>
      </p:sp>
      <p:sp>
        <p:nvSpPr>
          <p:cNvPr id="489" name="TextBox 3"/>
          <p:cNvSpPr/>
          <p:nvPr/>
        </p:nvSpPr>
        <p:spPr>
          <a:xfrm>
            <a:off x="288000" y="772920"/>
            <a:ext cx="6457680" cy="1135800"/>
          </a:xfrm>
          <a:prstGeom prst="rect">
            <a:avLst/>
          </a:prstGeom>
          <a:noFill/>
          <a:ln w="0">
            <a:noFill/>
          </a:ln>
        </p:spPr>
        <p:style>
          <a:lnRef idx="0"/>
          <a:fillRef idx="0"/>
          <a:effectRef idx="0"/>
          <a:fontRef idx="minor"/>
        </p:style>
        <p:txBody>
          <a:bodyPr lIns="0" tIns="0" rIns="0" bIns="0" anchor="t">
            <a:noAutofit/>
          </a:bodyPr>
          <a:p>
            <a:pPr defTabSz="457200">
              <a:lnSpc>
                <a:spcPts val="1848"/>
              </a:lnSpc>
            </a:pPr>
            <a:r>
              <a:rPr lang="en-US" sz="1400" b="1" u="none" strike="noStrike">
                <a:solidFill>
                  <a:srgbClr val="000000"/>
                </a:solidFill>
                <a:effectLst/>
                <a:uFillTx/>
                <a:latin typeface="Arial"/>
              </a:rPr>
              <a:t>Objetivo:</a:t>
            </a:r>
            <a:r>
              <a:rPr lang="en-US" sz="1400" b="0" u="none" strike="noStrike">
                <a:solidFill>
                  <a:srgbClr val="000000"/>
                </a:solidFill>
                <a:effectLst/>
                <a:uFillTx/>
                <a:latin typeface="Arial"/>
              </a:rPr>
              <a:t> Explicar como seu agente de IA foi projetado para se comportar de maneira segura, responsável, ética e em conformidade com as expectativas de privacidade e governança. Inclua mecanismos que </a:t>
            </a:r>
            <a:r>
              <a:rPr lang="en-US" sz="1400" b="0" i="1" u="none" strike="noStrike">
                <a:solidFill>
                  <a:srgbClr val="000000"/>
                </a:solidFill>
                <a:effectLst/>
                <a:uFillTx/>
                <a:latin typeface="Arial"/>
              </a:rPr>
              <a:t>evitem danos, protejam os usuários e construam confiança.</a:t>
            </a:r>
            <a:endParaRPr lang="en-US" sz="1400" b="0" u="none" strike="noStrike">
              <a:solidFill>
                <a:srgbClr val="000000"/>
              </a:solidFill>
              <a:effectLst/>
              <a:uFillTx/>
              <a:latin typeface="Arial"/>
            </a:endParaRPr>
          </a:p>
          <a:p>
            <a:pPr defTabSz="457200">
              <a:lnSpc>
                <a:spcPts val="1607"/>
              </a:lnSpc>
              <a:spcBef>
                <a:spcPts val="238"/>
              </a:spcBef>
            </a:pPr>
            <a:r>
              <a:rPr lang="en-US" sz="1400" b="1" u="none" strike="noStrike">
                <a:solidFill>
                  <a:srgbClr val="000000"/>
                </a:solidFill>
                <a:effectLst/>
                <a:uFillTx/>
                <a:latin typeface="Arial"/>
              </a:rPr>
              <a:t>Quando:</a:t>
            </a:r>
            <a:r>
              <a:rPr lang="en-US" sz="1400" b="0" u="none" strike="noStrike">
                <a:solidFill>
                  <a:srgbClr val="000000"/>
                </a:solidFill>
                <a:effectLst/>
                <a:uFillTx/>
                <a:latin typeface="Arial"/>
              </a:rPr>
              <a:t> Até a Semana 5.</a:t>
            </a:r>
            <a:endParaRPr lang="en-US" sz="1400" b="0" u="none" strike="noStrike">
              <a:solidFill>
                <a:srgbClr val="000000"/>
              </a:solidFill>
              <a:effectLst/>
              <a:uFillTx/>
              <a:latin typeface="Arial"/>
            </a:endParaRPr>
          </a:p>
        </p:txBody>
      </p:sp>
      <p:sp>
        <p:nvSpPr>
          <p:cNvPr id="490" name="TextBox 4"/>
          <p:cNvSpPr/>
          <p:nvPr/>
        </p:nvSpPr>
        <p:spPr>
          <a:xfrm>
            <a:off x="333720" y="2117160"/>
            <a:ext cx="4554000" cy="47376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Considerações Éticas</a:t>
            </a:r>
            <a:endParaRPr lang="en-US" sz="1200" b="0" u="none" strike="noStrike">
              <a:solidFill>
                <a:srgbClr val="000000"/>
              </a:solidFill>
              <a:effectLst/>
              <a:uFillTx/>
              <a:latin typeface="Arial"/>
            </a:endParaRPr>
          </a:p>
          <a:p>
            <a:pPr defTabSz="457200">
              <a:lnSpc>
                <a:spcPts val="1199"/>
              </a:lnSpc>
              <a:spcBef>
                <a:spcPts val="40"/>
              </a:spcBef>
            </a:pPr>
            <a:r>
              <a:rPr lang="en-US" sz="1000" b="0" i="1" u="none" strike="noStrike">
                <a:solidFill>
                  <a:srgbClr val="000000"/>
                </a:solidFill>
                <a:effectLst/>
                <a:uFillTx/>
                <a:latin typeface="Arial"/>
              </a:rPr>
              <a:t>Mostre como o agente foi projetado para respeitar direitos, equidade e valores humanos:</a:t>
            </a:r>
            <a:endParaRPr lang="en-US" sz="1000" b="0" u="none" strike="noStrike">
              <a:solidFill>
                <a:srgbClr val="000000"/>
              </a:solidFill>
              <a:effectLst/>
              <a:uFillTx/>
              <a:latin typeface="Arial"/>
            </a:endParaRPr>
          </a:p>
        </p:txBody>
      </p:sp>
      <p:sp>
        <p:nvSpPr>
          <p:cNvPr id="491" name="TextBox 5"/>
          <p:cNvSpPr/>
          <p:nvPr/>
        </p:nvSpPr>
        <p:spPr>
          <a:xfrm>
            <a:off x="333720" y="2754720"/>
            <a:ext cx="3566160" cy="44604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i="1" u="none" strike="noStrike">
                <a:solidFill>
                  <a:srgbClr val="000000"/>
                </a:solidFill>
                <a:effectLst/>
                <a:uFillTx/>
                <a:latin typeface="Arial"/>
              </a:rPr>
              <a:t>a) Equidade e antibias: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Estratégias para detectar ou evitar decisões tendenciosas;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planos de teste ou etapas de mitigação para vieses.</a:t>
            </a:r>
            <a:endParaRPr lang="en-US" sz="1000" b="0" u="none" strike="noStrike">
              <a:solidFill>
                <a:srgbClr val="000000"/>
              </a:solidFill>
              <a:effectLst/>
              <a:uFillTx/>
              <a:latin typeface="Arial"/>
            </a:endParaRPr>
          </a:p>
        </p:txBody>
      </p:sp>
      <p:sp>
        <p:nvSpPr>
          <p:cNvPr id="492" name="TextBox 6"/>
          <p:cNvSpPr/>
          <p:nvPr/>
        </p:nvSpPr>
        <p:spPr>
          <a:xfrm>
            <a:off x="333720" y="3364560"/>
            <a:ext cx="403380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i="1" u="none" strike="noStrike">
                <a:solidFill>
                  <a:srgbClr val="000000"/>
                </a:solidFill>
                <a:effectLst/>
                <a:uFillTx/>
                <a:latin typeface="Arial"/>
              </a:rPr>
              <a:t>b) Transparência e explicabilidade:</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Como os resultados podem ser explicados aos usuários/mentores;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logs de auditoria ou rastros de decisão. </a:t>
            </a:r>
            <a:endParaRPr lang="en-US" sz="1000" b="0" u="none" strike="noStrike">
              <a:solidFill>
                <a:srgbClr val="000000"/>
              </a:solidFill>
              <a:effectLst/>
              <a:uFillTx/>
              <a:latin typeface="Arial"/>
            </a:endParaRPr>
          </a:p>
        </p:txBody>
      </p:sp>
      <p:sp>
        <p:nvSpPr>
          <p:cNvPr id="493" name="TextBox 7"/>
          <p:cNvSpPr/>
          <p:nvPr/>
        </p:nvSpPr>
        <p:spPr>
          <a:xfrm>
            <a:off x="333720" y="3974040"/>
            <a:ext cx="2883600" cy="44640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i="1" u="none" strike="noStrike">
                <a:solidFill>
                  <a:srgbClr val="000000"/>
                </a:solidFill>
                <a:effectLst/>
                <a:uFillTx/>
                <a:latin typeface="Arial"/>
              </a:rPr>
              <a:t>d) Respeito aos direitos: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Evitar práticas discriminatórias ou prejudiciais;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garantir a dignidade e a autonomia do usuário.</a:t>
            </a:r>
            <a:endParaRPr lang="en-US" sz="1000" b="0" u="none" strike="noStrike">
              <a:solidFill>
                <a:srgbClr val="000000"/>
              </a:solidFill>
              <a:effectLst/>
              <a:uFillTx/>
              <a:latin typeface="Arial"/>
            </a:endParaRPr>
          </a:p>
        </p:txBody>
      </p:sp>
      <p:sp>
        <p:nvSpPr>
          <p:cNvPr id="494" name="TextBox 8"/>
          <p:cNvSpPr/>
          <p:nvPr/>
        </p:nvSpPr>
        <p:spPr>
          <a:xfrm>
            <a:off x="333720" y="4583880"/>
            <a:ext cx="214848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i="1" u="none" strike="noStrike">
                <a:solidFill>
                  <a:srgbClr val="000000"/>
                </a:solidFill>
                <a:effectLst/>
                <a:uFillTx/>
                <a:latin typeface="Arial"/>
              </a:rPr>
              <a:t>e) Privacidade e segurança: </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Garantir a privacidade dos dados;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evitar o uso prejudicial. </a:t>
            </a:r>
            <a:endParaRPr lang="en-US" sz="1000" b="0" u="none" strike="noStrike">
              <a:solidFill>
                <a:srgbClr val="000000"/>
              </a:solidFill>
              <a:effectLst/>
              <a:uFillTx/>
              <a:latin typeface="Arial"/>
            </a:endParaRPr>
          </a:p>
        </p:txBody>
      </p:sp>
      <p:sp>
        <p:nvSpPr>
          <p:cNvPr id="495" name="TextBox 9"/>
          <p:cNvSpPr/>
          <p:nvPr/>
        </p:nvSpPr>
        <p:spPr>
          <a:xfrm>
            <a:off x="333720" y="5193360"/>
            <a:ext cx="347868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i="1" u="none" strike="noStrike">
                <a:solidFill>
                  <a:srgbClr val="000000"/>
                </a:solidFill>
                <a:effectLst/>
                <a:uFillTx/>
                <a:latin typeface="Arial"/>
              </a:rPr>
              <a:t>c) Responsabilidade e supervisão humana:</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Quem é responsável pelas decisões que o agente toma?</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O que acontece se algo der errado?</a:t>
            </a:r>
            <a:endParaRPr lang="en-US" sz="1000" b="0" u="none" strike="noStrike">
              <a:solidFill>
                <a:srgbClr val="000000"/>
              </a:solidFill>
              <a:effectLst/>
              <a:uFillTx/>
              <a:latin typeface="Arial"/>
            </a:endParaRPr>
          </a:p>
        </p:txBody>
      </p:sp>
      <p:sp>
        <p:nvSpPr>
          <p:cNvPr id="496" name="TextBox 10"/>
          <p:cNvSpPr/>
          <p:nvPr/>
        </p:nvSpPr>
        <p:spPr>
          <a:xfrm>
            <a:off x="6401520" y="2117160"/>
            <a:ext cx="4201920" cy="47376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Governança e conformidade</a:t>
            </a:r>
            <a:endParaRPr lang="en-US" sz="1200" b="0" u="none" strike="noStrike">
              <a:solidFill>
                <a:srgbClr val="000000"/>
              </a:solidFill>
              <a:effectLst/>
              <a:uFillTx/>
              <a:latin typeface="Arial"/>
            </a:endParaRPr>
          </a:p>
          <a:p>
            <a:pPr defTabSz="457200">
              <a:lnSpc>
                <a:spcPts val="1199"/>
              </a:lnSpc>
              <a:spcBef>
                <a:spcPts val="40"/>
              </a:spcBef>
            </a:pPr>
            <a:r>
              <a:rPr lang="en-US" sz="1000" b="0" i="1" u="none" strike="noStrike">
                <a:solidFill>
                  <a:srgbClr val="000000"/>
                </a:solidFill>
                <a:effectLst/>
                <a:uFillTx/>
                <a:latin typeface="Arial"/>
              </a:rPr>
              <a:t>Explique como o design se alinha com políticas e frameworks internos e externos:</a:t>
            </a:r>
            <a:endParaRPr lang="en-US" sz="1000" b="0" u="none" strike="noStrike">
              <a:solidFill>
                <a:srgbClr val="000000"/>
              </a:solidFill>
              <a:effectLst/>
              <a:uFillTx/>
              <a:latin typeface="Arial"/>
            </a:endParaRPr>
          </a:p>
        </p:txBody>
      </p:sp>
      <p:sp>
        <p:nvSpPr>
          <p:cNvPr id="497" name="TextBox 11"/>
          <p:cNvSpPr/>
          <p:nvPr/>
        </p:nvSpPr>
        <p:spPr>
          <a:xfrm>
            <a:off x="6401520" y="2754720"/>
            <a:ext cx="4594320" cy="2934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1" i="1" u="none" strike="noStrike">
                <a:solidFill>
                  <a:srgbClr val="000000"/>
                </a:solidFill>
                <a:effectLst/>
                <a:uFillTx/>
                <a:latin typeface="Arial"/>
              </a:rPr>
              <a:t>	</a:t>
            </a:r>
            <a:r>
              <a:rPr lang="en-US" sz="1000" b="1" i="1" u="none" strike="noStrike">
                <a:solidFill>
                  <a:srgbClr val="000000"/>
                </a:solidFill>
                <a:effectLst/>
                <a:uFillTx/>
                <a:latin typeface="Arial"/>
              </a:rPr>
              <a:t>Regras de governança interna:</a:t>
            </a:r>
            <a:r>
              <a:rPr lang="en-US" sz="1000" b="0" i="1" u="none" strike="noStrike">
                <a:solidFill>
                  <a:srgbClr val="000000"/>
                </a:solidFill>
                <a:effectLst/>
                <a:uFillTx/>
                <a:latin typeface="Arial"/>
              </a:rPr>
              <a:t> quem aprova o lançamento, alterações ou implantação?</a:t>
            </a:r>
            <a:endParaRPr lang="en-US" sz="1000" b="0" u="none" strike="noStrike">
              <a:solidFill>
                <a:srgbClr val="000000"/>
              </a:solidFill>
              <a:effectLst/>
              <a:uFillTx/>
              <a:latin typeface="Arial"/>
            </a:endParaRPr>
          </a:p>
        </p:txBody>
      </p:sp>
      <p:sp>
        <p:nvSpPr>
          <p:cNvPr id="498" name="TextBox 12"/>
          <p:cNvSpPr/>
          <p:nvPr/>
        </p:nvSpPr>
        <p:spPr>
          <a:xfrm>
            <a:off x="6401520" y="3212280"/>
            <a:ext cx="3659400" cy="14112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1" i="1" u="none" strike="noStrike">
                <a:solidFill>
                  <a:srgbClr val="000000"/>
                </a:solidFill>
                <a:effectLst/>
                <a:uFillTx/>
                <a:latin typeface="Arial"/>
              </a:rPr>
              <a:t>	</a:t>
            </a:r>
            <a:r>
              <a:rPr lang="en-US" sz="1000" b="1" i="1" u="none" strike="noStrike">
                <a:solidFill>
                  <a:srgbClr val="000000"/>
                </a:solidFill>
                <a:effectLst/>
                <a:uFillTx/>
                <a:latin typeface="Arial"/>
              </a:rPr>
              <a:t>Padrões e frameworks que você utiliza como referência.</a:t>
            </a:r>
            <a:endParaRPr lang="en-US" sz="1000" b="0" u="none" strike="noStrike">
              <a:solidFill>
                <a:srgbClr val="000000"/>
              </a:solidFill>
              <a:effectLst/>
              <a:uFillTx/>
              <a:latin typeface="Arial"/>
            </a:endParaRPr>
          </a:p>
        </p:txBody>
      </p:sp>
      <p:sp>
        <p:nvSpPr>
          <p:cNvPr id="499" name="TextBox 13"/>
          <p:cNvSpPr/>
          <p:nvPr/>
        </p:nvSpPr>
        <p:spPr>
          <a:xfrm>
            <a:off x="6630120" y="3364560"/>
            <a:ext cx="4289760" cy="2934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Princípios de IA confiável (equidade, responsabilidade, transparência). </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Diretrizes éticas (ex: UNESCO, OCDE, políticas organizacionais).</a:t>
            </a:r>
            <a:endParaRPr lang="en-US" sz="1000" b="0" u="none" strike="noStrike">
              <a:solidFill>
                <a:srgbClr val="000000"/>
              </a:solidFill>
              <a:effectLst/>
              <a:uFillTx/>
              <a:latin typeface="Arial"/>
            </a:endParaRPr>
          </a:p>
        </p:txBody>
      </p:sp>
      <p:sp>
        <p:nvSpPr>
          <p:cNvPr id="500" name="TextBox 14"/>
          <p:cNvSpPr/>
          <p:nvPr/>
        </p:nvSpPr>
        <p:spPr>
          <a:xfrm>
            <a:off x="6401520" y="3821760"/>
            <a:ext cx="4601160" cy="2934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1" i="1" u="none" strike="noStrike">
                <a:solidFill>
                  <a:srgbClr val="000000"/>
                </a:solidFill>
                <a:effectLst/>
                <a:uFillTx/>
                <a:latin typeface="Arial"/>
              </a:rPr>
              <a:t>	</a:t>
            </a:r>
            <a:r>
              <a:rPr lang="en-US" sz="1000" b="1" i="1" u="none" strike="noStrike">
                <a:solidFill>
                  <a:srgbClr val="000000"/>
                </a:solidFill>
                <a:effectLst/>
                <a:uFillTx/>
                <a:latin typeface="Arial"/>
              </a:rPr>
              <a:t>Planos de auditoria e monitoramento:</a:t>
            </a:r>
            <a:r>
              <a:rPr lang="en-US" sz="1000" b="0" i="1" u="none" strike="noStrike">
                <a:solidFill>
                  <a:srgbClr val="000000"/>
                </a:solidFill>
                <a:effectLst/>
                <a:uFillTx/>
                <a:latin typeface="Arial"/>
              </a:rPr>
              <a:t> como você verifica a conformidade contínua.</a:t>
            </a:r>
            <a:endParaRPr lang="en-US" sz="1000" b="0" u="none" strike="noStrike">
              <a:solidFill>
                <a:srgbClr val="000000"/>
              </a:solidFill>
              <a:effectLst/>
              <a:uFillTx/>
              <a:latin typeface="Arial"/>
            </a:endParaRPr>
          </a:p>
        </p:txBody>
      </p:sp>
      <p:cxnSp>
        <p:nvCxnSpPr>
          <p:cNvPr id="501" name="Connector 15"/>
          <p:cNvCxnSpPr/>
          <p:nvPr/>
        </p:nvCxnSpPr>
        <p:spPr>
          <a:xfrm>
            <a:off x="6090120" y="1982520"/>
            <a:ext cx="720" cy="4609800"/>
          </a:xfrm>
          <a:prstGeom prst="straightConnector1">
            <a:avLst/>
          </a:prstGeom>
          <a:ln w="6349">
            <a:solidFill>
              <a:srgbClr val="000000"/>
            </a:solidFill>
            <a:round/>
          </a:ln>
        </p:spPr>
      </p:cxn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502" name="Connector 1"/>
          <p:cNvCxnSpPr/>
          <p:nvPr/>
        </p:nvCxnSpPr>
        <p:spPr>
          <a:xfrm>
            <a:off x="3047400" y="284760"/>
            <a:ext cx="720" cy="5715720"/>
          </a:xfrm>
          <a:prstGeom prst="straightConnector1">
            <a:avLst/>
          </a:prstGeom>
          <a:ln w="6349">
            <a:solidFill>
              <a:srgbClr val="000000"/>
            </a:solidFill>
            <a:round/>
          </a:ln>
        </p:spPr>
      </p:cxnSp>
      <p:cxnSp>
        <p:nvCxnSpPr>
          <p:cNvPr id="503" name="Connector 2"/>
          <p:cNvCxnSpPr/>
          <p:nvPr/>
        </p:nvCxnSpPr>
        <p:spPr>
          <a:xfrm>
            <a:off x="6093360" y="283320"/>
            <a:ext cx="720" cy="5715720"/>
          </a:xfrm>
          <a:prstGeom prst="straightConnector1">
            <a:avLst/>
          </a:prstGeom>
          <a:ln w="6349">
            <a:solidFill>
              <a:srgbClr val="000000"/>
            </a:solidFill>
            <a:round/>
          </a:ln>
        </p:spPr>
      </p:cxnSp>
      <p:cxnSp>
        <p:nvCxnSpPr>
          <p:cNvPr id="504" name="Connector 3"/>
          <p:cNvCxnSpPr/>
          <p:nvPr/>
        </p:nvCxnSpPr>
        <p:spPr>
          <a:xfrm>
            <a:off x="9142560" y="284760"/>
            <a:ext cx="720" cy="5715720"/>
          </a:xfrm>
          <a:prstGeom prst="straightConnector1">
            <a:avLst/>
          </a:prstGeom>
          <a:ln w="6349">
            <a:solidFill>
              <a:srgbClr val="000000"/>
            </a:solidFill>
            <a:round/>
          </a:ln>
        </p:spPr>
      </p:cxnSp>
      <p:sp>
        <p:nvSpPr>
          <p:cNvPr id="505" name="TextBox 4"/>
          <p:cNvSpPr/>
          <p:nvPr/>
        </p:nvSpPr>
        <p:spPr>
          <a:xfrm>
            <a:off x="288000" y="303120"/>
            <a:ext cx="255096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Escopo e Limitações do MVP</a:t>
            </a:r>
            <a:endParaRPr lang="en-US" sz="1400" b="0" u="none" strike="noStrike">
              <a:solidFill>
                <a:srgbClr val="000000"/>
              </a:solidFill>
              <a:effectLst/>
              <a:uFillTx/>
              <a:latin typeface="Arial"/>
            </a:endParaRPr>
          </a:p>
        </p:txBody>
      </p:sp>
      <p:sp>
        <p:nvSpPr>
          <p:cNvPr id="506" name="TextBox 5"/>
          <p:cNvSpPr/>
          <p:nvPr/>
        </p:nvSpPr>
        <p:spPr>
          <a:xfrm>
            <a:off x="288000" y="1007640"/>
            <a:ext cx="2565000" cy="432000"/>
          </a:xfrm>
          <a:prstGeom prst="rect">
            <a:avLst/>
          </a:prstGeom>
          <a:noFill/>
          <a:ln w="0">
            <a:noFill/>
          </a:ln>
        </p:spPr>
        <p:style>
          <a:lnRef idx="0"/>
          <a:fillRef idx="0"/>
          <a:effectRef idx="0"/>
          <a:fontRef idx="minor"/>
        </p:style>
        <p:txBody>
          <a:bodyPr lIns="0" tIns="0" rIns="0" bIns="0" anchor="t">
            <a:noAutofit/>
          </a:bodyPr>
          <a:p>
            <a:pPr defTabSz="457200">
              <a:lnSpc>
                <a:spcPts val="1848"/>
              </a:lnSpc>
            </a:pPr>
            <a:r>
              <a:rPr lang="en-US" sz="1400" b="1" u="none" strike="noStrike">
                <a:solidFill>
                  <a:srgbClr val="000000"/>
                </a:solidFill>
                <a:effectLst/>
                <a:uFillTx/>
                <a:latin typeface="Arial"/>
              </a:rPr>
              <a:t>Objetivo:</a:t>
            </a:r>
            <a:r>
              <a:rPr lang="en-US" sz="1400" b="0" u="none" strike="noStrike">
                <a:solidFill>
                  <a:srgbClr val="000000"/>
                </a:solidFill>
                <a:effectLst/>
                <a:uFillTx/>
                <a:latin typeface="Arial"/>
              </a:rPr>
              <a:t> Explicar o que o seu MVP fará e o que ele não fará.</a:t>
            </a:r>
            <a:endParaRPr lang="en-US" sz="1400" b="0" u="none" strike="noStrike">
              <a:solidFill>
                <a:srgbClr val="000000"/>
              </a:solidFill>
              <a:effectLst/>
              <a:uFillTx/>
              <a:latin typeface="Arial"/>
            </a:endParaRPr>
          </a:p>
        </p:txBody>
      </p:sp>
      <p:sp>
        <p:nvSpPr>
          <p:cNvPr id="507" name="TextBox 6"/>
          <p:cNvSpPr/>
          <p:nvPr/>
        </p:nvSpPr>
        <p:spPr>
          <a:xfrm>
            <a:off x="288000" y="1711440"/>
            <a:ext cx="214956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Quando:</a:t>
            </a:r>
            <a:r>
              <a:rPr lang="en-US" sz="1400" b="0" u="none" strike="noStrike">
                <a:solidFill>
                  <a:srgbClr val="000000"/>
                </a:solidFill>
                <a:effectLst/>
                <a:uFillTx/>
                <a:latin typeface="Arial"/>
              </a:rPr>
              <a:t> Até a semana 5.</a:t>
            </a:r>
            <a:endParaRPr lang="en-US" sz="1400" b="0" u="none" strike="noStrike">
              <a:solidFill>
                <a:srgbClr val="000000"/>
              </a:solidFill>
              <a:effectLst/>
              <a:uFillTx/>
              <a:latin typeface="Arial"/>
            </a:endParaRPr>
          </a:p>
        </p:txBody>
      </p:sp>
      <p:sp>
        <p:nvSpPr>
          <p:cNvPr id="508" name="TextBox 7"/>
          <p:cNvSpPr/>
          <p:nvPr/>
        </p:nvSpPr>
        <p:spPr>
          <a:xfrm>
            <a:off x="3333600" y="303120"/>
            <a:ext cx="13316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Escopo do MVP</a:t>
            </a:r>
            <a:endParaRPr lang="en-US" sz="1400" b="0" u="none" strike="noStrike">
              <a:solidFill>
                <a:srgbClr val="000000"/>
              </a:solidFill>
              <a:effectLst/>
              <a:uFillTx/>
              <a:latin typeface="Arial"/>
            </a:endParaRPr>
          </a:p>
        </p:txBody>
      </p:sp>
      <p:sp>
        <p:nvSpPr>
          <p:cNvPr id="509" name="TextBox 8"/>
          <p:cNvSpPr/>
          <p:nvPr/>
        </p:nvSpPr>
        <p:spPr>
          <a:xfrm>
            <a:off x="3333600" y="1724760"/>
            <a:ext cx="2500920" cy="811800"/>
          </a:xfrm>
          <a:prstGeom prst="rect">
            <a:avLst/>
          </a:prstGeom>
          <a:noFill/>
          <a:ln w="0">
            <a:noFill/>
          </a:ln>
        </p:spPr>
        <p:style>
          <a:lnRef idx="0"/>
          <a:fillRef idx="0"/>
          <a:effectRef idx="0"/>
          <a:fontRef idx="minor"/>
        </p:style>
        <p:txBody>
          <a:bodyPr lIns="0" tIns="0" rIns="0" bIns="0" anchor="t">
            <a:noAutofit/>
          </a:bodyPr>
          <a:p>
            <a:pPr defTabSz="457200">
              <a:lnSpc>
                <a:spcPts val="1321"/>
              </a:lnSpc>
            </a:pPr>
            <a:r>
              <a:rPr lang="en-US" sz="1000" b="0" i="1" u="none" strike="noStrike">
                <a:solidFill>
                  <a:srgbClr val="000000"/>
                </a:solidFill>
                <a:effectLst/>
                <a:uFillTx/>
                <a:latin typeface="Arial"/>
              </a:rPr>
              <a:t>O que sua equipe entregará até o final da Semana 10? Liste entregas e </a:t>
            </a:r>
            <a:endParaRPr lang="en-US" sz="1000" b="0" u="none" strike="noStrike">
              <a:solidFill>
                <a:srgbClr val="000000"/>
              </a:solidFill>
              <a:effectLst/>
              <a:uFillTx/>
              <a:latin typeface="Arial"/>
            </a:endParaRPr>
          </a:p>
          <a:p>
            <a:pPr defTabSz="457200">
              <a:lnSpc>
                <a:spcPts val="1318"/>
              </a:lnSpc>
            </a:pPr>
            <a:r>
              <a:rPr lang="en-US" sz="1000" b="0" i="1" u="none" strike="noStrike">
                <a:solidFill>
                  <a:srgbClr val="000000"/>
                </a:solidFill>
                <a:effectLst/>
                <a:uFillTx/>
                <a:latin typeface="Arial"/>
              </a:rPr>
              <a:t>funcionalidades específicas e explique por que o foco está nelas (valor para o usuário).</a:t>
            </a:r>
            <a:endParaRPr lang="en-US" sz="1000" b="0" u="none" strike="noStrike">
              <a:solidFill>
                <a:srgbClr val="000000"/>
              </a:solidFill>
              <a:effectLst/>
              <a:uFillTx/>
              <a:latin typeface="Arial"/>
            </a:endParaRPr>
          </a:p>
        </p:txBody>
      </p:sp>
      <p:sp>
        <p:nvSpPr>
          <p:cNvPr id="510" name="TextBox 9"/>
          <p:cNvSpPr/>
          <p:nvPr/>
        </p:nvSpPr>
        <p:spPr>
          <a:xfrm>
            <a:off x="9430560" y="303120"/>
            <a:ext cx="161460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O que vem a seguir</a:t>
            </a:r>
            <a:endParaRPr lang="en-US" sz="1400" b="0" u="none" strike="noStrike">
              <a:solidFill>
                <a:srgbClr val="000000"/>
              </a:solidFill>
              <a:effectLst/>
              <a:uFillTx/>
              <a:latin typeface="Arial"/>
            </a:endParaRPr>
          </a:p>
        </p:txBody>
      </p:sp>
      <p:sp>
        <p:nvSpPr>
          <p:cNvPr id="511" name="TextBox 10"/>
          <p:cNvSpPr/>
          <p:nvPr/>
        </p:nvSpPr>
        <p:spPr>
          <a:xfrm>
            <a:off x="9430560" y="1724760"/>
            <a:ext cx="2490480" cy="644040"/>
          </a:xfrm>
          <a:prstGeom prst="rect">
            <a:avLst/>
          </a:prstGeom>
          <a:noFill/>
          <a:ln w="0">
            <a:noFill/>
          </a:ln>
        </p:spPr>
        <p:style>
          <a:lnRef idx="0"/>
          <a:fillRef idx="0"/>
          <a:effectRef idx="0"/>
          <a:fontRef idx="minor"/>
        </p:style>
        <p:txBody>
          <a:bodyPr lIns="0" tIns="0" rIns="0" bIns="0" anchor="t">
            <a:noAutofit/>
          </a:bodyPr>
          <a:p>
            <a:pPr defTabSz="457200">
              <a:lnSpc>
                <a:spcPts val="1321"/>
              </a:lnSpc>
            </a:pPr>
            <a:r>
              <a:rPr lang="en-US" sz="1000" b="0" i="1" u="none" strike="noStrike">
                <a:solidFill>
                  <a:srgbClr val="000000"/>
                </a:solidFill>
                <a:effectLst/>
                <a:uFillTx/>
                <a:latin typeface="Arial"/>
              </a:rPr>
              <a:t>Como você pode testar e melhorar sua solução no futuro? Defina as fases futuras do desenvolvimento da sua solução, do MVP até a escala.</a:t>
            </a:r>
            <a:endParaRPr lang="en-US" sz="1000" b="0" u="none" strike="noStrike">
              <a:solidFill>
                <a:srgbClr val="000000"/>
              </a:solidFill>
              <a:effectLst/>
              <a:uFillTx/>
              <a:latin typeface="Arial"/>
            </a:endParaRPr>
          </a:p>
        </p:txBody>
      </p:sp>
      <p:sp>
        <p:nvSpPr>
          <p:cNvPr id="512" name="TextBox 11"/>
          <p:cNvSpPr/>
          <p:nvPr/>
        </p:nvSpPr>
        <p:spPr>
          <a:xfrm>
            <a:off x="6381360" y="303120"/>
            <a:ext cx="8978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Limitações</a:t>
            </a:r>
            <a:endParaRPr lang="en-US" sz="1400" b="0" u="none" strike="noStrike">
              <a:solidFill>
                <a:srgbClr val="000000"/>
              </a:solidFill>
              <a:effectLst/>
              <a:uFillTx/>
              <a:latin typeface="Arial"/>
            </a:endParaRPr>
          </a:p>
        </p:txBody>
      </p:sp>
      <p:sp>
        <p:nvSpPr>
          <p:cNvPr id="513" name="TextBox 12"/>
          <p:cNvSpPr/>
          <p:nvPr/>
        </p:nvSpPr>
        <p:spPr>
          <a:xfrm>
            <a:off x="6381360" y="1724760"/>
            <a:ext cx="2543400" cy="476640"/>
          </a:xfrm>
          <a:prstGeom prst="rect">
            <a:avLst/>
          </a:prstGeom>
          <a:noFill/>
          <a:ln w="0">
            <a:noFill/>
          </a:ln>
        </p:spPr>
        <p:style>
          <a:lnRef idx="0"/>
          <a:fillRef idx="0"/>
          <a:effectRef idx="0"/>
          <a:fontRef idx="minor"/>
        </p:style>
        <p:txBody>
          <a:bodyPr lIns="0" tIns="0" rIns="0" bIns="0" anchor="t">
            <a:noAutofit/>
          </a:bodyPr>
          <a:p>
            <a:pPr defTabSz="457200">
              <a:lnSpc>
                <a:spcPts val="1321"/>
              </a:lnSpc>
            </a:pPr>
            <a:r>
              <a:rPr lang="en-US" sz="1000" b="0" i="1" u="none" strike="noStrike">
                <a:solidFill>
                  <a:srgbClr val="000000"/>
                </a:solidFill>
                <a:effectLst/>
                <a:uFillTx/>
                <a:latin typeface="Arial"/>
              </a:rPr>
              <a:t>Quais são as restrições conhecidas do seu MVP? Liste o que NÃO está incluído ou o que foi implementado apenas parcialmente.</a:t>
            </a:r>
            <a:endParaRPr lang="en-US" sz="1000" b="0" u="none" strike="noStrike">
              <a:solidFill>
                <a:srgbClr val="000000"/>
              </a:solidFill>
              <a:effectLst/>
              <a:uFillTx/>
              <a:latin typeface="Arial"/>
            </a:endParaRPr>
          </a:p>
        </p:txBody>
      </p:sp>
      <p:sp>
        <p:nvSpPr>
          <p:cNvPr id="514" name="TextBox 13"/>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22</a:t>
            </a:r>
            <a:endParaRPr lang="en-US" sz="800" b="0" u="none" strike="noStrike">
              <a:solidFill>
                <a:srgbClr val="000000"/>
              </a:solidFill>
              <a:effectLst/>
              <a:uFillTx/>
              <a:latin typeface="Arial"/>
            </a:endParaRPr>
          </a:p>
        </p:txBody>
      </p:sp>
      <p:sp>
        <p:nvSpPr>
          <p:cNvPr id="515" name="Rectangle 14"/>
          <p:cNvSpPr/>
          <p:nvPr/>
        </p:nvSpPr>
        <p:spPr>
          <a:xfrm>
            <a:off x="285840" y="2047320"/>
            <a:ext cx="2477160" cy="39520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516" name="TextBox 15"/>
          <p:cNvSpPr/>
          <p:nvPr/>
        </p:nvSpPr>
        <p:spPr>
          <a:xfrm>
            <a:off x="331560" y="2101320"/>
            <a:ext cx="2348640" cy="75096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Dica: </a:t>
            </a:r>
            <a:r>
              <a:rPr lang="en-US" sz="1000" b="0" u="none" strike="noStrike">
                <a:solidFill>
                  <a:srgbClr val="000000"/>
                </a:solidFill>
                <a:effectLst/>
                <a:uFillTx/>
                <a:latin typeface="Arial"/>
              </a:rPr>
              <a:t>No final das contas, você tem apenas 10 semanas. No que você precisará priorizar: foque nas 2 ou 3 funcionalidades que entregarão o maior valor de usuário para o seu MVP. </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7" name="Picture 1" descr="image.png"/>
          <p:cNvPicPr/>
          <p:nvPr/>
        </p:nvPicPr>
        <p:blipFill>
          <a:blip r:embed="rId1"/>
          <a:stretch/>
        </p:blipFill>
        <p:spPr>
          <a:xfrm>
            <a:off x="44280" y="70200"/>
            <a:ext cx="1044360" cy="852840"/>
          </a:xfrm>
          <a:prstGeom prst="rect">
            <a:avLst/>
          </a:prstGeom>
          <a:noFill/>
          <a:ln w="0">
            <a:noFill/>
          </a:ln>
        </p:spPr>
      </p:pic>
      <p:sp>
        <p:nvSpPr>
          <p:cNvPr id="518" name="TextBox 2"/>
          <p:cNvSpPr/>
          <p:nvPr/>
        </p:nvSpPr>
        <p:spPr>
          <a:xfrm>
            <a:off x="288000" y="219600"/>
            <a:ext cx="4311360" cy="939960"/>
          </a:xfrm>
          <a:prstGeom prst="rect">
            <a:avLst/>
          </a:prstGeom>
          <a:noFill/>
          <a:ln w="0">
            <a:noFill/>
          </a:ln>
        </p:spPr>
        <p:style>
          <a:lnRef idx="0"/>
          <a:fillRef idx="0"/>
          <a:effectRef idx="0"/>
          <a:fontRef idx="minor"/>
        </p:style>
        <p:txBody>
          <a:bodyPr lIns="0" tIns="0" rIns="0" bIns="0" anchor="t">
            <a:noAutofit/>
          </a:bodyPr>
          <a:p>
            <a:pPr marL="670320" defTabSz="457200">
              <a:lnSpc>
                <a:spcPts val="3679"/>
              </a:lnSpc>
              <a:tabLst>
                <a:tab pos="0" algn="l"/>
              </a:tabLst>
            </a:pPr>
            <a:r>
              <a:rPr lang="en-US" sz="3200" b="0" u="none" strike="noStrike">
                <a:solidFill>
                  <a:srgbClr val="000000"/>
                </a:solidFill>
                <a:effectLst/>
                <a:uFillTx/>
                <a:latin typeface="Arial"/>
              </a:rPr>
              <a:t>Ponto de controle –</a:t>
            </a:r>
            <a:endParaRPr lang="en-US" sz="3200" b="0" u="none" strike="noStrike">
              <a:solidFill>
                <a:srgbClr val="000000"/>
              </a:solidFill>
              <a:effectLst/>
              <a:uFillTx/>
              <a:latin typeface="Arial"/>
            </a:endParaRPr>
          </a:p>
          <a:p>
            <a:pPr defTabSz="457200">
              <a:lnSpc>
                <a:spcPts val="3677"/>
              </a:lnSpc>
              <a:spcBef>
                <a:spcPts val="164"/>
              </a:spcBef>
              <a:tabLst>
                <a:tab pos="0" algn="l"/>
              </a:tabLst>
            </a:pPr>
            <a:r>
              <a:rPr lang="en-US" sz="3200" b="0" u="none" strike="noStrike">
                <a:solidFill>
                  <a:srgbClr val="000000"/>
                </a:solidFill>
                <a:effectLst/>
                <a:uFillTx/>
                <a:latin typeface="Arial"/>
              </a:rPr>
              <a:t>Semana 5</a:t>
            </a:r>
            <a:endParaRPr lang="en-US" sz="3200" b="0" u="none" strike="noStrike">
              <a:solidFill>
                <a:srgbClr val="000000"/>
              </a:solidFill>
              <a:effectLst/>
              <a:uFillTx/>
              <a:latin typeface="Arial"/>
            </a:endParaRPr>
          </a:p>
        </p:txBody>
      </p:sp>
      <p:sp>
        <p:nvSpPr>
          <p:cNvPr id="519" name="TextBox 3"/>
          <p:cNvSpPr/>
          <p:nvPr/>
        </p:nvSpPr>
        <p:spPr>
          <a:xfrm>
            <a:off x="288000" y="1156320"/>
            <a:ext cx="668988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Nesta etapa, você deve ter clareza sobre o MVP que está construindo e que enviará ao final deste programa.</a:t>
            </a:r>
            <a:endParaRPr lang="en-US" sz="1000" b="0" u="none" strike="noStrike">
              <a:solidFill>
                <a:srgbClr val="000000"/>
              </a:solidFill>
              <a:effectLst/>
              <a:uFillTx/>
              <a:latin typeface="Arial"/>
            </a:endParaRPr>
          </a:p>
        </p:txBody>
      </p:sp>
      <p:sp>
        <p:nvSpPr>
          <p:cNvPr id="520" name="TextBox 4"/>
          <p:cNvSpPr/>
          <p:nvPr/>
        </p:nvSpPr>
        <p:spPr>
          <a:xfrm>
            <a:off x="288000" y="1491480"/>
            <a:ext cx="8344440" cy="9792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 arquitetura é modular, escalável e alinhada com os objetivos da solução? Ela suporta desempenho, escalabilidade e manutenibilidade?</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Os fluxos de trabalho são claros, eficientes e centrados no usuário? Eles se alinham com a experiência do usuário e os objetivos de negócio?</a:t>
            </a:r>
            <a:endParaRPr lang="en-US" sz="1000" b="0" u="none" strike="noStrike">
              <a:solidFill>
                <a:srgbClr val="000000"/>
              </a:solidFill>
              <a:effectLst/>
              <a:uFillTx/>
              <a:latin typeface="Arial"/>
            </a:endParaRPr>
          </a:p>
          <a:p>
            <a:pPr marL="171360" indent="-171360" defTabSz="457200">
              <a:lnSpc>
                <a:spcPts val="1154"/>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As ferramentas e integrações são seguras, compatíveis (interoperáveis) e econômicas?</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 lógica de inteligência foi bem pensada e justificada?</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O design garante a privacidade dos dados, equidade, explicabilidade e mitigação de vieses?</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 estrutura de governança aborda conformidade e responsabilidade?</a:t>
            </a:r>
            <a:endParaRPr lang="en-US" sz="1000" b="0" u="none" strike="noStrike">
              <a:solidFill>
                <a:srgbClr val="000000"/>
              </a:solidFill>
              <a:effectLst/>
              <a:uFillTx/>
              <a:latin typeface="Arial"/>
            </a:endParaRPr>
          </a:p>
        </p:txBody>
      </p:sp>
      <p:sp>
        <p:nvSpPr>
          <p:cNvPr id="521" name="TextBox 5"/>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23</a:t>
            </a:r>
            <a:endParaRPr lang="en-US" sz="800" b="0" u="none" strike="noStrike">
              <a:solidFill>
                <a:srgbClr val="000000"/>
              </a:solidFill>
              <a:effectLst/>
              <a:uFillTx/>
              <a:latin typeface="Arial"/>
            </a:endParaRPr>
          </a:p>
        </p:txBody>
      </p:sp>
      <p:sp>
        <p:nvSpPr>
          <p:cNvPr id="522" name="TextBox 6"/>
          <p:cNvSpPr/>
          <p:nvPr/>
        </p:nvSpPr>
        <p:spPr>
          <a:xfrm>
            <a:off x="288000" y="2854440"/>
            <a:ext cx="2415240" cy="16920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1" u="none" strike="noStrike">
                <a:solidFill>
                  <a:srgbClr val="000000"/>
                </a:solidFill>
                <a:effectLst/>
                <a:uFillTx/>
                <a:latin typeface="Arial"/>
              </a:rPr>
              <a:t>Perguntas abertas e suposições</a:t>
            </a:r>
            <a:endParaRPr lang="en-US" sz="1200" b="0" u="none" strike="noStrike">
              <a:solidFill>
                <a:srgbClr val="000000"/>
              </a:solidFill>
              <a:effectLst/>
              <a:uFillTx/>
              <a:latin typeface="Arial"/>
            </a:endParaRPr>
          </a:p>
        </p:txBody>
      </p:sp>
      <p:sp>
        <p:nvSpPr>
          <p:cNvPr id="523" name="TextBox 7"/>
          <p:cNvSpPr/>
          <p:nvPr/>
        </p:nvSpPr>
        <p:spPr>
          <a:xfrm>
            <a:off x="288000" y="3256920"/>
            <a:ext cx="3008520" cy="50724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O que ainda não sabemos?</a:t>
            </a:r>
            <a:endParaRPr lang="en-US" sz="1200" b="0" u="none" strike="noStrike">
              <a:solidFill>
                <a:srgbClr val="000000"/>
              </a:solidFill>
              <a:effectLst/>
              <a:uFillTx/>
              <a:latin typeface="Arial"/>
            </a:endParaRPr>
          </a:p>
          <a:p>
            <a:pPr defTabSz="457200">
              <a:lnSpc>
                <a:spcPts val="1318"/>
              </a:lnSpc>
              <a:spcBef>
                <a:spcPts val="65"/>
              </a:spcBef>
            </a:pPr>
            <a:r>
              <a:rPr lang="en-US" sz="1000" b="0" i="1" u="none" strike="noStrike">
                <a:solidFill>
                  <a:srgbClr val="000000"/>
                </a:solidFill>
                <a:effectLst/>
                <a:uFillTx/>
                <a:latin typeface="Arial"/>
              </a:rPr>
              <a:t>Liste as lacunas de conhecimento que precisam de validação.</a:t>
            </a:r>
            <a:endParaRPr lang="en-US" sz="1000" b="0" u="none" strike="noStrike">
              <a:solidFill>
                <a:srgbClr val="000000"/>
              </a:solidFill>
              <a:effectLst/>
              <a:uFillTx/>
              <a:latin typeface="Arial"/>
            </a:endParaRPr>
          </a:p>
        </p:txBody>
      </p:sp>
      <p:sp>
        <p:nvSpPr>
          <p:cNvPr id="524" name="TextBox 8"/>
          <p:cNvSpPr/>
          <p:nvPr/>
        </p:nvSpPr>
        <p:spPr>
          <a:xfrm>
            <a:off x="3926160" y="3254760"/>
            <a:ext cx="2939400" cy="47412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Suposições do que estamos fazendo</a:t>
            </a:r>
            <a:endParaRPr lang="en-US" sz="1200" b="0" u="none" strike="noStrike">
              <a:solidFill>
                <a:srgbClr val="000000"/>
              </a:solidFill>
              <a:effectLst/>
              <a:uFillTx/>
              <a:latin typeface="Arial"/>
            </a:endParaRPr>
          </a:p>
          <a:p>
            <a:pPr defTabSz="457200">
              <a:lnSpc>
                <a:spcPts val="1199"/>
              </a:lnSpc>
              <a:spcBef>
                <a:spcPts val="43"/>
              </a:spcBef>
            </a:pPr>
            <a:r>
              <a:rPr lang="en-US" sz="1000" b="0" i="1" u="none" strike="noStrike">
                <a:solidFill>
                  <a:srgbClr val="000000"/>
                </a:solidFill>
                <a:effectLst/>
                <a:uFillTx/>
                <a:latin typeface="Arial"/>
              </a:rPr>
              <a:t>Documente quaisquer suposições sobre usuários, processos ou tecnologia.</a:t>
            </a:r>
            <a:endParaRPr lang="en-US" sz="1000" b="0" u="none" strike="noStrike">
              <a:solidFill>
                <a:srgbClr val="000000"/>
              </a:solidFill>
              <a:effectLst/>
              <a:uFillTx/>
              <a:latin typeface="Arial"/>
            </a:endParaRPr>
          </a:p>
        </p:txBody>
      </p:sp>
      <p:sp>
        <p:nvSpPr>
          <p:cNvPr id="525" name="TextBox 9"/>
          <p:cNvSpPr/>
          <p:nvPr/>
        </p:nvSpPr>
        <p:spPr>
          <a:xfrm>
            <a:off x="7650360" y="3254760"/>
            <a:ext cx="2756880" cy="47412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Pesquisa de validação</a:t>
            </a:r>
            <a:endParaRPr lang="en-US" sz="1200" b="0" u="none" strike="noStrike">
              <a:solidFill>
                <a:srgbClr val="000000"/>
              </a:solidFill>
              <a:effectLst/>
              <a:uFillTx/>
              <a:latin typeface="Arial"/>
            </a:endParaRPr>
          </a:p>
          <a:p>
            <a:pPr defTabSz="457200">
              <a:lnSpc>
                <a:spcPts val="1199"/>
              </a:lnSpc>
              <a:spcBef>
                <a:spcPts val="43"/>
              </a:spcBef>
            </a:pPr>
            <a:r>
              <a:rPr lang="en-US" sz="1000" b="0" i="1" u="none" strike="noStrike">
                <a:solidFill>
                  <a:srgbClr val="000000"/>
                </a:solidFill>
                <a:effectLst/>
                <a:uFillTx/>
                <a:latin typeface="Arial"/>
              </a:rPr>
              <a:t>Liste quais testes são necessários para coletar informações e/ou validar as suposições.</a:t>
            </a:r>
            <a:endParaRPr lang="en-US" sz="1000" b="0" u="none" strike="noStrike">
              <a:solidFill>
                <a:srgbClr val="000000"/>
              </a:solidFill>
              <a:effectLst/>
              <a:uFillTx/>
              <a:latin typeface="Arial"/>
            </a:endParaRPr>
          </a:p>
        </p:txBody>
      </p:sp>
      <p:sp>
        <p:nvSpPr>
          <p:cNvPr id="526" name="TextBox 10"/>
          <p:cNvSpPr/>
          <p:nvPr/>
        </p:nvSpPr>
        <p:spPr>
          <a:xfrm>
            <a:off x="7650360" y="3892320"/>
            <a:ext cx="335520" cy="59796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3.</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a:t>
            </a:r>
            <a:endParaRPr lang="en-US" sz="1000" b="0" u="none" strike="noStrike">
              <a:solidFill>
                <a:srgbClr val="000000"/>
              </a:solidFill>
              <a:effectLst/>
              <a:uFillTx/>
              <a:latin typeface="Arial"/>
            </a:endParaRPr>
          </a:p>
        </p:txBody>
      </p:sp>
      <p:cxnSp>
        <p:nvCxnSpPr>
          <p:cNvPr id="527" name="Connector 11"/>
          <p:cNvCxnSpPr/>
          <p:nvPr/>
        </p:nvCxnSpPr>
        <p:spPr>
          <a:xfrm>
            <a:off x="3656880" y="3276360"/>
            <a:ext cx="720" cy="3040920"/>
          </a:xfrm>
          <a:prstGeom prst="straightConnector1">
            <a:avLst/>
          </a:prstGeom>
          <a:ln w="6349">
            <a:solidFill>
              <a:srgbClr val="000000"/>
            </a:solidFill>
            <a:round/>
          </a:ln>
        </p:spPr>
      </p:cxnSp>
      <p:cxnSp>
        <p:nvCxnSpPr>
          <p:cNvPr id="528" name="Connector 12"/>
          <p:cNvCxnSpPr/>
          <p:nvPr/>
        </p:nvCxnSpPr>
        <p:spPr>
          <a:xfrm>
            <a:off x="7381080" y="3276360"/>
            <a:ext cx="720" cy="3040920"/>
          </a:xfrm>
          <a:prstGeom prst="straightConnector1">
            <a:avLst/>
          </a:prstGeom>
          <a:ln w="6349">
            <a:solidFill>
              <a:srgbClr val="000000"/>
            </a:solidFill>
            <a:round/>
          </a:ln>
        </p:spPr>
      </p:cxnSp>
      <p:sp>
        <p:nvSpPr>
          <p:cNvPr id="529" name="Rectangle 13"/>
          <p:cNvSpPr/>
          <p:nvPr/>
        </p:nvSpPr>
        <p:spPr>
          <a:xfrm>
            <a:off x="5968080" y="280800"/>
            <a:ext cx="5935320" cy="45432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530" name="TextBox 14"/>
          <p:cNvSpPr/>
          <p:nvPr/>
        </p:nvSpPr>
        <p:spPr>
          <a:xfrm>
            <a:off x="6014520" y="334800"/>
            <a:ext cx="5850000" cy="44604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Dica: </a:t>
            </a:r>
            <a:r>
              <a:rPr lang="en-US" sz="1000" b="0" u="none" strike="noStrike">
                <a:solidFill>
                  <a:srgbClr val="000000"/>
                </a:solidFill>
                <a:effectLst/>
                <a:uFillTx/>
                <a:latin typeface="Arial"/>
              </a:rPr>
              <a:t>Valide as decisões técnicas cedo com protótipos e testes de estresse. Garanta que as considerações éticas e de governança não fiquem para depois, elas devem ser integradas ao design desde o início.</a:t>
            </a:r>
            <a:endParaRPr lang="en-US" sz="1000" b="0" u="none" strike="noStrike">
              <a:solidFill>
                <a:srgbClr val="000000"/>
              </a:solidFill>
              <a:effectLst/>
              <a:uFillTx/>
              <a:latin typeface="Arial"/>
            </a:endParaRPr>
          </a:p>
        </p:txBody>
      </p:sp>
      <p:sp>
        <p:nvSpPr>
          <p:cNvPr id="531" name="TextBox 15"/>
          <p:cNvSpPr/>
          <p:nvPr/>
        </p:nvSpPr>
        <p:spPr>
          <a:xfrm>
            <a:off x="288000" y="3958560"/>
            <a:ext cx="139320" cy="4762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defTabSz="457200">
              <a:lnSpc>
                <a:spcPts val="1154"/>
              </a:lnSpc>
              <a:spcBef>
                <a:spcPts val="167"/>
              </a:spcBef>
            </a:pP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3.</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TextBox 1"/>
          <p:cNvSpPr/>
          <p:nvPr/>
        </p:nvSpPr>
        <p:spPr>
          <a:xfrm>
            <a:off x="288000" y="3821040"/>
            <a:ext cx="2864880" cy="678960"/>
          </a:xfrm>
          <a:prstGeom prst="rect">
            <a:avLst/>
          </a:prstGeom>
          <a:noFill/>
          <a:ln w="0">
            <a:noFill/>
          </a:ln>
        </p:spPr>
        <p:style>
          <a:lnRef idx="0"/>
          <a:fillRef idx="0"/>
          <a:effectRef idx="0"/>
          <a:fontRef idx="minor"/>
        </p:style>
        <p:txBody>
          <a:bodyPr lIns="0" tIns="0" rIns="0" bIns="0" anchor="t">
            <a:noAutofit/>
          </a:bodyPr>
          <a:p>
            <a:pPr defTabSz="457200">
              <a:lnSpc>
                <a:spcPts val="5519"/>
              </a:lnSpc>
            </a:pPr>
            <a:r>
              <a:rPr lang="en-US" sz="4800" b="0" u="none" strike="noStrike">
                <a:solidFill>
                  <a:srgbClr val="000000"/>
                </a:solidFill>
                <a:effectLst/>
                <a:uFillTx/>
                <a:latin typeface="Arial"/>
              </a:rPr>
              <a:t>Boa sorte!</a:t>
            </a:r>
            <a:endParaRPr lang="en-US" sz="4800" b="0" u="none" strike="noStrike">
              <a:solidFill>
                <a:srgbClr val="000000"/>
              </a:solidFill>
              <a:effectLst/>
              <a:uFillTx/>
              <a:latin typeface="Arial"/>
            </a:endParaRPr>
          </a:p>
        </p:txBody>
      </p:sp>
      <p:sp>
        <p:nvSpPr>
          <p:cNvPr id="533" name="TextBox 2"/>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24</a:t>
            </a:r>
            <a:endParaRPr lang="en-US" sz="800" b="0" u="none" strike="noStrike">
              <a:solidFill>
                <a:srgbClr val="000000"/>
              </a:solidFill>
              <a:effectLst/>
              <a:uFillTx/>
              <a:latin typeface="Arial"/>
            </a:endParaRPr>
          </a:p>
        </p:txBody>
      </p:sp>
      <p:pic>
        <p:nvPicPr>
          <p:cNvPr id="534" name="Picture 3" descr="image.png"/>
          <p:cNvPicPr/>
          <p:nvPr/>
        </p:nvPicPr>
        <p:blipFill>
          <a:blip r:embed="rId1"/>
          <a:stretch/>
        </p:blipFill>
        <p:spPr>
          <a:xfrm>
            <a:off x="287280" y="220680"/>
            <a:ext cx="4187160" cy="2993040"/>
          </a:xfrm>
          <a:prstGeom prst="rect">
            <a:avLst/>
          </a:prstGeom>
          <a:noFill/>
          <a:ln w="0">
            <a:noFill/>
          </a:ln>
        </p:spPr>
      </p:pic>
      <p:sp>
        <p:nvSpPr>
          <p:cNvPr id="535" name="TextBox 4"/>
          <p:cNvSpPr/>
          <p:nvPr/>
        </p:nvSpPr>
        <p:spPr>
          <a:xfrm>
            <a:off x="4724640" y="248040"/>
            <a:ext cx="3314160" cy="424080"/>
          </a:xfrm>
          <a:prstGeom prst="rect">
            <a:avLst/>
          </a:prstGeom>
          <a:noFill/>
          <a:ln w="0">
            <a:noFill/>
          </a:ln>
        </p:spPr>
        <p:style>
          <a:lnRef idx="0"/>
          <a:fillRef idx="0"/>
          <a:effectRef idx="0"/>
          <a:fontRef idx="minor"/>
        </p:style>
        <p:txBody>
          <a:bodyPr lIns="0" tIns="0" rIns="0" bIns="0" anchor="t">
            <a:noAutofit/>
          </a:bodyPr>
          <a:p>
            <a:pPr defTabSz="457200">
              <a:lnSpc>
                <a:spcPts val="3450"/>
              </a:lnSpc>
            </a:pPr>
            <a:r>
              <a:rPr lang="en-US" sz="3000" b="0" u="none" strike="noStrike">
                <a:solidFill>
                  <a:srgbClr val="000000"/>
                </a:solidFill>
                <a:effectLst/>
                <a:uFillTx/>
                <a:latin typeface="Arial"/>
              </a:rPr>
              <a:t>Continue a jornada</a:t>
            </a:r>
            <a:endParaRPr lang="en-US" sz="3000" b="0" u="none" strike="noStrike">
              <a:solidFill>
                <a:srgbClr val="000000"/>
              </a:solidFill>
              <a:effectLst/>
              <a:uFillTx/>
              <a:latin typeface="Arial"/>
            </a:endParaRPr>
          </a:p>
        </p:txBody>
      </p:sp>
      <p:sp>
        <p:nvSpPr>
          <p:cNvPr id="536" name="TextBox 5"/>
          <p:cNvSpPr/>
          <p:nvPr/>
        </p:nvSpPr>
        <p:spPr>
          <a:xfrm>
            <a:off x="4724640" y="969480"/>
            <a:ext cx="112680" cy="25416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0" u="none" strike="noStrike">
                <a:solidFill>
                  <a:srgbClr val="000000"/>
                </a:solidFill>
                <a:effectLst/>
                <a:uFillTx/>
                <a:latin typeface="Arial"/>
              </a:rPr>
              <a:t>•</a:t>
            </a:r>
            <a:endParaRPr lang="en-US" sz="1800" b="0" u="none" strike="noStrike">
              <a:solidFill>
                <a:srgbClr val="000000"/>
              </a:solidFill>
              <a:effectLst/>
              <a:uFillTx/>
              <a:latin typeface="Arial"/>
            </a:endParaRPr>
          </a:p>
        </p:txBody>
      </p:sp>
      <p:sp>
        <p:nvSpPr>
          <p:cNvPr id="537" name="TextBox 6"/>
          <p:cNvSpPr/>
          <p:nvPr/>
        </p:nvSpPr>
        <p:spPr>
          <a:xfrm>
            <a:off x="5153760" y="969480"/>
            <a:ext cx="1779480" cy="25416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1" i="1" u="none" strike="noStrike">
                <a:solidFill>
                  <a:srgbClr val="000000"/>
                </a:solidFill>
                <a:effectLst/>
                <a:uFillTx/>
                <a:latin typeface="Arial"/>
              </a:rPr>
              <a:t>Semanas 6 a 8: </a:t>
            </a:r>
            <a:endParaRPr lang="en-US" sz="1800" b="0" u="none" strike="noStrike">
              <a:solidFill>
                <a:srgbClr val="000000"/>
              </a:solidFill>
              <a:effectLst/>
              <a:uFillTx/>
              <a:latin typeface="Arial"/>
            </a:endParaRPr>
          </a:p>
        </p:txBody>
      </p:sp>
      <p:sp>
        <p:nvSpPr>
          <p:cNvPr id="538" name="TextBox 7"/>
          <p:cNvSpPr/>
          <p:nvPr/>
        </p:nvSpPr>
        <p:spPr>
          <a:xfrm>
            <a:off x="5639040" y="1243440"/>
            <a:ext cx="112680" cy="254160"/>
          </a:xfrm>
          <a:prstGeom prst="rect">
            <a:avLst/>
          </a:prstGeom>
          <a:noFill/>
          <a:ln w="0">
            <a:noFill/>
          </a:ln>
        </p:spPr>
        <p:style>
          <a:lnRef idx="0"/>
          <a:fillRef idx="0"/>
          <a:effectRef idx="0"/>
          <a:fontRef idx="minor"/>
        </p:style>
        <p:txBody>
          <a:bodyPr lIns="0" tIns="0" rIns="0" bIns="0" anchor="t">
            <a:noAutofit/>
          </a:bodyPr>
          <a:p>
            <a:pPr defTabSz="457200">
              <a:lnSpc>
                <a:spcPts val="2072"/>
              </a:lnSpc>
            </a:pPr>
            <a:r>
              <a:rPr lang="en-US" sz="1800" b="0" u="none" strike="noStrike">
                <a:solidFill>
                  <a:srgbClr val="000000"/>
                </a:solidFill>
                <a:effectLst/>
                <a:uFillTx/>
                <a:latin typeface="Arial"/>
              </a:rPr>
              <a:t>•</a:t>
            </a:r>
            <a:endParaRPr lang="en-US" sz="1800" b="0" u="none" strike="noStrike">
              <a:solidFill>
                <a:srgbClr val="000000"/>
              </a:solidFill>
              <a:effectLst/>
              <a:uFillTx/>
              <a:latin typeface="Arial"/>
            </a:endParaRPr>
          </a:p>
        </p:txBody>
      </p:sp>
      <p:sp>
        <p:nvSpPr>
          <p:cNvPr id="539" name="TextBox 8"/>
          <p:cNvSpPr/>
          <p:nvPr/>
        </p:nvSpPr>
        <p:spPr>
          <a:xfrm>
            <a:off x="6068160" y="1243440"/>
            <a:ext cx="3296160" cy="253800"/>
          </a:xfrm>
          <a:prstGeom prst="rect">
            <a:avLst/>
          </a:prstGeom>
          <a:noFill/>
          <a:ln w="0">
            <a:noFill/>
          </a:ln>
        </p:spPr>
        <p:style>
          <a:lnRef idx="0"/>
          <a:fillRef idx="0"/>
          <a:effectRef idx="0"/>
          <a:fontRef idx="minor"/>
        </p:style>
        <p:txBody>
          <a:bodyPr lIns="0" tIns="0" rIns="0" bIns="0" anchor="t">
            <a:noAutofit/>
          </a:bodyPr>
          <a:p>
            <a:pPr defTabSz="457200">
              <a:lnSpc>
                <a:spcPts val="2072"/>
              </a:lnSpc>
            </a:pPr>
            <a:r>
              <a:rPr lang="en-US" sz="1800" b="0" i="1" u="none" strike="noStrike">
                <a:solidFill>
                  <a:srgbClr val="000000"/>
                </a:solidFill>
                <a:effectLst/>
                <a:uFillTx/>
                <a:latin typeface="Arial"/>
              </a:rPr>
              <a:t>Implementar o trabalho técnico.</a:t>
            </a:r>
            <a:endParaRPr lang="en-US" sz="1800" b="0" u="none" strike="noStrike">
              <a:solidFill>
                <a:srgbClr val="000000"/>
              </a:solidFill>
              <a:effectLst/>
              <a:uFillTx/>
              <a:latin typeface="Arial"/>
            </a:endParaRPr>
          </a:p>
        </p:txBody>
      </p:sp>
      <p:sp>
        <p:nvSpPr>
          <p:cNvPr id="540" name="TextBox 9"/>
          <p:cNvSpPr/>
          <p:nvPr/>
        </p:nvSpPr>
        <p:spPr>
          <a:xfrm>
            <a:off x="5639040" y="1518120"/>
            <a:ext cx="112680" cy="25416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0" u="none" strike="noStrike">
                <a:solidFill>
                  <a:srgbClr val="000000"/>
                </a:solidFill>
                <a:effectLst/>
                <a:uFillTx/>
                <a:latin typeface="Arial"/>
              </a:rPr>
              <a:t>•</a:t>
            </a:r>
            <a:endParaRPr lang="en-US" sz="1800" b="0" u="none" strike="noStrike">
              <a:solidFill>
                <a:srgbClr val="000000"/>
              </a:solidFill>
              <a:effectLst/>
              <a:uFillTx/>
              <a:latin typeface="Arial"/>
            </a:endParaRPr>
          </a:p>
        </p:txBody>
      </p:sp>
      <p:sp>
        <p:nvSpPr>
          <p:cNvPr id="541" name="TextBox 10"/>
          <p:cNvSpPr/>
          <p:nvPr/>
        </p:nvSpPr>
        <p:spPr>
          <a:xfrm>
            <a:off x="6068160" y="1518120"/>
            <a:ext cx="3515760" cy="25380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0" i="1" u="none" strike="noStrike">
                <a:solidFill>
                  <a:srgbClr val="000000"/>
                </a:solidFill>
                <a:effectLst/>
                <a:uFillTx/>
                <a:latin typeface="Arial"/>
              </a:rPr>
              <a:t>Garantir profundidade e robustez.</a:t>
            </a:r>
            <a:endParaRPr lang="en-US" sz="1800" b="0" u="none" strike="noStrike">
              <a:solidFill>
                <a:srgbClr val="000000"/>
              </a:solidFill>
              <a:effectLst/>
              <a:uFillTx/>
              <a:latin typeface="Arial"/>
            </a:endParaRPr>
          </a:p>
        </p:txBody>
      </p:sp>
      <p:sp>
        <p:nvSpPr>
          <p:cNvPr id="542" name="TextBox 11"/>
          <p:cNvSpPr/>
          <p:nvPr/>
        </p:nvSpPr>
        <p:spPr>
          <a:xfrm>
            <a:off x="5639040" y="1792440"/>
            <a:ext cx="112680" cy="25416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0" u="none" strike="noStrike">
                <a:solidFill>
                  <a:srgbClr val="000000"/>
                </a:solidFill>
                <a:effectLst/>
                <a:uFillTx/>
                <a:latin typeface="Arial"/>
              </a:rPr>
              <a:t>•</a:t>
            </a:r>
            <a:endParaRPr lang="en-US" sz="1800" b="0" u="none" strike="noStrike">
              <a:solidFill>
                <a:srgbClr val="000000"/>
              </a:solidFill>
              <a:effectLst/>
              <a:uFillTx/>
              <a:latin typeface="Arial"/>
            </a:endParaRPr>
          </a:p>
        </p:txBody>
      </p:sp>
      <p:sp>
        <p:nvSpPr>
          <p:cNvPr id="543" name="TextBox 12"/>
          <p:cNvSpPr/>
          <p:nvPr/>
        </p:nvSpPr>
        <p:spPr>
          <a:xfrm>
            <a:off x="6068160" y="1792440"/>
            <a:ext cx="4292280" cy="25380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0" i="1" u="none" strike="noStrike">
                <a:solidFill>
                  <a:srgbClr val="000000"/>
                </a:solidFill>
                <a:effectLst/>
                <a:uFillTx/>
                <a:latin typeface="Arial"/>
              </a:rPr>
              <a:t>Realizar testes com usuários e iterações.</a:t>
            </a:r>
            <a:endParaRPr lang="en-US" sz="1800" b="0" u="none" strike="noStrike">
              <a:solidFill>
                <a:srgbClr val="000000"/>
              </a:solidFill>
              <a:effectLst/>
              <a:uFillTx/>
              <a:latin typeface="Arial"/>
            </a:endParaRPr>
          </a:p>
        </p:txBody>
      </p:sp>
      <p:sp>
        <p:nvSpPr>
          <p:cNvPr id="544" name="TextBox 13"/>
          <p:cNvSpPr/>
          <p:nvPr/>
        </p:nvSpPr>
        <p:spPr>
          <a:xfrm>
            <a:off x="4724640" y="2340720"/>
            <a:ext cx="112680" cy="254160"/>
          </a:xfrm>
          <a:prstGeom prst="rect">
            <a:avLst/>
          </a:prstGeom>
          <a:noFill/>
          <a:ln w="0">
            <a:noFill/>
          </a:ln>
        </p:spPr>
        <p:style>
          <a:lnRef idx="0"/>
          <a:fillRef idx="0"/>
          <a:effectRef idx="0"/>
          <a:fontRef idx="minor"/>
        </p:style>
        <p:txBody>
          <a:bodyPr lIns="0" tIns="0" rIns="0" bIns="0" anchor="t">
            <a:noAutofit/>
          </a:bodyPr>
          <a:p>
            <a:pPr defTabSz="457200">
              <a:lnSpc>
                <a:spcPts val="2072"/>
              </a:lnSpc>
            </a:pPr>
            <a:r>
              <a:rPr lang="en-US" sz="1800" b="0" u="none" strike="noStrike">
                <a:solidFill>
                  <a:srgbClr val="000000"/>
                </a:solidFill>
                <a:effectLst/>
                <a:uFillTx/>
                <a:latin typeface="Arial"/>
              </a:rPr>
              <a:t>•</a:t>
            </a:r>
            <a:endParaRPr lang="en-US" sz="1800" b="0" u="none" strike="noStrike">
              <a:solidFill>
                <a:srgbClr val="000000"/>
              </a:solidFill>
              <a:effectLst/>
              <a:uFillTx/>
              <a:latin typeface="Arial"/>
            </a:endParaRPr>
          </a:p>
        </p:txBody>
      </p:sp>
      <p:sp>
        <p:nvSpPr>
          <p:cNvPr id="545" name="TextBox 14"/>
          <p:cNvSpPr/>
          <p:nvPr/>
        </p:nvSpPr>
        <p:spPr>
          <a:xfrm>
            <a:off x="5153760" y="2340720"/>
            <a:ext cx="6301800" cy="254160"/>
          </a:xfrm>
          <a:prstGeom prst="rect">
            <a:avLst/>
          </a:prstGeom>
          <a:noFill/>
          <a:ln w="0">
            <a:noFill/>
          </a:ln>
        </p:spPr>
        <p:style>
          <a:lnRef idx="0"/>
          <a:fillRef idx="0"/>
          <a:effectRef idx="0"/>
          <a:fontRef idx="minor"/>
        </p:style>
        <p:txBody>
          <a:bodyPr lIns="0" tIns="0" rIns="0" bIns="0" anchor="t">
            <a:noAutofit/>
          </a:bodyPr>
          <a:p>
            <a:pPr defTabSz="457200">
              <a:lnSpc>
                <a:spcPts val="2072"/>
              </a:lnSpc>
            </a:pPr>
            <a:r>
              <a:rPr lang="en-US" sz="1800" b="1" i="1" u="none" strike="noStrike">
                <a:solidFill>
                  <a:srgbClr val="000000"/>
                </a:solidFill>
                <a:effectLst/>
                <a:uFillTx/>
                <a:latin typeface="Arial"/>
              </a:rPr>
              <a:t>Semanas 9 a 10:</a:t>
            </a:r>
            <a:r>
              <a:rPr lang="en-US" sz="1800" b="0" i="1" u="none" strike="noStrike">
                <a:solidFill>
                  <a:srgbClr val="000000"/>
                </a:solidFill>
                <a:effectLst/>
                <a:uFillTx/>
                <a:latin typeface="Arial"/>
              </a:rPr>
              <a:t> Preparar e finalizar o envio do seu projeto.</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6" name="Picture 1" descr="image.png"/>
          <p:cNvPicPr/>
          <p:nvPr/>
        </p:nvPicPr>
        <p:blipFill>
          <a:blip r:embed="rId1"/>
          <a:stretch/>
        </p:blipFill>
        <p:spPr>
          <a:xfrm>
            <a:off x="11125800" y="6246720"/>
            <a:ext cx="847440" cy="332280"/>
          </a:xfrm>
          <a:prstGeom prst="rect">
            <a:avLst/>
          </a:prstGeom>
          <a:noFill/>
          <a:ln w="0">
            <a:noFill/>
          </a:ln>
        </p:spPr>
      </p:pic>
      <p:sp>
        <p:nvSpPr>
          <p:cNvPr id="547" name="Rectangle 2"/>
          <p:cNvSpPr/>
          <p:nvPr/>
        </p:nvSpPr>
        <p:spPr>
          <a:xfrm>
            <a:off x="0" y="0"/>
            <a:ext cx="12191400" cy="5999400"/>
          </a:xfrm>
          <a:prstGeom prst="rect">
            <a:avLst/>
          </a:prstGeom>
          <a:solidFill>
            <a:srgbClr val="E0E0E0"/>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pic>
        <p:nvPicPr>
          <p:cNvPr id="548" name="Picture 3" descr="image.png"/>
          <p:cNvPicPr/>
          <p:nvPr/>
        </p:nvPicPr>
        <p:blipFill>
          <a:blip r:embed="rId2"/>
          <a:stretch/>
        </p:blipFill>
        <p:spPr>
          <a:xfrm>
            <a:off x="0" y="0"/>
            <a:ext cx="12191400" cy="5999400"/>
          </a:xfrm>
          <a:prstGeom prst="rect">
            <a:avLst/>
          </a:prstGeom>
          <a:noFill/>
          <a:ln w="0">
            <a:noFill/>
          </a:ln>
        </p:spPr>
      </p:pic>
      <p:sp>
        <p:nvSpPr>
          <p:cNvPr id="549" name="TextBox 4"/>
          <p:cNvSpPr/>
          <p:nvPr/>
        </p:nvSpPr>
        <p:spPr>
          <a:xfrm>
            <a:off x="288000" y="2012760"/>
            <a:ext cx="3934440" cy="608400"/>
          </a:xfrm>
          <a:prstGeom prst="rect">
            <a:avLst/>
          </a:prstGeom>
          <a:noFill/>
          <a:ln w="0">
            <a:noFill/>
          </a:ln>
        </p:spPr>
        <p:style>
          <a:lnRef idx="0"/>
          <a:fillRef idx="0"/>
          <a:effectRef idx="0"/>
          <a:fontRef idx="minor"/>
        </p:style>
        <p:txBody>
          <a:bodyPr lIns="0" tIns="0" rIns="0" bIns="0" anchor="t">
            <a:noAutofit/>
          </a:bodyPr>
          <a:p>
            <a:pPr defTabSz="457200">
              <a:lnSpc>
                <a:spcPts val="4949"/>
              </a:lnSpc>
            </a:pPr>
            <a:r>
              <a:rPr lang="en-US" sz="4300" b="0" u="none" strike="noStrike">
                <a:solidFill>
                  <a:srgbClr val="000000"/>
                </a:solidFill>
                <a:effectLst/>
                <a:uFillTx/>
                <a:latin typeface="Arial"/>
              </a:rPr>
              <a:t>Solution Design</a:t>
            </a:r>
            <a:endParaRPr lang="en-US" sz="4300" b="0" u="none" strike="noStrike">
              <a:solidFill>
                <a:srgbClr val="000000"/>
              </a:solidFill>
              <a:effectLst/>
              <a:uFillTx/>
              <a:latin typeface="Arial"/>
            </a:endParaRPr>
          </a:p>
        </p:txBody>
      </p:sp>
      <p:sp>
        <p:nvSpPr>
          <p:cNvPr id="550" name="TextBox 5"/>
          <p:cNvSpPr/>
          <p:nvPr/>
        </p:nvSpPr>
        <p:spPr>
          <a:xfrm>
            <a:off x="288000" y="6405120"/>
            <a:ext cx="121140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Team Leader: </a:t>
            </a:r>
            <a:endParaRPr lang="en-US" sz="1400" b="0" u="none" strike="noStrike">
              <a:solidFill>
                <a:srgbClr val="000000"/>
              </a:solidFill>
              <a:effectLst/>
              <a:uFillTx/>
              <a:latin typeface="Arial"/>
            </a:endParaRPr>
          </a:p>
        </p:txBody>
      </p:sp>
      <p:sp>
        <p:nvSpPr>
          <p:cNvPr id="551" name="TextBox 6"/>
          <p:cNvSpPr/>
          <p:nvPr/>
        </p:nvSpPr>
        <p:spPr>
          <a:xfrm>
            <a:off x="288000" y="3027240"/>
            <a:ext cx="1443240" cy="25416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0" u="none" strike="noStrike">
                <a:solidFill>
                  <a:srgbClr val="000000"/>
                </a:solidFill>
                <a:effectLst/>
                <a:uFillTx/>
                <a:latin typeface="Arial"/>
              </a:rPr>
              <a:t>Team Name: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TextBox 1"/>
          <p:cNvSpPr/>
          <p:nvPr/>
        </p:nvSpPr>
        <p:spPr>
          <a:xfrm>
            <a:off x="285120" y="1727280"/>
            <a:ext cx="7101000" cy="571680"/>
          </a:xfrm>
          <a:prstGeom prst="rect">
            <a:avLst/>
          </a:prstGeom>
          <a:noFill/>
          <a:ln w="0">
            <a:noFill/>
          </a:ln>
        </p:spPr>
        <p:style>
          <a:lnRef idx="0"/>
          <a:fillRef idx="0"/>
          <a:effectRef idx="0"/>
          <a:fontRef idx="minor"/>
        </p:style>
        <p:txBody>
          <a:bodyPr lIns="0" tIns="0" rIns="0" bIns="0" anchor="t">
            <a:noAutofit/>
          </a:bodyPr>
          <a:p>
            <a:pPr defTabSz="457200">
              <a:lnSpc>
                <a:spcPts val="1585"/>
              </a:lnSpc>
            </a:pPr>
            <a:r>
              <a:rPr lang="en-US" sz="1200" b="1" u="none" strike="noStrike">
                <a:solidFill>
                  <a:srgbClr val="000000"/>
                </a:solidFill>
                <a:effectLst/>
                <a:uFillTx/>
                <a:latin typeface="Arial"/>
              </a:rPr>
              <a:t>Purpose:</a:t>
            </a:r>
            <a:r>
              <a:rPr lang="en-US" sz="1200" b="0" u="none" strike="noStrike">
                <a:solidFill>
                  <a:srgbClr val="000000"/>
                </a:solidFill>
                <a:effectLst/>
                <a:uFillTx/>
                <a:latin typeface="Arial"/>
              </a:rPr>
              <a:t> This guide offers a template for teams to capture essential information. It aims to help you move from week to week, completing essential exercises to deliver an innovative, user-centric solution at the end of week 10.</a:t>
            </a:r>
            <a:endParaRPr lang="en-US" sz="1200" b="0" u="none" strike="noStrike">
              <a:solidFill>
                <a:srgbClr val="000000"/>
              </a:solidFill>
              <a:effectLst/>
              <a:uFillTx/>
              <a:latin typeface="Arial"/>
            </a:endParaRPr>
          </a:p>
        </p:txBody>
      </p:sp>
      <p:sp>
        <p:nvSpPr>
          <p:cNvPr id="553" name="TextBox 2"/>
          <p:cNvSpPr/>
          <p:nvPr/>
        </p:nvSpPr>
        <p:spPr>
          <a:xfrm>
            <a:off x="285120" y="2532240"/>
            <a:ext cx="6801480" cy="18396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1" u="none" strike="noStrike">
                <a:solidFill>
                  <a:srgbClr val="000000"/>
                </a:solidFill>
                <a:effectLst/>
                <a:uFillTx/>
                <a:latin typeface="Arial"/>
              </a:rPr>
              <a:t>Important Notes:</a:t>
            </a:r>
            <a:endParaRPr lang="en-US" sz="1200" b="0" u="none" strike="noStrike">
              <a:solidFill>
                <a:srgbClr val="000000"/>
              </a:solidFill>
              <a:effectLst/>
              <a:uFillTx/>
              <a:latin typeface="Arial"/>
            </a:endParaRPr>
          </a:p>
          <a:p>
            <a:pPr defTabSz="457200">
              <a:lnSpc>
                <a:spcPts val="1843"/>
              </a:lnSpc>
              <a:spcBef>
                <a:spcPts val="136"/>
              </a:spcBef>
            </a:pPr>
            <a:r>
              <a:rPr lang="en-US" sz="1600" b="1" u="none" strike="noStrike">
                <a:solidFill>
                  <a:srgbClr val="FF0000"/>
                </a:solidFill>
                <a:effectLst/>
                <a:uFillTx/>
                <a:latin typeface="Arial"/>
              </a:rPr>
              <a:t>!!</a:t>
            </a:r>
            <a:r>
              <a:rPr lang="en-US" sz="1200" b="0" u="none" strike="noStrike">
                <a:solidFill>
                  <a:srgbClr val="000000"/>
                </a:solidFill>
                <a:effectLst/>
                <a:uFillTx/>
                <a:latin typeface="Arial"/>
              </a:rPr>
              <a:t>Each slide has an indication of by when we recommend that you complete these assignments – </a:t>
            </a:r>
            <a:endParaRPr lang="en-US" sz="1200" b="0" u="none" strike="noStrike">
              <a:solidFill>
                <a:srgbClr val="000000"/>
              </a:solidFill>
              <a:effectLst/>
              <a:uFillTx/>
              <a:latin typeface="Arial"/>
            </a:endParaRPr>
          </a:p>
          <a:p>
            <a:pPr defTabSz="457200">
              <a:lnSpc>
                <a:spcPts val="1380"/>
              </a:lnSpc>
              <a:spcBef>
                <a:spcPts val="334"/>
              </a:spcBef>
            </a:pPr>
            <a:r>
              <a:rPr lang="en-US" sz="1200" b="0" u="none" strike="noStrike">
                <a:solidFill>
                  <a:srgbClr val="000000"/>
                </a:solidFill>
                <a:effectLst/>
                <a:uFillTx/>
                <a:latin typeface="Arial"/>
              </a:rPr>
              <a:t>however, you are free to advance or delay work according to your schedule.</a:t>
            </a:r>
            <a:endParaRPr lang="en-US" sz="1200" b="0" u="none" strike="noStrike">
              <a:solidFill>
                <a:srgbClr val="000000"/>
              </a:solidFill>
              <a:effectLst/>
              <a:uFillTx/>
              <a:latin typeface="Arial"/>
            </a:endParaRPr>
          </a:p>
          <a:p>
            <a:pPr defTabSz="457200">
              <a:lnSpc>
                <a:spcPts val="1843"/>
              </a:lnSpc>
              <a:spcBef>
                <a:spcPts val="139"/>
              </a:spcBef>
            </a:pPr>
            <a:r>
              <a:rPr lang="en-US" sz="1600" b="1" u="none" strike="noStrike">
                <a:solidFill>
                  <a:srgbClr val="FF0000"/>
                </a:solidFill>
                <a:effectLst/>
                <a:uFillTx/>
                <a:latin typeface="Arial"/>
              </a:rPr>
              <a:t>!!</a:t>
            </a:r>
            <a:r>
              <a:rPr lang="en-US" sz="1200" b="0" u="none" strike="noStrike">
                <a:solidFill>
                  <a:srgbClr val="000000"/>
                </a:solidFill>
                <a:effectLst/>
                <a:uFillTx/>
                <a:latin typeface="Arial"/>
              </a:rPr>
              <a:t>Teams are expected to organized themselves, share tasks, find time to meet and complete the </a:t>
            </a:r>
            <a:endParaRPr lang="en-US" sz="1200" b="0" u="none" strike="noStrike">
              <a:solidFill>
                <a:srgbClr val="000000"/>
              </a:solidFill>
              <a:effectLst/>
              <a:uFillTx/>
              <a:latin typeface="Arial"/>
            </a:endParaRPr>
          </a:p>
          <a:p>
            <a:pPr defTabSz="457200">
              <a:lnSpc>
                <a:spcPts val="1378"/>
              </a:lnSpc>
              <a:spcBef>
                <a:spcPts val="334"/>
              </a:spcBef>
            </a:pPr>
            <a:r>
              <a:rPr lang="en-US" sz="1200" b="0" u="none" strike="noStrike">
                <a:solidFill>
                  <a:srgbClr val="000000"/>
                </a:solidFill>
                <a:effectLst/>
                <a:uFillTx/>
                <a:latin typeface="Arial"/>
              </a:rPr>
              <a:t>assignments and exercises.</a:t>
            </a:r>
            <a:endParaRPr lang="en-US" sz="1200" b="0" u="none" strike="noStrike">
              <a:solidFill>
                <a:srgbClr val="000000"/>
              </a:solidFill>
              <a:effectLst/>
              <a:uFillTx/>
              <a:latin typeface="Arial"/>
            </a:endParaRPr>
          </a:p>
          <a:p>
            <a:pPr defTabSz="457200">
              <a:lnSpc>
                <a:spcPts val="1843"/>
              </a:lnSpc>
              <a:spcBef>
                <a:spcPts val="136"/>
              </a:spcBef>
            </a:pPr>
            <a:r>
              <a:rPr lang="en-US" sz="1600" b="1" u="none" strike="noStrike">
                <a:solidFill>
                  <a:srgbClr val="FF0000"/>
                </a:solidFill>
                <a:effectLst/>
                <a:uFillTx/>
                <a:latin typeface="Arial"/>
              </a:rPr>
              <a:t>!!</a:t>
            </a:r>
            <a:r>
              <a:rPr lang="en-US" sz="1200" b="0" u="none" strike="noStrike">
                <a:solidFill>
                  <a:srgbClr val="000000"/>
                </a:solidFill>
                <a:effectLst/>
                <a:uFillTx/>
                <a:latin typeface="Arial"/>
              </a:rPr>
              <a:t> Your hard deadline is the end of week 10 – by then, your team must submit a functioning MVP, </a:t>
            </a:r>
            <a:endParaRPr lang="en-US" sz="1200" b="0" u="none" strike="noStrike">
              <a:solidFill>
                <a:srgbClr val="000000"/>
              </a:solidFill>
              <a:effectLst/>
              <a:uFillTx/>
              <a:latin typeface="Arial"/>
            </a:endParaRPr>
          </a:p>
          <a:p>
            <a:pPr defTabSz="457200">
              <a:lnSpc>
                <a:spcPts val="1378"/>
              </a:lnSpc>
              <a:spcBef>
                <a:spcPts val="334"/>
              </a:spcBef>
            </a:pPr>
            <a:r>
              <a:rPr lang="en-US" sz="1200" b="0" u="none" strike="noStrike">
                <a:solidFill>
                  <a:srgbClr val="000000"/>
                </a:solidFill>
                <a:effectLst/>
                <a:uFillTx/>
                <a:latin typeface="Arial"/>
              </a:rPr>
              <a:t>project documentation and solution demonstration.</a:t>
            </a:r>
            <a:endParaRPr lang="en-US" sz="1200" b="0" u="none" strike="noStrike">
              <a:solidFill>
                <a:srgbClr val="000000"/>
              </a:solidFill>
              <a:effectLst/>
              <a:uFillTx/>
              <a:latin typeface="Arial"/>
            </a:endParaRPr>
          </a:p>
          <a:p>
            <a:pPr defTabSz="457200">
              <a:lnSpc>
                <a:spcPts val="1843"/>
              </a:lnSpc>
              <a:spcBef>
                <a:spcPts val="136"/>
              </a:spcBef>
            </a:pPr>
            <a:r>
              <a:rPr lang="en-US" sz="1600" b="1" u="none" strike="noStrike">
                <a:solidFill>
                  <a:srgbClr val="FF0000"/>
                </a:solidFill>
                <a:effectLst/>
                <a:uFillTx/>
                <a:latin typeface="Arial"/>
              </a:rPr>
              <a:t>!!</a:t>
            </a:r>
            <a:r>
              <a:rPr lang="en-US" sz="1200" b="0" u="none" strike="noStrike">
                <a:solidFill>
                  <a:srgbClr val="000000"/>
                </a:solidFill>
                <a:effectLst/>
                <a:uFillTx/>
                <a:latin typeface="Arial"/>
              </a:rPr>
              <a:t> Submit your weekly deliverables in the forms:</a:t>
            </a:r>
            <a:r>
              <a:rPr lang="en-US" sz="1200" b="0" u="sng" strike="noStrike">
                <a:solidFill>
                  <a:srgbClr val="0000FF"/>
                </a:solidFill>
                <a:effectLst/>
                <a:uFillTx/>
                <a:latin typeface="Arial"/>
                <a:hlinkClick r:id="rId1"/>
              </a:rPr>
              <a:t> https://wkf.ms/4sDluV8</a:t>
            </a:r>
            <a:endParaRPr lang="en-US" sz="1200" b="0" u="none" strike="noStrike">
              <a:solidFill>
                <a:srgbClr val="000000"/>
              </a:solidFill>
              <a:effectLst/>
              <a:uFillTx/>
              <a:latin typeface="Arial"/>
            </a:endParaRPr>
          </a:p>
        </p:txBody>
      </p:sp>
      <p:sp>
        <p:nvSpPr>
          <p:cNvPr id="554" name="Rectangle 3"/>
          <p:cNvSpPr/>
          <p:nvPr/>
        </p:nvSpPr>
        <p:spPr>
          <a:xfrm>
            <a:off x="3563280" y="4345200"/>
            <a:ext cx="1548360" cy="10800"/>
          </a:xfrm>
          <a:prstGeom prst="rect">
            <a:avLst/>
          </a:prstGeom>
          <a:solidFill>
            <a:srgbClr val="0F62FE"/>
          </a:solidFill>
          <a:ln w="0">
            <a:noFill/>
          </a:ln>
        </p:spPr>
        <p:style>
          <a:lnRef idx="0"/>
          <a:fillRef idx="0"/>
          <a:effectRef idx="0"/>
          <a:fontRef idx="minor"/>
        </p:style>
        <p:txBody>
          <a:bodyPr lIns="90000" tIns="-33480" rIns="90000" bIns="-33480" anchor="ctr">
            <a:noAutofit/>
          </a:bodyPr>
          <a:p>
            <a:pPr/>
            <a:endParaRPr lang="en-US" sz="1800" b="0" u="none" strike="noStrike">
              <a:solidFill>
                <a:schemeClr val="dk1"/>
              </a:solidFill>
              <a:effectLst/>
              <a:uFillTx/>
              <a:latin typeface="Calibri"/>
            </a:endParaRPr>
          </a:p>
        </p:txBody>
      </p:sp>
      <p:sp>
        <p:nvSpPr>
          <p:cNvPr id="555" name="TextBox 4"/>
          <p:cNvSpPr/>
          <p:nvPr/>
        </p:nvSpPr>
        <p:spPr>
          <a:xfrm>
            <a:off x="285120" y="4610880"/>
            <a:ext cx="40248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1" u="none" strike="noStrike">
                <a:solidFill>
                  <a:srgbClr val="000000"/>
                </a:solidFill>
                <a:effectLst/>
                <a:uFillTx/>
                <a:latin typeface="Arial"/>
              </a:rPr>
              <a:t>Tips:</a:t>
            </a:r>
            <a:endParaRPr lang="en-US" sz="1200" b="0" u="none" strike="noStrike">
              <a:solidFill>
                <a:srgbClr val="000000"/>
              </a:solidFill>
              <a:effectLst/>
              <a:uFillTx/>
              <a:latin typeface="Arial"/>
            </a:endParaRPr>
          </a:p>
        </p:txBody>
      </p:sp>
      <p:pic>
        <p:nvPicPr>
          <p:cNvPr id="556" name="Picture 5" descr="image.png"/>
          <p:cNvPicPr/>
          <p:nvPr/>
        </p:nvPicPr>
        <p:blipFill>
          <a:blip r:embed="rId2"/>
          <a:stretch/>
        </p:blipFill>
        <p:spPr>
          <a:xfrm>
            <a:off x="192600" y="4754880"/>
            <a:ext cx="392040" cy="520200"/>
          </a:xfrm>
          <a:prstGeom prst="rect">
            <a:avLst/>
          </a:prstGeom>
          <a:noFill/>
          <a:ln w="0">
            <a:noFill/>
          </a:ln>
        </p:spPr>
      </p:pic>
      <p:sp>
        <p:nvSpPr>
          <p:cNvPr id="557" name="TextBox 6"/>
          <p:cNvSpPr/>
          <p:nvPr/>
        </p:nvSpPr>
        <p:spPr>
          <a:xfrm>
            <a:off x="285120" y="4812120"/>
            <a:ext cx="6995160" cy="571320"/>
          </a:xfrm>
          <a:prstGeom prst="rect">
            <a:avLst/>
          </a:prstGeom>
          <a:noFill/>
          <a:ln w="0">
            <a:noFill/>
          </a:ln>
        </p:spPr>
        <p:style>
          <a:lnRef idx="0"/>
          <a:fillRef idx="0"/>
          <a:effectRef idx="0"/>
          <a:fontRef idx="minor"/>
        </p:style>
        <p:txBody>
          <a:bodyPr lIns="0" tIns="0" rIns="0" bIns="0" anchor="t">
            <a:noAutofit/>
          </a:bodyPr>
          <a:p>
            <a:pPr marL="209520" defTabSz="457200">
              <a:lnSpc>
                <a:spcPts val="1378"/>
              </a:lnSpc>
              <a:tabLst>
                <a:tab pos="0" algn="l"/>
              </a:tabLst>
            </a:pPr>
            <a:r>
              <a:rPr lang="en-US" sz="1200" b="0" u="none" strike="noStrike">
                <a:solidFill>
                  <a:srgbClr val="000000"/>
                </a:solidFill>
                <a:effectLst/>
                <a:uFillTx/>
                <a:latin typeface="Arial"/>
              </a:rPr>
              <a:t> Keep language user-focused, avoid technical jargon, and write in short, clear sentences.</a:t>
            </a:r>
            <a:endParaRPr lang="en-US" sz="1200" b="0" u="none" strike="noStrike">
              <a:solidFill>
                <a:srgbClr val="000000"/>
              </a:solidFill>
              <a:effectLst/>
              <a:uFillTx/>
              <a:latin typeface="Arial"/>
            </a:endParaRPr>
          </a:p>
          <a:p>
            <a:pPr marL="209520" defTabSz="457200">
              <a:lnSpc>
                <a:spcPts val="1378"/>
              </a:lnSpc>
              <a:spcBef>
                <a:spcPts val="204"/>
              </a:spcBef>
              <a:tabLst>
                <a:tab pos="0" algn="l"/>
              </a:tabLst>
            </a:pPr>
            <a:r>
              <a:rPr lang="en-US" sz="1200" b="0" u="none" strike="noStrike">
                <a:solidFill>
                  <a:srgbClr val="000000"/>
                </a:solidFill>
                <a:effectLst/>
                <a:uFillTx/>
                <a:latin typeface="Arial"/>
              </a:rPr>
              <a:t> Use images and illustrations – one image says more than 1000 words. Copy here images of your </a:t>
            </a:r>
            <a:endParaRPr lang="en-US" sz="1200" b="0" u="none" strike="noStrike">
              <a:solidFill>
                <a:srgbClr val="000000"/>
              </a:solidFill>
              <a:effectLst/>
              <a:uFillTx/>
              <a:latin typeface="Arial"/>
            </a:endParaRPr>
          </a:p>
          <a:p>
            <a:pPr defTabSz="457200">
              <a:lnSpc>
                <a:spcPts val="1378"/>
              </a:lnSpc>
              <a:spcBef>
                <a:spcPts val="204"/>
              </a:spcBef>
              <a:tabLst>
                <a:tab pos="0" algn="l"/>
              </a:tabLst>
            </a:pPr>
            <a:r>
              <a:rPr lang="en-US" sz="1200" b="0" u="none" strike="noStrike">
                <a:solidFill>
                  <a:srgbClr val="000000"/>
                </a:solidFill>
                <a:effectLst/>
                <a:uFillTx/>
                <a:latin typeface="Arial"/>
              </a:rPr>
              <a:t>boards, designs, etc. or use illustrative images.</a:t>
            </a:r>
            <a:endParaRPr lang="en-US" sz="1200" b="0" u="none" strike="noStrike">
              <a:solidFill>
                <a:srgbClr val="000000"/>
              </a:solidFill>
              <a:effectLst/>
              <a:uFillTx/>
              <a:latin typeface="Arial"/>
            </a:endParaRPr>
          </a:p>
        </p:txBody>
      </p:sp>
      <p:pic>
        <p:nvPicPr>
          <p:cNvPr id="558" name="Picture 7" descr="image.png"/>
          <p:cNvPicPr/>
          <p:nvPr/>
        </p:nvPicPr>
        <p:blipFill>
          <a:blip r:embed="rId3"/>
          <a:stretch/>
        </p:blipFill>
        <p:spPr>
          <a:xfrm>
            <a:off x="192600" y="5358600"/>
            <a:ext cx="392040" cy="318960"/>
          </a:xfrm>
          <a:prstGeom prst="rect">
            <a:avLst/>
          </a:prstGeom>
          <a:noFill/>
          <a:ln w="0">
            <a:noFill/>
          </a:ln>
        </p:spPr>
      </p:pic>
      <p:sp>
        <p:nvSpPr>
          <p:cNvPr id="559" name="TextBox 8"/>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26</a:t>
            </a:r>
            <a:endParaRPr lang="en-US" sz="800" b="0" u="none" strike="noStrike">
              <a:solidFill>
                <a:srgbClr val="000000"/>
              </a:solidFill>
              <a:effectLst/>
              <a:uFillTx/>
              <a:latin typeface="Arial"/>
            </a:endParaRPr>
          </a:p>
        </p:txBody>
      </p:sp>
      <p:sp>
        <p:nvSpPr>
          <p:cNvPr id="560" name="TextBox 9"/>
          <p:cNvSpPr/>
          <p:nvPr/>
        </p:nvSpPr>
        <p:spPr>
          <a:xfrm>
            <a:off x="288000" y="300240"/>
            <a:ext cx="20048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How to Use This Guide</a:t>
            </a:r>
            <a:endParaRPr lang="en-US" sz="1400" b="0" u="none" strike="noStrike">
              <a:solidFill>
                <a:srgbClr val="000000"/>
              </a:solidFill>
              <a:effectLst/>
              <a:uFillTx/>
              <a:latin typeface="Arial"/>
            </a:endParaRPr>
          </a:p>
        </p:txBody>
      </p:sp>
      <p:sp>
        <p:nvSpPr>
          <p:cNvPr id="561" name="TextBox 10"/>
          <p:cNvSpPr/>
          <p:nvPr/>
        </p:nvSpPr>
        <p:spPr>
          <a:xfrm>
            <a:off x="494640" y="5415480"/>
            <a:ext cx="56048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00000"/>
                </a:solidFill>
                <a:effectLst/>
                <a:uFillTx/>
                <a:latin typeface="Arial"/>
              </a:rPr>
              <a:t> Customize according to your needs – feel free to change or adapt the templates.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TextBox 1"/>
          <p:cNvSpPr/>
          <p:nvPr/>
        </p:nvSpPr>
        <p:spPr>
          <a:xfrm>
            <a:off x="288000" y="303120"/>
            <a:ext cx="10490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Team Name</a:t>
            </a:r>
            <a:endParaRPr lang="en-US" sz="1400" b="0" u="none" strike="noStrike">
              <a:solidFill>
                <a:srgbClr val="000000"/>
              </a:solidFill>
              <a:effectLst/>
              <a:uFillTx/>
              <a:latin typeface="Arial"/>
            </a:endParaRPr>
          </a:p>
        </p:txBody>
      </p:sp>
      <p:sp>
        <p:nvSpPr>
          <p:cNvPr id="563" name="Rectangle 2"/>
          <p:cNvSpPr/>
          <p:nvPr/>
        </p:nvSpPr>
        <p:spPr>
          <a:xfrm>
            <a:off x="288000" y="1333440"/>
            <a:ext cx="1235880" cy="1237320"/>
          </a:xfrm>
          <a:prstGeom prst="rect">
            <a:avLst/>
          </a:prstGeom>
          <a:solidFill>
            <a:srgbClr val="E0E0E0"/>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564" name="TextBox 3"/>
          <p:cNvSpPr/>
          <p:nvPr/>
        </p:nvSpPr>
        <p:spPr>
          <a:xfrm>
            <a:off x="1714320" y="1348920"/>
            <a:ext cx="2526120" cy="90144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Firstname Lastname</a:t>
            </a:r>
            <a:endParaRPr lang="en-US" sz="1400" b="0" u="none" strike="noStrike">
              <a:solidFill>
                <a:srgbClr val="000000"/>
              </a:solidFill>
              <a:effectLst/>
              <a:uFillTx/>
              <a:latin typeface="Arial"/>
            </a:endParaRPr>
          </a:p>
          <a:p>
            <a:pPr defTabSz="457200">
              <a:lnSpc>
                <a:spcPts val="1607"/>
              </a:lnSpc>
              <a:spcBef>
                <a:spcPts val="241"/>
              </a:spcBef>
            </a:pPr>
            <a:r>
              <a:rPr lang="en-US" sz="1400" b="0" u="none" strike="noStrike">
                <a:solidFill>
                  <a:srgbClr val="000000"/>
                </a:solidFill>
                <a:effectLst/>
                <a:uFillTx/>
                <a:latin typeface="Arial"/>
              </a:rPr>
              <a:t>Team Role</a:t>
            </a:r>
            <a:endParaRPr lang="en-US" sz="1400" b="0" u="none" strike="noStrike">
              <a:solidFill>
                <a:srgbClr val="000000"/>
              </a:solidFill>
              <a:effectLst/>
              <a:uFillTx/>
              <a:latin typeface="Arial"/>
            </a:endParaRPr>
          </a:p>
          <a:p>
            <a:pPr defTabSz="457200">
              <a:lnSpc>
                <a:spcPts val="1607"/>
              </a:lnSpc>
              <a:spcBef>
                <a:spcPts val="241"/>
              </a:spcBef>
            </a:pPr>
            <a:r>
              <a:rPr lang="en-US" sz="1400" b="0" u="none" strike="noStrike">
                <a:solidFill>
                  <a:srgbClr val="000000"/>
                </a:solidFill>
                <a:effectLst/>
                <a:uFillTx/>
                <a:latin typeface="Arial"/>
              </a:rPr>
              <a:t>—</a:t>
            </a:r>
            <a:endParaRPr lang="en-US" sz="1400" b="0" u="none" strike="noStrike">
              <a:solidFill>
                <a:srgbClr val="000000"/>
              </a:solidFill>
              <a:effectLst/>
              <a:uFillTx/>
              <a:latin typeface="Arial"/>
            </a:endParaRPr>
          </a:p>
          <a:p>
            <a:pPr defTabSz="457200">
              <a:lnSpc>
                <a:spcPts val="1607"/>
              </a:lnSpc>
              <a:spcBef>
                <a:spcPts val="241"/>
              </a:spcBef>
            </a:pPr>
            <a:r>
              <a:rPr lang="en-US" sz="1400" b="0" u="sng" strike="noStrike">
                <a:solidFill>
                  <a:srgbClr val="0000FF"/>
                </a:solidFill>
                <a:effectLst/>
                <a:uFillTx/>
                <a:latin typeface="Arial"/>
                <a:hlinkClick r:id="rId1"/>
              </a:rPr>
              <a:t>email.address@email.com/edu</a:t>
            </a:r>
            <a:endParaRPr lang="en-US" sz="1400" b="0" u="none" strike="noStrike">
              <a:solidFill>
                <a:srgbClr val="000000"/>
              </a:solidFill>
              <a:effectLst/>
              <a:uFillTx/>
              <a:latin typeface="Arial"/>
            </a:endParaRPr>
          </a:p>
        </p:txBody>
      </p:sp>
      <p:sp>
        <p:nvSpPr>
          <p:cNvPr id="565" name="Rectangle 4"/>
          <p:cNvSpPr/>
          <p:nvPr/>
        </p:nvSpPr>
        <p:spPr>
          <a:xfrm>
            <a:off x="1714320" y="2232360"/>
            <a:ext cx="2445840" cy="12240"/>
          </a:xfrm>
          <a:prstGeom prst="rect">
            <a:avLst/>
          </a:prstGeom>
          <a:solidFill>
            <a:srgbClr val="0F62FE"/>
          </a:solidFill>
          <a:ln w="0">
            <a:noFill/>
          </a:ln>
        </p:spPr>
        <p:style>
          <a:lnRef idx="0"/>
          <a:fillRef idx="0"/>
          <a:effectRef idx="0"/>
          <a:fontRef idx="minor"/>
        </p:style>
        <p:txBody>
          <a:bodyPr lIns="90000" tIns="-32040" rIns="90000" bIns="-32040" anchor="ctr">
            <a:noAutofit/>
          </a:bodyPr>
          <a:p>
            <a:pPr/>
            <a:endParaRPr lang="en-US" sz="1800" b="0" u="none" strike="noStrike">
              <a:solidFill>
                <a:schemeClr val="dk1"/>
              </a:solidFill>
              <a:effectLst/>
              <a:uFillTx/>
              <a:latin typeface="Calibri"/>
            </a:endParaRPr>
          </a:p>
        </p:txBody>
      </p:sp>
      <p:sp>
        <p:nvSpPr>
          <p:cNvPr id="566" name="Rectangle 5"/>
          <p:cNvSpPr/>
          <p:nvPr/>
        </p:nvSpPr>
        <p:spPr>
          <a:xfrm>
            <a:off x="288000" y="3060360"/>
            <a:ext cx="1235880" cy="1237320"/>
          </a:xfrm>
          <a:prstGeom prst="rect">
            <a:avLst/>
          </a:prstGeom>
          <a:solidFill>
            <a:srgbClr val="E0E0E0"/>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567" name="Rectangle 6"/>
          <p:cNvSpPr/>
          <p:nvPr/>
        </p:nvSpPr>
        <p:spPr>
          <a:xfrm>
            <a:off x="288000" y="4762080"/>
            <a:ext cx="1235880" cy="1237320"/>
          </a:xfrm>
          <a:prstGeom prst="rect">
            <a:avLst/>
          </a:prstGeom>
          <a:solidFill>
            <a:srgbClr val="E0E0E0"/>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568" name="Rectangle 7"/>
          <p:cNvSpPr/>
          <p:nvPr/>
        </p:nvSpPr>
        <p:spPr>
          <a:xfrm>
            <a:off x="6377760" y="1333440"/>
            <a:ext cx="1235880" cy="1237320"/>
          </a:xfrm>
          <a:prstGeom prst="rect">
            <a:avLst/>
          </a:prstGeom>
          <a:solidFill>
            <a:srgbClr val="E0E0E0"/>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569" name="Rectangle 8"/>
          <p:cNvSpPr/>
          <p:nvPr/>
        </p:nvSpPr>
        <p:spPr>
          <a:xfrm>
            <a:off x="6377760" y="3060360"/>
            <a:ext cx="1235880" cy="1237320"/>
          </a:xfrm>
          <a:prstGeom prst="rect">
            <a:avLst/>
          </a:prstGeom>
          <a:solidFill>
            <a:srgbClr val="E0E0E0"/>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570" name="TextBox 9"/>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27</a:t>
            </a:r>
            <a:endParaRPr lang="en-US" sz="800" b="0" u="none" strike="noStrike">
              <a:solidFill>
                <a:srgbClr val="000000"/>
              </a:solidFill>
              <a:effectLst/>
              <a:uFillTx/>
              <a:latin typeface="Arial"/>
            </a:endParaRPr>
          </a:p>
        </p:txBody>
      </p:sp>
      <p:sp>
        <p:nvSpPr>
          <p:cNvPr id="571" name="TextBox 10"/>
          <p:cNvSpPr/>
          <p:nvPr/>
        </p:nvSpPr>
        <p:spPr>
          <a:xfrm>
            <a:off x="1714320" y="3076200"/>
            <a:ext cx="2526480" cy="9010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Firstname Lastname</a:t>
            </a:r>
            <a:endParaRPr lang="en-US" sz="1400" b="0" u="none" strike="noStrike">
              <a:solidFill>
                <a:srgbClr val="000000"/>
              </a:solidFill>
              <a:effectLst/>
              <a:uFillTx/>
              <a:latin typeface="Arial"/>
            </a:endParaRPr>
          </a:p>
          <a:p>
            <a:pPr defTabSz="457200">
              <a:lnSpc>
                <a:spcPts val="1607"/>
              </a:lnSpc>
              <a:spcBef>
                <a:spcPts val="241"/>
              </a:spcBef>
            </a:pPr>
            <a:r>
              <a:rPr lang="en-US" sz="1400" b="0" u="none" strike="noStrike">
                <a:solidFill>
                  <a:srgbClr val="000000"/>
                </a:solidFill>
                <a:effectLst/>
                <a:uFillTx/>
                <a:latin typeface="Arial"/>
              </a:rPr>
              <a:t>Team Role</a:t>
            </a:r>
            <a:endParaRPr lang="en-US" sz="1400" b="0" u="none" strike="noStrike">
              <a:solidFill>
                <a:srgbClr val="000000"/>
              </a:solidFill>
              <a:effectLst/>
              <a:uFillTx/>
              <a:latin typeface="Arial"/>
            </a:endParaRPr>
          </a:p>
          <a:p>
            <a:pPr defTabSz="457200">
              <a:lnSpc>
                <a:spcPts val="1607"/>
              </a:lnSpc>
              <a:spcBef>
                <a:spcPts val="241"/>
              </a:spcBef>
            </a:pPr>
            <a:r>
              <a:rPr lang="en-US" sz="1400" b="0" u="none" strike="noStrike">
                <a:solidFill>
                  <a:srgbClr val="000000"/>
                </a:solidFill>
                <a:effectLst/>
                <a:uFillTx/>
                <a:latin typeface="Arial"/>
              </a:rPr>
              <a:t>—</a:t>
            </a:r>
            <a:endParaRPr lang="en-US" sz="1400" b="0" u="none" strike="noStrike">
              <a:solidFill>
                <a:srgbClr val="000000"/>
              </a:solidFill>
              <a:effectLst/>
              <a:uFillTx/>
              <a:latin typeface="Arial"/>
            </a:endParaRPr>
          </a:p>
          <a:p>
            <a:pPr defTabSz="457200">
              <a:lnSpc>
                <a:spcPts val="1607"/>
              </a:lnSpc>
              <a:spcBef>
                <a:spcPts val="238"/>
              </a:spcBef>
            </a:pPr>
            <a:r>
              <a:rPr lang="en-US" sz="1400" b="0" u="sng" strike="noStrike">
                <a:solidFill>
                  <a:srgbClr val="0000FF"/>
                </a:solidFill>
                <a:effectLst/>
                <a:uFillTx/>
                <a:latin typeface="Arial"/>
                <a:hlinkClick r:id="rId2"/>
              </a:rPr>
              <a:t>email.address@email.com/edu</a:t>
            </a:r>
            <a:endParaRPr lang="en-US" sz="1400" b="0" u="none" strike="noStrike">
              <a:solidFill>
                <a:srgbClr val="000000"/>
              </a:solidFill>
              <a:effectLst/>
              <a:uFillTx/>
              <a:latin typeface="Arial"/>
            </a:endParaRPr>
          </a:p>
        </p:txBody>
      </p:sp>
      <p:sp>
        <p:nvSpPr>
          <p:cNvPr id="572" name="Rectangle 11"/>
          <p:cNvSpPr/>
          <p:nvPr/>
        </p:nvSpPr>
        <p:spPr>
          <a:xfrm>
            <a:off x="1714320" y="3959280"/>
            <a:ext cx="2445840" cy="12240"/>
          </a:xfrm>
          <a:prstGeom prst="rect">
            <a:avLst/>
          </a:prstGeom>
          <a:solidFill>
            <a:srgbClr val="0F62FE"/>
          </a:solidFill>
          <a:ln w="0">
            <a:noFill/>
          </a:ln>
        </p:spPr>
        <p:style>
          <a:lnRef idx="0"/>
          <a:fillRef idx="0"/>
          <a:effectRef idx="0"/>
          <a:fontRef idx="minor"/>
        </p:style>
        <p:txBody>
          <a:bodyPr lIns="90000" tIns="-32040" rIns="90000" bIns="-32040" anchor="ctr">
            <a:noAutofit/>
          </a:bodyPr>
          <a:p>
            <a:pPr/>
            <a:endParaRPr lang="en-US" sz="1800" b="0" u="none" strike="noStrike">
              <a:solidFill>
                <a:schemeClr val="dk1"/>
              </a:solidFill>
              <a:effectLst/>
              <a:uFillTx/>
              <a:latin typeface="Calibri"/>
            </a:endParaRPr>
          </a:p>
        </p:txBody>
      </p:sp>
      <p:sp>
        <p:nvSpPr>
          <p:cNvPr id="573" name="TextBox 12"/>
          <p:cNvSpPr/>
          <p:nvPr/>
        </p:nvSpPr>
        <p:spPr>
          <a:xfrm>
            <a:off x="1714320" y="4777920"/>
            <a:ext cx="2526120" cy="9010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Firstname Lastname</a:t>
            </a:r>
            <a:endParaRPr lang="en-US" sz="1400" b="0" u="none" strike="noStrike">
              <a:solidFill>
                <a:srgbClr val="000000"/>
              </a:solidFill>
              <a:effectLst/>
              <a:uFillTx/>
              <a:latin typeface="Arial"/>
            </a:endParaRPr>
          </a:p>
          <a:p>
            <a:pPr defTabSz="457200">
              <a:lnSpc>
                <a:spcPts val="1607"/>
              </a:lnSpc>
              <a:spcBef>
                <a:spcPts val="241"/>
              </a:spcBef>
            </a:pPr>
            <a:r>
              <a:rPr lang="en-US" sz="1400" b="0" u="none" strike="noStrike">
                <a:solidFill>
                  <a:srgbClr val="000000"/>
                </a:solidFill>
                <a:effectLst/>
                <a:uFillTx/>
                <a:latin typeface="Arial"/>
              </a:rPr>
              <a:t>Team Role</a:t>
            </a:r>
            <a:endParaRPr lang="en-US" sz="1400" b="0" u="none" strike="noStrike">
              <a:solidFill>
                <a:srgbClr val="000000"/>
              </a:solidFill>
              <a:effectLst/>
              <a:uFillTx/>
              <a:latin typeface="Arial"/>
            </a:endParaRPr>
          </a:p>
          <a:p>
            <a:pPr defTabSz="457200">
              <a:lnSpc>
                <a:spcPts val="1607"/>
              </a:lnSpc>
              <a:spcBef>
                <a:spcPts val="241"/>
              </a:spcBef>
            </a:pPr>
            <a:r>
              <a:rPr lang="en-US" sz="1400" b="0" u="none" strike="noStrike">
                <a:solidFill>
                  <a:srgbClr val="000000"/>
                </a:solidFill>
                <a:effectLst/>
                <a:uFillTx/>
                <a:latin typeface="Arial"/>
              </a:rPr>
              <a:t>—</a:t>
            </a:r>
            <a:endParaRPr lang="en-US" sz="1400" b="0" u="none" strike="noStrike">
              <a:solidFill>
                <a:srgbClr val="000000"/>
              </a:solidFill>
              <a:effectLst/>
              <a:uFillTx/>
              <a:latin typeface="Arial"/>
            </a:endParaRPr>
          </a:p>
          <a:p>
            <a:pPr defTabSz="457200">
              <a:lnSpc>
                <a:spcPts val="1607"/>
              </a:lnSpc>
              <a:spcBef>
                <a:spcPts val="241"/>
              </a:spcBef>
            </a:pPr>
            <a:r>
              <a:rPr lang="en-US" sz="1400" b="0" u="sng" strike="noStrike">
                <a:solidFill>
                  <a:srgbClr val="0000FF"/>
                </a:solidFill>
                <a:effectLst/>
                <a:uFillTx/>
                <a:latin typeface="Arial"/>
                <a:hlinkClick r:id="rId3"/>
              </a:rPr>
              <a:t>email.address@email.com/edu</a:t>
            </a:r>
            <a:endParaRPr lang="en-US" sz="1400" b="0" u="none" strike="noStrike">
              <a:solidFill>
                <a:srgbClr val="000000"/>
              </a:solidFill>
              <a:effectLst/>
              <a:uFillTx/>
              <a:latin typeface="Arial"/>
            </a:endParaRPr>
          </a:p>
        </p:txBody>
      </p:sp>
      <p:sp>
        <p:nvSpPr>
          <p:cNvPr id="574" name="Rectangle 13"/>
          <p:cNvSpPr/>
          <p:nvPr/>
        </p:nvSpPr>
        <p:spPr>
          <a:xfrm>
            <a:off x="1714320" y="5661000"/>
            <a:ext cx="2445840" cy="12240"/>
          </a:xfrm>
          <a:prstGeom prst="rect">
            <a:avLst/>
          </a:prstGeom>
          <a:solidFill>
            <a:srgbClr val="0F62FE"/>
          </a:solidFill>
          <a:ln w="0">
            <a:noFill/>
          </a:ln>
        </p:spPr>
        <p:style>
          <a:lnRef idx="0"/>
          <a:fillRef idx="0"/>
          <a:effectRef idx="0"/>
          <a:fontRef idx="minor"/>
        </p:style>
        <p:txBody>
          <a:bodyPr lIns="90000" tIns="-32040" rIns="90000" bIns="-32040" anchor="ctr">
            <a:noAutofit/>
          </a:bodyPr>
          <a:p>
            <a:pPr/>
            <a:endParaRPr lang="en-US" sz="1800" b="0" u="none" strike="noStrike">
              <a:solidFill>
                <a:schemeClr val="dk1"/>
              </a:solidFill>
              <a:effectLst/>
              <a:uFillTx/>
              <a:latin typeface="Calibri"/>
            </a:endParaRPr>
          </a:p>
        </p:txBody>
      </p:sp>
      <p:sp>
        <p:nvSpPr>
          <p:cNvPr id="575" name="TextBox 14"/>
          <p:cNvSpPr/>
          <p:nvPr/>
        </p:nvSpPr>
        <p:spPr>
          <a:xfrm>
            <a:off x="7808400" y="3076200"/>
            <a:ext cx="2526480" cy="9010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Firstname Lastname</a:t>
            </a:r>
            <a:endParaRPr lang="en-US" sz="1400" b="0" u="none" strike="noStrike">
              <a:solidFill>
                <a:srgbClr val="000000"/>
              </a:solidFill>
              <a:effectLst/>
              <a:uFillTx/>
              <a:latin typeface="Arial"/>
            </a:endParaRPr>
          </a:p>
          <a:p>
            <a:pPr defTabSz="457200">
              <a:lnSpc>
                <a:spcPts val="1607"/>
              </a:lnSpc>
              <a:spcBef>
                <a:spcPts val="241"/>
              </a:spcBef>
            </a:pPr>
            <a:r>
              <a:rPr lang="en-US" sz="1400" b="0" u="none" strike="noStrike">
                <a:solidFill>
                  <a:srgbClr val="000000"/>
                </a:solidFill>
                <a:effectLst/>
                <a:uFillTx/>
                <a:latin typeface="Arial"/>
              </a:rPr>
              <a:t>Team Role</a:t>
            </a:r>
            <a:endParaRPr lang="en-US" sz="1400" b="0" u="none" strike="noStrike">
              <a:solidFill>
                <a:srgbClr val="000000"/>
              </a:solidFill>
              <a:effectLst/>
              <a:uFillTx/>
              <a:latin typeface="Arial"/>
            </a:endParaRPr>
          </a:p>
          <a:p>
            <a:pPr defTabSz="457200">
              <a:lnSpc>
                <a:spcPts val="1607"/>
              </a:lnSpc>
              <a:spcBef>
                <a:spcPts val="241"/>
              </a:spcBef>
            </a:pPr>
            <a:r>
              <a:rPr lang="en-US" sz="1400" b="0" u="none" strike="noStrike">
                <a:solidFill>
                  <a:srgbClr val="000000"/>
                </a:solidFill>
                <a:effectLst/>
                <a:uFillTx/>
                <a:latin typeface="Arial"/>
              </a:rPr>
              <a:t>—</a:t>
            </a:r>
            <a:endParaRPr lang="en-US" sz="1400" b="0" u="none" strike="noStrike">
              <a:solidFill>
                <a:srgbClr val="000000"/>
              </a:solidFill>
              <a:effectLst/>
              <a:uFillTx/>
              <a:latin typeface="Arial"/>
            </a:endParaRPr>
          </a:p>
          <a:p>
            <a:pPr defTabSz="457200">
              <a:lnSpc>
                <a:spcPts val="1607"/>
              </a:lnSpc>
              <a:spcBef>
                <a:spcPts val="238"/>
              </a:spcBef>
            </a:pPr>
            <a:r>
              <a:rPr lang="en-US" sz="1400" b="0" u="sng" strike="noStrike">
                <a:solidFill>
                  <a:srgbClr val="0000FF"/>
                </a:solidFill>
                <a:effectLst/>
                <a:uFillTx/>
                <a:latin typeface="Arial"/>
                <a:hlinkClick r:id="rId4"/>
              </a:rPr>
              <a:t>email.address@email.com/edu</a:t>
            </a:r>
            <a:endParaRPr lang="en-US" sz="1400" b="0" u="none" strike="noStrike">
              <a:solidFill>
                <a:srgbClr val="000000"/>
              </a:solidFill>
              <a:effectLst/>
              <a:uFillTx/>
              <a:latin typeface="Arial"/>
            </a:endParaRPr>
          </a:p>
        </p:txBody>
      </p:sp>
      <p:sp>
        <p:nvSpPr>
          <p:cNvPr id="576" name="Rectangle 15"/>
          <p:cNvSpPr/>
          <p:nvPr/>
        </p:nvSpPr>
        <p:spPr>
          <a:xfrm>
            <a:off x="7808040" y="3959280"/>
            <a:ext cx="2445840" cy="12240"/>
          </a:xfrm>
          <a:prstGeom prst="rect">
            <a:avLst/>
          </a:prstGeom>
          <a:solidFill>
            <a:srgbClr val="0F62FE"/>
          </a:solidFill>
          <a:ln w="0">
            <a:noFill/>
          </a:ln>
        </p:spPr>
        <p:style>
          <a:lnRef idx="0"/>
          <a:fillRef idx="0"/>
          <a:effectRef idx="0"/>
          <a:fontRef idx="minor"/>
        </p:style>
        <p:txBody>
          <a:bodyPr lIns="90000" tIns="-32040" rIns="90000" bIns="-32040" anchor="ctr">
            <a:noAutofit/>
          </a:bodyPr>
          <a:p>
            <a:pPr/>
            <a:endParaRPr lang="en-US" sz="1800" b="0" u="none" strike="noStrike">
              <a:solidFill>
                <a:schemeClr val="dk1"/>
              </a:solidFill>
              <a:effectLst/>
              <a:uFillTx/>
              <a:latin typeface="Calibri"/>
            </a:endParaRPr>
          </a:p>
        </p:txBody>
      </p:sp>
      <p:sp>
        <p:nvSpPr>
          <p:cNvPr id="577" name="TextBox 16"/>
          <p:cNvSpPr/>
          <p:nvPr/>
        </p:nvSpPr>
        <p:spPr>
          <a:xfrm>
            <a:off x="7808400" y="1348920"/>
            <a:ext cx="2526120" cy="90144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00000"/>
                </a:solidFill>
                <a:effectLst/>
                <a:uFillTx/>
                <a:latin typeface="Arial"/>
              </a:rPr>
              <a:t>Firstname Lastname</a:t>
            </a:r>
            <a:endParaRPr lang="en-US" sz="1400" b="0" u="none" strike="noStrike">
              <a:solidFill>
                <a:srgbClr val="000000"/>
              </a:solidFill>
              <a:effectLst/>
              <a:uFillTx/>
              <a:latin typeface="Arial"/>
            </a:endParaRPr>
          </a:p>
          <a:p>
            <a:pPr defTabSz="457200">
              <a:lnSpc>
                <a:spcPts val="1607"/>
              </a:lnSpc>
              <a:spcBef>
                <a:spcPts val="241"/>
              </a:spcBef>
            </a:pPr>
            <a:r>
              <a:rPr lang="en-US" sz="1400" b="0" u="none" strike="noStrike">
                <a:solidFill>
                  <a:srgbClr val="000000"/>
                </a:solidFill>
                <a:effectLst/>
                <a:uFillTx/>
                <a:latin typeface="Arial"/>
              </a:rPr>
              <a:t>Team Role</a:t>
            </a:r>
            <a:endParaRPr lang="en-US" sz="1400" b="0" u="none" strike="noStrike">
              <a:solidFill>
                <a:srgbClr val="000000"/>
              </a:solidFill>
              <a:effectLst/>
              <a:uFillTx/>
              <a:latin typeface="Arial"/>
            </a:endParaRPr>
          </a:p>
          <a:p>
            <a:pPr defTabSz="457200">
              <a:lnSpc>
                <a:spcPts val="1607"/>
              </a:lnSpc>
              <a:spcBef>
                <a:spcPts val="241"/>
              </a:spcBef>
            </a:pPr>
            <a:r>
              <a:rPr lang="en-US" sz="1400" b="0" u="none" strike="noStrike">
                <a:solidFill>
                  <a:srgbClr val="000000"/>
                </a:solidFill>
                <a:effectLst/>
                <a:uFillTx/>
                <a:latin typeface="Arial"/>
              </a:rPr>
              <a:t>—</a:t>
            </a:r>
            <a:endParaRPr lang="en-US" sz="1400" b="0" u="none" strike="noStrike">
              <a:solidFill>
                <a:srgbClr val="000000"/>
              </a:solidFill>
              <a:effectLst/>
              <a:uFillTx/>
              <a:latin typeface="Arial"/>
            </a:endParaRPr>
          </a:p>
          <a:p>
            <a:pPr defTabSz="457200">
              <a:lnSpc>
                <a:spcPts val="1607"/>
              </a:lnSpc>
              <a:spcBef>
                <a:spcPts val="241"/>
              </a:spcBef>
            </a:pPr>
            <a:r>
              <a:rPr lang="en-US" sz="1400" b="0" u="sng" strike="noStrike">
                <a:solidFill>
                  <a:srgbClr val="0000FF"/>
                </a:solidFill>
                <a:effectLst/>
                <a:uFillTx/>
                <a:latin typeface="Arial"/>
                <a:hlinkClick r:id="rId5"/>
              </a:rPr>
              <a:t>email.address@email.com/edu</a:t>
            </a:r>
            <a:endParaRPr lang="en-US" sz="1400" b="0" u="none" strike="noStrike">
              <a:solidFill>
                <a:srgbClr val="000000"/>
              </a:solidFill>
              <a:effectLst/>
              <a:uFillTx/>
              <a:latin typeface="Arial"/>
            </a:endParaRPr>
          </a:p>
        </p:txBody>
      </p:sp>
      <p:sp>
        <p:nvSpPr>
          <p:cNvPr id="578" name="Rectangle 17"/>
          <p:cNvSpPr/>
          <p:nvPr/>
        </p:nvSpPr>
        <p:spPr>
          <a:xfrm>
            <a:off x="7808040" y="2232360"/>
            <a:ext cx="2445840" cy="12240"/>
          </a:xfrm>
          <a:prstGeom prst="rect">
            <a:avLst/>
          </a:prstGeom>
          <a:solidFill>
            <a:srgbClr val="0F62FE"/>
          </a:solidFill>
          <a:ln w="0">
            <a:noFill/>
          </a:ln>
        </p:spPr>
        <p:style>
          <a:lnRef idx="0"/>
          <a:fillRef idx="0"/>
          <a:effectRef idx="0"/>
          <a:fontRef idx="minor"/>
        </p:style>
        <p:txBody>
          <a:bodyPr lIns="90000" tIns="-32040" rIns="90000" bIns="-32040" anchor="ctr">
            <a:noAutofit/>
          </a:bodyPr>
          <a:p>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Rectangle 1"/>
          <p:cNvSpPr/>
          <p:nvPr/>
        </p:nvSpPr>
        <p:spPr>
          <a:xfrm>
            <a:off x="0" y="0"/>
            <a:ext cx="12191400" cy="5999400"/>
          </a:xfrm>
          <a:prstGeom prst="rect">
            <a:avLst/>
          </a:prstGeom>
          <a:solidFill>
            <a:srgbClr val="E5F6FF"/>
          </a:solidFill>
          <a:ln w="9523">
            <a:solidFill>
              <a:srgbClr val="E5F6FF"/>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pic>
        <p:nvPicPr>
          <p:cNvPr id="580" name="Picture 2" descr="image.png"/>
          <p:cNvPicPr/>
          <p:nvPr/>
        </p:nvPicPr>
        <p:blipFill>
          <a:blip r:embed="rId1"/>
          <a:stretch/>
        </p:blipFill>
        <p:spPr>
          <a:xfrm>
            <a:off x="11125800" y="6246720"/>
            <a:ext cx="847440" cy="332280"/>
          </a:xfrm>
          <a:prstGeom prst="rect">
            <a:avLst/>
          </a:prstGeom>
          <a:noFill/>
          <a:ln w="0">
            <a:noFill/>
          </a:ln>
        </p:spPr>
      </p:pic>
      <p:sp>
        <p:nvSpPr>
          <p:cNvPr id="581" name="TextBox 3"/>
          <p:cNvSpPr/>
          <p:nvPr/>
        </p:nvSpPr>
        <p:spPr>
          <a:xfrm>
            <a:off x="288000" y="228960"/>
            <a:ext cx="5109480" cy="1615680"/>
          </a:xfrm>
          <a:prstGeom prst="rect">
            <a:avLst/>
          </a:prstGeom>
          <a:noFill/>
          <a:ln w="0">
            <a:noFill/>
          </a:ln>
        </p:spPr>
        <p:style>
          <a:lnRef idx="0"/>
          <a:fillRef idx="0"/>
          <a:effectRef idx="0"/>
          <a:fontRef idx="minor"/>
        </p:style>
        <p:txBody>
          <a:bodyPr lIns="0" tIns="0" rIns="0" bIns="0" anchor="t">
            <a:noAutofit/>
          </a:bodyPr>
          <a:p>
            <a:pPr defTabSz="457200">
              <a:lnSpc>
                <a:spcPts val="4946"/>
              </a:lnSpc>
            </a:pPr>
            <a:r>
              <a:rPr lang="en-US" sz="4300" b="0" u="none" strike="noStrike">
                <a:solidFill>
                  <a:srgbClr val="000000"/>
                </a:solidFill>
                <a:effectLst/>
                <a:uFillTx/>
                <a:latin typeface="Arial"/>
              </a:rPr>
              <a:t>Opportunity Framing</a:t>
            </a:r>
            <a:endParaRPr lang="en-US" sz="4300" b="0" u="none" strike="noStrike">
              <a:solidFill>
                <a:srgbClr val="000000"/>
              </a:solidFill>
              <a:effectLst/>
              <a:uFillTx/>
              <a:latin typeface="Arial"/>
            </a:endParaRPr>
          </a:p>
          <a:p>
            <a:pPr defTabSz="457200">
              <a:lnSpc>
                <a:spcPts val="3960"/>
              </a:lnSpc>
              <a:spcBef>
                <a:spcPts val="227"/>
              </a:spcBef>
            </a:pPr>
            <a:r>
              <a:rPr lang="en-US" sz="3300" b="0" i="1" u="none" strike="noStrike">
                <a:solidFill>
                  <a:srgbClr val="000000"/>
                </a:solidFill>
                <a:effectLst/>
                <a:uFillTx/>
                <a:latin typeface="Arial"/>
              </a:rPr>
              <a:t>From industry problem to user-centered opportunity</a:t>
            </a:r>
            <a:endParaRPr lang="en-US" sz="3300" b="0" u="none" strike="noStrike">
              <a:solidFill>
                <a:srgbClr val="000000"/>
              </a:solidFill>
              <a:effectLst/>
              <a:uFillTx/>
              <a:latin typeface="Arial"/>
            </a:endParaRPr>
          </a:p>
        </p:txBody>
      </p:sp>
      <p:sp>
        <p:nvSpPr>
          <p:cNvPr id="582" name="Rectangle 4"/>
          <p:cNvSpPr/>
          <p:nvPr/>
        </p:nvSpPr>
        <p:spPr>
          <a:xfrm>
            <a:off x="285840" y="2094120"/>
            <a:ext cx="7228440" cy="3479760"/>
          </a:xfrm>
          <a:prstGeom prst="rect">
            <a:avLst/>
          </a:prstGeom>
          <a:solidFill>
            <a:srgbClr val="E5F6FF"/>
          </a:solidFill>
          <a:ln w="9523">
            <a:solidFill>
              <a:srgbClr val="E5F6FF"/>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583" name="TextBox 5"/>
          <p:cNvSpPr/>
          <p:nvPr/>
        </p:nvSpPr>
        <p:spPr>
          <a:xfrm>
            <a:off x="331560" y="2148480"/>
            <a:ext cx="6697080" cy="29376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u="none" strike="noStrike">
                <a:solidFill>
                  <a:srgbClr val="000000"/>
                </a:solidFill>
                <a:effectLst/>
                <a:uFillTx/>
                <a:latin typeface="Arial"/>
              </a:rPr>
              <a:t>Before completing the Opportunity Framing section, teams are strongly encouraged to first conduct two foundational exercises:</a:t>
            </a:r>
            <a:endParaRPr lang="en-US" sz="1000" b="0" u="none" strike="noStrike">
              <a:solidFill>
                <a:srgbClr val="000000"/>
              </a:solidFill>
              <a:effectLst/>
              <a:uFillTx/>
              <a:latin typeface="Arial"/>
            </a:endParaRPr>
          </a:p>
        </p:txBody>
      </p:sp>
      <p:sp>
        <p:nvSpPr>
          <p:cNvPr id="584" name="TextBox 6"/>
          <p:cNvSpPr/>
          <p:nvPr/>
        </p:nvSpPr>
        <p:spPr>
          <a:xfrm>
            <a:off x="331560" y="2605680"/>
            <a:ext cx="7093440" cy="2934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Empathy Map – This helps you deeply understand the user’s perspective, emotions, and motivations. It ensures that the opportunity framing is grounded in real user needs rather than assumptions.</a:t>
            </a:r>
            <a:endParaRPr lang="en-US" sz="1000" b="0" u="none" strike="noStrike">
              <a:solidFill>
                <a:srgbClr val="000000"/>
              </a:solidFill>
              <a:effectLst/>
              <a:uFillTx/>
              <a:latin typeface="Arial"/>
            </a:endParaRPr>
          </a:p>
        </p:txBody>
      </p:sp>
      <p:sp>
        <p:nvSpPr>
          <p:cNvPr id="585" name="TextBox 7"/>
          <p:cNvSpPr/>
          <p:nvPr/>
        </p:nvSpPr>
        <p:spPr>
          <a:xfrm>
            <a:off x="331560" y="3062880"/>
            <a:ext cx="7268040" cy="2934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As-Is Scenario Map – This captures the current user journey, including steps, pain points, and context. It provides clarity on where friction occurs and why existing solutions fail.</a:t>
            </a:r>
            <a:endParaRPr lang="en-US" sz="1000" b="0" u="none" strike="noStrike">
              <a:solidFill>
                <a:srgbClr val="000000"/>
              </a:solidFill>
              <a:effectLst/>
              <a:uFillTx/>
              <a:latin typeface="Arial"/>
            </a:endParaRPr>
          </a:p>
        </p:txBody>
      </p:sp>
      <p:sp>
        <p:nvSpPr>
          <p:cNvPr id="586" name="TextBox 8"/>
          <p:cNvSpPr/>
          <p:nvPr/>
        </p:nvSpPr>
        <p:spPr>
          <a:xfrm>
            <a:off x="331560" y="3519720"/>
            <a:ext cx="7084440" cy="293760"/>
          </a:xfrm>
          <a:prstGeom prst="rect">
            <a:avLst/>
          </a:prstGeom>
          <a:noFill/>
          <a:ln w="0">
            <a:noFill/>
          </a:ln>
        </p:spPr>
        <p:style>
          <a:lnRef idx="0"/>
          <a:fillRef idx="0"/>
          <a:effectRef idx="0"/>
          <a:fontRef idx="minor"/>
        </p:style>
        <p:txBody>
          <a:bodyPr lIns="0" tIns="0" rIns="0" bIns="0" anchor="t">
            <a:noAutofit/>
          </a:bodyPr>
          <a:p>
            <a:pPr defTabSz="457200">
              <a:lnSpc>
                <a:spcPts val="1202"/>
              </a:lnSpc>
            </a:pPr>
            <a:r>
              <a:rPr lang="en-US" sz="1000" b="0" u="none" strike="noStrike">
                <a:solidFill>
                  <a:srgbClr val="000000"/>
                </a:solidFill>
                <a:effectLst/>
                <a:uFillTx/>
                <a:latin typeface="Arial"/>
              </a:rPr>
              <a:t>Completing these exercises first will make the opportunity framing process more accurate and user-centered. They provide essential insights that inform sections such as Core User Tension, Current Experience, and Why Current Solutions Fail.</a:t>
            </a:r>
            <a:endParaRPr lang="en-US" sz="1000" b="0" u="none" strike="noStrike">
              <a:solidFill>
                <a:srgbClr val="000000"/>
              </a:solidFill>
              <a:effectLst/>
              <a:uFillTx/>
              <a:latin typeface="Arial"/>
            </a:endParaRPr>
          </a:p>
        </p:txBody>
      </p:sp>
      <p:sp>
        <p:nvSpPr>
          <p:cNvPr id="587" name="TextBox 9"/>
          <p:cNvSpPr/>
          <p:nvPr/>
        </p:nvSpPr>
        <p:spPr>
          <a:xfrm>
            <a:off x="331560" y="3977280"/>
            <a:ext cx="7012440" cy="2934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Optional: Stakeholder Map –  If you are finding it difficult to identify users and stakeholders, this exercise helps capture internal and external actors that might influence your solution. </a:t>
            </a:r>
            <a:endParaRPr lang="en-US" sz="1000" b="0" u="none" strike="noStrike">
              <a:solidFill>
                <a:srgbClr val="000000"/>
              </a:solidFill>
              <a:effectLst/>
              <a:uFillTx/>
              <a:latin typeface="Arial"/>
            </a:endParaRPr>
          </a:p>
        </p:txBody>
      </p:sp>
      <p:sp>
        <p:nvSpPr>
          <p:cNvPr id="588" name="TextBox 10"/>
          <p:cNvSpPr/>
          <p:nvPr/>
        </p:nvSpPr>
        <p:spPr>
          <a:xfrm>
            <a:off x="331560" y="4434480"/>
            <a:ext cx="7284240" cy="2934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Optional: Research Plan - A research plan is essential when starting a project. It fits in especially well right after you identify your team’s Assumptions and Questions.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TextBox 1"/>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29</a:t>
            </a:r>
            <a:endParaRPr lang="en-US" sz="800" b="0" u="none" strike="noStrike">
              <a:solidFill>
                <a:srgbClr val="000000"/>
              </a:solidFill>
              <a:effectLst/>
              <a:uFillTx/>
              <a:latin typeface="Arial"/>
            </a:endParaRPr>
          </a:p>
        </p:txBody>
      </p:sp>
      <p:sp>
        <p:nvSpPr>
          <p:cNvPr id="590" name="TextBox 2"/>
          <p:cNvSpPr/>
          <p:nvPr/>
        </p:nvSpPr>
        <p:spPr>
          <a:xfrm>
            <a:off x="288000" y="300240"/>
            <a:ext cx="224640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Industry Problem Context</a:t>
            </a:r>
            <a:endParaRPr lang="en-US" sz="1400" b="0" u="none" strike="noStrike">
              <a:solidFill>
                <a:srgbClr val="000000"/>
              </a:solidFill>
              <a:effectLst/>
              <a:uFillTx/>
              <a:latin typeface="Arial"/>
            </a:endParaRPr>
          </a:p>
        </p:txBody>
      </p:sp>
      <p:sp>
        <p:nvSpPr>
          <p:cNvPr id="591" name="TextBox 3"/>
          <p:cNvSpPr/>
          <p:nvPr/>
        </p:nvSpPr>
        <p:spPr>
          <a:xfrm>
            <a:off x="288000" y="727200"/>
            <a:ext cx="2867040" cy="623880"/>
          </a:xfrm>
          <a:prstGeom prst="rect">
            <a:avLst/>
          </a:prstGeom>
          <a:noFill/>
          <a:ln w="0">
            <a:noFill/>
          </a:ln>
        </p:spPr>
        <p:style>
          <a:lnRef idx="0"/>
          <a:fillRef idx="0"/>
          <a:effectRef idx="0"/>
          <a:fontRef idx="minor"/>
        </p:style>
        <p:txBody>
          <a:bodyPr lIns="0" tIns="0" rIns="0" bIns="0" anchor="t">
            <a:noAutofit/>
          </a:bodyPr>
          <a:p>
            <a:pPr defTabSz="457200">
              <a:lnSpc>
                <a:spcPts val="1678"/>
              </a:lnSpc>
            </a:pPr>
            <a:r>
              <a:rPr lang="en-US" sz="1400" b="1" u="none" strike="noStrike">
                <a:solidFill>
                  <a:srgbClr val="000000"/>
                </a:solidFill>
                <a:effectLst/>
                <a:uFillTx/>
                <a:latin typeface="Arial"/>
              </a:rPr>
              <a:t>Purpose:</a:t>
            </a:r>
            <a:r>
              <a:rPr lang="en-US" sz="1400" b="0" u="none" strike="noStrike">
                <a:solidFill>
                  <a:srgbClr val="000000"/>
                </a:solidFill>
                <a:effectLst/>
                <a:uFillTx/>
                <a:latin typeface="Arial"/>
              </a:rPr>
              <a:t> Define the industry-level challenge and why it matters</a:t>
            </a:r>
            <a:endParaRPr lang="en-US" sz="1400" b="0" u="none" strike="noStrike">
              <a:solidFill>
                <a:srgbClr val="000000"/>
              </a:solidFill>
              <a:effectLst/>
              <a:uFillTx/>
              <a:latin typeface="Arial"/>
            </a:endParaRPr>
          </a:p>
          <a:p>
            <a:pPr defTabSz="457200">
              <a:lnSpc>
                <a:spcPts val="1607"/>
              </a:lnSpc>
              <a:spcBef>
                <a:spcPts val="71"/>
              </a:spcBef>
            </a:pPr>
            <a:r>
              <a:rPr lang="en-US" sz="1400" b="1" u="none" strike="noStrike">
                <a:solidFill>
                  <a:srgbClr val="000000"/>
                </a:solidFill>
                <a:effectLst/>
                <a:uFillTx/>
                <a:latin typeface="Arial"/>
              </a:rPr>
              <a:t>When: </a:t>
            </a:r>
            <a:r>
              <a:rPr lang="en-US" sz="1400" b="0" u="none" strike="noStrike">
                <a:solidFill>
                  <a:srgbClr val="000000"/>
                </a:solidFill>
                <a:effectLst/>
                <a:uFillTx/>
                <a:latin typeface="Arial"/>
              </a:rPr>
              <a:t>By week 1</a:t>
            </a:r>
            <a:endParaRPr lang="en-US" sz="1400" b="0" u="none" strike="noStrike">
              <a:solidFill>
                <a:srgbClr val="000000"/>
              </a:solidFill>
              <a:effectLst/>
              <a:uFillTx/>
              <a:latin typeface="Arial"/>
            </a:endParaRPr>
          </a:p>
        </p:txBody>
      </p:sp>
      <p:cxnSp>
        <p:nvCxnSpPr>
          <p:cNvPr id="592" name="Connector 4"/>
          <p:cNvCxnSpPr/>
          <p:nvPr/>
        </p:nvCxnSpPr>
        <p:spPr>
          <a:xfrm>
            <a:off x="6090120" y="1982520"/>
            <a:ext cx="720" cy="4609800"/>
          </a:xfrm>
          <a:prstGeom prst="straightConnector1">
            <a:avLst/>
          </a:prstGeom>
          <a:ln w="6349">
            <a:solidFill>
              <a:srgbClr val="000000"/>
            </a:solidFill>
            <a:round/>
          </a:ln>
        </p:spPr>
      </p:cxnSp>
      <p:sp>
        <p:nvSpPr>
          <p:cNvPr id="593" name="TextBox 5"/>
          <p:cNvSpPr/>
          <p:nvPr/>
        </p:nvSpPr>
        <p:spPr>
          <a:xfrm>
            <a:off x="287280" y="1998360"/>
            <a:ext cx="235152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Industry challenge statement</a:t>
            </a:r>
            <a:endParaRPr lang="en-US" sz="1400" b="0" u="none" strike="noStrike">
              <a:solidFill>
                <a:srgbClr val="000000"/>
              </a:solidFill>
              <a:effectLst/>
              <a:uFillTx/>
              <a:latin typeface="Arial"/>
            </a:endParaRPr>
          </a:p>
        </p:txBody>
      </p:sp>
      <p:sp>
        <p:nvSpPr>
          <p:cNvPr id="594" name="TextBox 6"/>
          <p:cNvSpPr/>
          <p:nvPr/>
        </p:nvSpPr>
        <p:spPr>
          <a:xfrm>
            <a:off x="287280" y="2316960"/>
            <a:ext cx="5323680" cy="308520"/>
          </a:xfrm>
          <a:prstGeom prst="rect">
            <a:avLst/>
          </a:prstGeom>
          <a:noFill/>
          <a:ln w="0">
            <a:noFill/>
          </a:ln>
        </p:spPr>
        <p:style>
          <a:lnRef idx="0"/>
          <a:fillRef idx="0"/>
          <a:effectRef idx="0"/>
          <a:fontRef idx="minor"/>
        </p:style>
        <p:txBody>
          <a:bodyPr lIns="0" tIns="0" rIns="0" bIns="0" anchor="t">
            <a:noAutofit/>
          </a:bodyPr>
          <a:p>
            <a:pPr defTabSz="457200">
              <a:lnSpc>
                <a:spcPts val="1318"/>
              </a:lnSpc>
            </a:pPr>
            <a:r>
              <a:rPr lang="en-US" sz="1000" b="0" i="1" u="none" strike="noStrike">
                <a:solidFill>
                  <a:srgbClr val="000000"/>
                </a:solidFill>
                <a:effectLst/>
                <a:uFillTx/>
                <a:latin typeface="Arial"/>
              </a:rPr>
              <a:t>Write the official problem statement or summarize it in 1–2 sentences. Be specific and avoid jargon.</a:t>
            </a:r>
            <a:endParaRPr lang="en-US" sz="1000" b="0" u="none" strike="noStrike">
              <a:solidFill>
                <a:srgbClr val="000000"/>
              </a:solidFill>
              <a:effectLst/>
              <a:uFillTx/>
              <a:latin typeface="Arial"/>
            </a:endParaRPr>
          </a:p>
        </p:txBody>
      </p:sp>
      <p:sp>
        <p:nvSpPr>
          <p:cNvPr id="595" name="TextBox 7"/>
          <p:cNvSpPr/>
          <p:nvPr/>
        </p:nvSpPr>
        <p:spPr>
          <a:xfrm>
            <a:off x="6314760" y="1998360"/>
            <a:ext cx="208800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Why this problem matters</a:t>
            </a:r>
            <a:endParaRPr lang="en-US" sz="1400" b="0" u="none" strike="noStrike">
              <a:solidFill>
                <a:srgbClr val="000000"/>
              </a:solidFill>
              <a:effectLst/>
              <a:uFillTx/>
              <a:latin typeface="Arial"/>
            </a:endParaRPr>
          </a:p>
        </p:txBody>
      </p:sp>
      <p:sp>
        <p:nvSpPr>
          <p:cNvPr id="596" name="TextBox 8"/>
          <p:cNvSpPr/>
          <p:nvPr/>
        </p:nvSpPr>
        <p:spPr>
          <a:xfrm>
            <a:off x="6321960" y="2316960"/>
            <a:ext cx="349920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Explain the impact and urgency from an industry perspective</a:t>
            </a:r>
            <a:endParaRPr lang="en-US" sz="1000" b="0" u="none" strike="noStrike">
              <a:solidFill>
                <a:srgbClr val="000000"/>
              </a:solidFill>
              <a:effectLst/>
              <a:uFillTx/>
              <a:latin typeface="Arial"/>
            </a:endParaRPr>
          </a:p>
        </p:txBody>
      </p:sp>
      <p:sp>
        <p:nvSpPr>
          <p:cNvPr id="597" name="TextBox 9"/>
          <p:cNvSpPr/>
          <p:nvPr/>
        </p:nvSpPr>
        <p:spPr>
          <a:xfrm>
            <a:off x="6321960" y="2652120"/>
            <a:ext cx="3763080" cy="644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Address:</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Economic or operational consequences</a:t>
            </a:r>
            <a:endParaRPr lang="en-US" sz="1000" b="0" u="none" strike="noStrike">
              <a:solidFill>
                <a:srgbClr val="000000"/>
              </a:solidFill>
              <a:effectLst/>
              <a:uFillTx/>
              <a:latin typeface="Arial"/>
            </a:endParaRPr>
          </a:p>
          <a:p>
            <a:pPr marL="171360" indent="-171360" defTabSz="457200">
              <a:lnSpc>
                <a:spcPts val="1154"/>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Strategic relevance for the industry</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Who is under pressure to solve it (companies, regulators, etc.)</a:t>
            </a:r>
            <a:endParaRPr lang="en-US" sz="1000" b="0" u="none" strike="noStrike">
              <a:solidFill>
                <a:srgbClr val="000000"/>
              </a:solidFill>
              <a:effectLst/>
              <a:uFillTx/>
              <a:latin typeface="Arial"/>
            </a:endParaRPr>
          </a:p>
        </p:txBody>
      </p:sp>
      <p:sp>
        <p:nvSpPr>
          <p:cNvPr id="598" name="Rectangle 10"/>
          <p:cNvSpPr/>
          <p:nvPr/>
        </p:nvSpPr>
        <p:spPr>
          <a:xfrm>
            <a:off x="7281000" y="288000"/>
            <a:ext cx="4626360" cy="87084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599" name="TextBox 11"/>
          <p:cNvSpPr/>
          <p:nvPr/>
        </p:nvSpPr>
        <p:spPr>
          <a:xfrm>
            <a:off x="7327080" y="342000"/>
            <a:ext cx="4462560" cy="75096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Tip: </a:t>
            </a:r>
            <a:endParaRPr lang="en-US" sz="1000" b="0" u="none" strike="noStrike">
              <a:solidFill>
                <a:srgbClr val="000000"/>
              </a:solidFill>
              <a:effectLst/>
              <a:uFillTx/>
              <a:latin typeface="Arial"/>
            </a:endParaRPr>
          </a:p>
          <a:p>
            <a:pPr marL="171720" indent="-17172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Refer to the Industry Problem Statements document.</a:t>
            </a:r>
            <a:endParaRPr lang="en-US" sz="1000" b="0" u="none" strike="noStrike">
              <a:solidFill>
                <a:srgbClr val="000000"/>
              </a:solidFill>
              <a:effectLst/>
              <a:uFillTx/>
              <a:latin typeface="Arial"/>
            </a:endParaRPr>
          </a:p>
          <a:p>
            <a:pPr marL="171720" indent="-17172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As a team, discuss and select a problem statement to tackle. </a:t>
            </a:r>
            <a:endParaRPr lang="en-US" sz="1000" b="0" u="none" strike="noStrike">
              <a:solidFill>
                <a:srgbClr val="000000"/>
              </a:solidFill>
              <a:effectLst/>
              <a:uFillTx/>
              <a:latin typeface="Arial"/>
            </a:endParaRPr>
          </a:p>
          <a:p>
            <a:pPr marL="171720" indent="-171720" defTabSz="457200">
              <a:lnSpc>
                <a:spcPts val="1199"/>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In this slide, summarise what you know/understand about the problem. As you learn more and get deeper insights into the industry, update this slide.</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600" name="Connector 1"/>
          <p:cNvCxnSpPr/>
          <p:nvPr/>
        </p:nvCxnSpPr>
        <p:spPr>
          <a:xfrm>
            <a:off x="3047400" y="284760"/>
            <a:ext cx="720" cy="5715720"/>
          </a:xfrm>
          <a:prstGeom prst="straightConnector1">
            <a:avLst/>
          </a:prstGeom>
          <a:ln w="6349">
            <a:solidFill>
              <a:srgbClr val="000000"/>
            </a:solidFill>
            <a:round/>
          </a:ln>
        </p:spPr>
      </p:cxnSp>
      <p:cxnSp>
        <p:nvCxnSpPr>
          <p:cNvPr id="601" name="Connector 2"/>
          <p:cNvCxnSpPr/>
          <p:nvPr/>
        </p:nvCxnSpPr>
        <p:spPr>
          <a:xfrm>
            <a:off x="6093360" y="283320"/>
            <a:ext cx="720" cy="5715720"/>
          </a:xfrm>
          <a:prstGeom prst="straightConnector1">
            <a:avLst/>
          </a:prstGeom>
          <a:ln w="6349">
            <a:solidFill>
              <a:srgbClr val="000000"/>
            </a:solidFill>
            <a:round/>
          </a:ln>
        </p:spPr>
      </p:cxnSp>
      <p:cxnSp>
        <p:nvCxnSpPr>
          <p:cNvPr id="602" name="Connector 3"/>
          <p:cNvCxnSpPr/>
          <p:nvPr/>
        </p:nvCxnSpPr>
        <p:spPr>
          <a:xfrm>
            <a:off x="9142560" y="284760"/>
            <a:ext cx="720" cy="5715720"/>
          </a:xfrm>
          <a:prstGeom prst="straightConnector1">
            <a:avLst/>
          </a:prstGeom>
          <a:ln w="6349">
            <a:solidFill>
              <a:srgbClr val="000000"/>
            </a:solidFill>
            <a:round/>
          </a:ln>
        </p:spPr>
      </p:cxnSp>
      <p:sp>
        <p:nvSpPr>
          <p:cNvPr id="603" name="TextBox 4"/>
          <p:cNvSpPr/>
          <p:nvPr/>
        </p:nvSpPr>
        <p:spPr>
          <a:xfrm>
            <a:off x="288000" y="303120"/>
            <a:ext cx="2186640" cy="432000"/>
          </a:xfrm>
          <a:prstGeom prst="rect">
            <a:avLst/>
          </a:prstGeom>
          <a:noFill/>
          <a:ln w="0">
            <a:noFill/>
          </a:ln>
        </p:spPr>
        <p:style>
          <a:lnRef idx="0"/>
          <a:fillRef idx="0"/>
          <a:effectRef idx="0"/>
          <a:fontRef idx="minor"/>
        </p:style>
        <p:txBody>
          <a:bodyPr lIns="0" tIns="0" rIns="0" bIns="0" anchor="t">
            <a:noAutofit/>
          </a:bodyPr>
          <a:p>
            <a:pPr defTabSz="457200">
              <a:lnSpc>
                <a:spcPts val="1848"/>
              </a:lnSpc>
            </a:pPr>
            <a:r>
              <a:rPr lang="en-US" sz="1400" b="1" u="none" strike="noStrike">
                <a:solidFill>
                  <a:srgbClr val="000000"/>
                </a:solidFill>
                <a:effectLst/>
                <a:uFillTx/>
                <a:latin typeface="Arial"/>
              </a:rPr>
              <a:t>Who Is Experiencing the Problem?</a:t>
            </a:r>
            <a:endParaRPr lang="en-US" sz="1400" b="0" u="none" strike="noStrike">
              <a:solidFill>
                <a:srgbClr val="000000"/>
              </a:solidFill>
              <a:effectLst/>
              <a:uFillTx/>
              <a:latin typeface="Arial"/>
            </a:endParaRPr>
          </a:p>
        </p:txBody>
      </p:sp>
      <p:sp>
        <p:nvSpPr>
          <p:cNvPr id="604" name="TextBox 5"/>
          <p:cNvSpPr/>
          <p:nvPr/>
        </p:nvSpPr>
        <p:spPr>
          <a:xfrm>
            <a:off x="288000" y="1007640"/>
            <a:ext cx="2402280" cy="666720"/>
          </a:xfrm>
          <a:prstGeom prst="rect">
            <a:avLst/>
          </a:prstGeom>
          <a:noFill/>
          <a:ln w="0">
            <a:noFill/>
          </a:ln>
        </p:spPr>
        <p:style>
          <a:lnRef idx="0"/>
          <a:fillRef idx="0"/>
          <a:effectRef idx="0"/>
          <a:fontRef idx="minor"/>
        </p:style>
        <p:txBody>
          <a:bodyPr lIns="0" tIns="0" rIns="0" bIns="0" anchor="t">
            <a:noAutofit/>
          </a:bodyPr>
          <a:p>
            <a:pPr defTabSz="457200">
              <a:lnSpc>
                <a:spcPts val="1848"/>
              </a:lnSpc>
            </a:pPr>
            <a:r>
              <a:rPr lang="en-US" sz="1400" b="1" u="none" strike="noStrike">
                <a:solidFill>
                  <a:srgbClr val="000000"/>
                </a:solidFill>
                <a:effectLst/>
                <a:uFillTx/>
                <a:latin typeface="Arial"/>
              </a:rPr>
              <a:t>Purpose:</a:t>
            </a:r>
            <a:r>
              <a:rPr lang="en-US" sz="1400" b="0" u="none" strike="noStrike">
                <a:solidFill>
                  <a:srgbClr val="000000"/>
                </a:solidFill>
                <a:effectLst/>
                <a:uFillTx/>
                <a:latin typeface="Arial"/>
              </a:rPr>
              <a:t> Identify the people most affected.</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When:</a:t>
            </a:r>
            <a:r>
              <a:rPr lang="en-US" sz="1400" b="0" u="none" strike="noStrike">
                <a:solidFill>
                  <a:srgbClr val="000000"/>
                </a:solidFill>
                <a:effectLst/>
                <a:uFillTx/>
                <a:latin typeface="Arial"/>
              </a:rPr>
              <a:t> By week 1</a:t>
            </a:r>
            <a:endParaRPr lang="en-US" sz="1400" b="0" u="none" strike="noStrike">
              <a:solidFill>
                <a:srgbClr val="000000"/>
              </a:solidFill>
              <a:effectLst/>
              <a:uFillTx/>
              <a:latin typeface="Arial"/>
            </a:endParaRPr>
          </a:p>
        </p:txBody>
      </p:sp>
      <p:sp>
        <p:nvSpPr>
          <p:cNvPr id="605" name="TextBox 6"/>
          <p:cNvSpPr/>
          <p:nvPr/>
        </p:nvSpPr>
        <p:spPr>
          <a:xfrm>
            <a:off x="3333600" y="303120"/>
            <a:ext cx="10598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Primary user</a:t>
            </a:r>
            <a:endParaRPr lang="en-US" sz="1400" b="0" u="none" strike="noStrike">
              <a:solidFill>
                <a:srgbClr val="000000"/>
              </a:solidFill>
              <a:effectLst/>
              <a:uFillTx/>
              <a:latin typeface="Arial"/>
            </a:endParaRPr>
          </a:p>
        </p:txBody>
      </p:sp>
      <p:sp>
        <p:nvSpPr>
          <p:cNvPr id="606" name="TextBox 7"/>
          <p:cNvSpPr/>
          <p:nvPr/>
        </p:nvSpPr>
        <p:spPr>
          <a:xfrm>
            <a:off x="3333600" y="1724760"/>
            <a:ext cx="2554920" cy="64404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i="1" u="none" strike="noStrike">
                <a:solidFill>
                  <a:srgbClr val="000000"/>
                </a:solidFill>
                <a:effectLst/>
                <a:uFillTx/>
                <a:latin typeface="Arial"/>
              </a:rPr>
              <a:t>Answer:</a:t>
            </a:r>
            <a:endParaRPr lang="en-US" sz="1000" b="0" u="none" strike="noStrike">
              <a:solidFill>
                <a:srgbClr val="000000"/>
              </a:solidFill>
              <a:effectLst/>
              <a:uFillTx/>
              <a:latin typeface="Arial"/>
            </a:endParaRPr>
          </a:p>
          <a:p>
            <a:pPr defTabSz="457200">
              <a:lnSpc>
                <a:spcPts val="1318"/>
              </a:lnSpc>
            </a:pPr>
            <a:r>
              <a:rPr lang="en-US" sz="1000" b="0" i="1" u="none" strike="noStrike">
                <a:solidFill>
                  <a:srgbClr val="000000"/>
                </a:solidFill>
                <a:effectLst/>
                <a:uFillTx/>
                <a:latin typeface="Arial"/>
              </a:rPr>
              <a:t>Who directly experiences the friction/pain points? Describe them as a person, not just a job title.</a:t>
            </a:r>
            <a:endParaRPr lang="en-US" sz="1000" b="0" u="none" strike="noStrike">
              <a:solidFill>
                <a:srgbClr val="000000"/>
              </a:solidFill>
              <a:effectLst/>
              <a:uFillTx/>
              <a:latin typeface="Arial"/>
            </a:endParaRPr>
          </a:p>
        </p:txBody>
      </p:sp>
      <p:sp>
        <p:nvSpPr>
          <p:cNvPr id="607" name="TextBox 8"/>
          <p:cNvSpPr/>
          <p:nvPr/>
        </p:nvSpPr>
        <p:spPr>
          <a:xfrm>
            <a:off x="9430560" y="303120"/>
            <a:ext cx="197820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Secondary stakeholders</a:t>
            </a:r>
            <a:endParaRPr lang="en-US" sz="1400" b="0" u="none" strike="noStrike">
              <a:solidFill>
                <a:srgbClr val="000000"/>
              </a:solidFill>
              <a:effectLst/>
              <a:uFillTx/>
              <a:latin typeface="Arial"/>
            </a:endParaRPr>
          </a:p>
        </p:txBody>
      </p:sp>
      <p:sp>
        <p:nvSpPr>
          <p:cNvPr id="608" name="TextBox 9"/>
          <p:cNvSpPr/>
          <p:nvPr/>
        </p:nvSpPr>
        <p:spPr>
          <a:xfrm>
            <a:off x="9430560" y="1724760"/>
            <a:ext cx="2572560" cy="64404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i="1" u="none" strike="noStrike">
                <a:solidFill>
                  <a:srgbClr val="000000"/>
                </a:solidFill>
                <a:effectLst/>
                <a:uFillTx/>
                <a:latin typeface="Arial"/>
              </a:rPr>
              <a:t>Answer:</a:t>
            </a:r>
            <a:endParaRPr lang="en-US" sz="1000" b="0" u="none" strike="noStrike">
              <a:solidFill>
                <a:srgbClr val="000000"/>
              </a:solidFill>
              <a:effectLst/>
              <a:uFillTx/>
              <a:latin typeface="Arial"/>
            </a:endParaRPr>
          </a:p>
          <a:p>
            <a:pPr defTabSz="457200">
              <a:lnSpc>
                <a:spcPts val="1318"/>
              </a:lnSpc>
            </a:pPr>
            <a:r>
              <a:rPr lang="en-US" sz="1000" b="0" i="1" u="none" strike="noStrike">
                <a:solidFill>
                  <a:srgbClr val="000000"/>
                </a:solidFill>
                <a:effectLst/>
                <a:uFillTx/>
                <a:latin typeface="Arial"/>
              </a:rPr>
              <a:t>Who else is impacted or influences the outcome? Include decision-makers, support roles, or customers.</a:t>
            </a:r>
            <a:endParaRPr lang="en-US" sz="1000" b="0" u="none" strike="noStrike">
              <a:solidFill>
                <a:srgbClr val="000000"/>
              </a:solidFill>
              <a:effectLst/>
              <a:uFillTx/>
              <a:latin typeface="Arial"/>
            </a:endParaRPr>
          </a:p>
        </p:txBody>
      </p:sp>
      <p:sp>
        <p:nvSpPr>
          <p:cNvPr id="609" name="TextBox 10"/>
          <p:cNvSpPr/>
          <p:nvPr/>
        </p:nvSpPr>
        <p:spPr>
          <a:xfrm>
            <a:off x="6381360" y="303120"/>
            <a:ext cx="14630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User environment</a:t>
            </a:r>
            <a:endParaRPr lang="en-US" sz="1400" b="0" u="none" strike="noStrike">
              <a:solidFill>
                <a:srgbClr val="000000"/>
              </a:solidFill>
              <a:effectLst/>
              <a:uFillTx/>
              <a:latin typeface="Arial"/>
            </a:endParaRPr>
          </a:p>
        </p:txBody>
      </p:sp>
      <p:sp>
        <p:nvSpPr>
          <p:cNvPr id="610" name="TextBox 11"/>
          <p:cNvSpPr/>
          <p:nvPr/>
        </p:nvSpPr>
        <p:spPr>
          <a:xfrm>
            <a:off x="6381360" y="1724760"/>
            <a:ext cx="2433240" cy="97920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i="1" u="none" strike="noStrike">
                <a:solidFill>
                  <a:srgbClr val="000000"/>
                </a:solidFill>
                <a:effectLst/>
                <a:uFillTx/>
                <a:latin typeface="Arial"/>
              </a:rPr>
              <a:t>Answer:</a:t>
            </a:r>
            <a:endParaRPr lang="en-US" sz="1000" b="0" u="none" strike="noStrike">
              <a:solidFill>
                <a:srgbClr val="000000"/>
              </a:solidFill>
              <a:effectLst/>
              <a:uFillTx/>
              <a:latin typeface="Arial"/>
            </a:endParaRPr>
          </a:p>
          <a:p>
            <a:pPr marL="171360" indent="-171360" defTabSz="457200">
              <a:lnSpc>
                <a:spcPts val="1318"/>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Where does the user experience this problem (physical or digital setting)?</a:t>
            </a:r>
            <a:endParaRPr lang="en-US" sz="1000" b="0" u="none" strike="noStrike">
              <a:solidFill>
                <a:srgbClr val="000000"/>
              </a:solidFill>
              <a:effectLst/>
              <a:uFillTx/>
              <a:latin typeface="Arial"/>
            </a:endParaRPr>
          </a:p>
          <a:p>
            <a:pPr marL="171360" indent="-171360" defTabSz="457200">
              <a:lnSpc>
                <a:spcPts val="1318"/>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What tools, systems, or processes are currently involved in the user </a:t>
            </a:r>
            <a:endParaRPr lang="en-US" sz="1000" b="0" u="none" strike="noStrike">
              <a:solidFill>
                <a:srgbClr val="000000"/>
              </a:solidFill>
              <a:effectLst/>
              <a:uFillTx/>
              <a:latin typeface="Arial"/>
            </a:endParaRPr>
          </a:p>
          <a:p>
            <a:pPr marL="171360" defTabSz="457200">
              <a:lnSpc>
                <a:spcPts val="1151"/>
              </a:lnSpc>
              <a:spcBef>
                <a:spcPts val="167"/>
              </a:spcBef>
              <a:tabLst>
                <a:tab pos="0" algn="l"/>
              </a:tabLst>
            </a:pPr>
            <a:r>
              <a:rPr lang="en-US" sz="1000" b="0" i="1" u="none" strike="noStrike">
                <a:solidFill>
                  <a:srgbClr val="000000"/>
                </a:solidFill>
                <a:effectLst/>
                <a:uFillTx/>
                <a:latin typeface="Arial"/>
              </a:rPr>
              <a:t>experience?</a:t>
            </a:r>
            <a:endParaRPr lang="en-US" sz="1000" b="0" u="none" strike="noStrike">
              <a:solidFill>
                <a:srgbClr val="000000"/>
              </a:solidFill>
              <a:effectLst/>
              <a:uFillTx/>
              <a:latin typeface="Arial"/>
            </a:endParaRPr>
          </a:p>
        </p:txBody>
      </p:sp>
      <p:sp>
        <p:nvSpPr>
          <p:cNvPr id="611" name="TextBox 12"/>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30</a:t>
            </a:r>
            <a:endParaRPr lang="en-US" sz="800" b="0" u="none" strike="noStrike">
              <a:solidFill>
                <a:srgbClr val="000000"/>
              </a:solidFill>
              <a:effectLst/>
              <a:uFillTx/>
              <a:latin typeface="Arial"/>
            </a:endParaRPr>
          </a:p>
        </p:txBody>
      </p:sp>
      <p:sp>
        <p:nvSpPr>
          <p:cNvPr id="612" name="Rectangle 13"/>
          <p:cNvSpPr/>
          <p:nvPr/>
        </p:nvSpPr>
        <p:spPr>
          <a:xfrm>
            <a:off x="285840" y="2047320"/>
            <a:ext cx="2477160" cy="39520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613" name="TextBox 14"/>
          <p:cNvSpPr/>
          <p:nvPr/>
        </p:nvSpPr>
        <p:spPr>
          <a:xfrm>
            <a:off x="331560" y="2101320"/>
            <a:ext cx="1184400" cy="44640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Key tools: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Empathy Map</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Stakeholder Map</a:t>
            </a:r>
            <a:endParaRPr lang="en-US" sz="1000" b="0" u="none" strike="noStrike">
              <a:solidFill>
                <a:srgbClr val="000000"/>
              </a:solidFill>
              <a:effectLst/>
              <a:uFillTx/>
              <a:latin typeface="Arial"/>
            </a:endParaRPr>
          </a:p>
        </p:txBody>
      </p:sp>
      <p:sp>
        <p:nvSpPr>
          <p:cNvPr id="614" name="TextBox 15"/>
          <p:cNvSpPr/>
          <p:nvPr/>
        </p:nvSpPr>
        <p:spPr>
          <a:xfrm>
            <a:off x="331560" y="2863440"/>
            <a:ext cx="2285280" cy="44604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To gather this information, you will need to carry out industry and user research.</a:t>
            </a:r>
            <a:endParaRPr lang="en-US" sz="1000" b="0" u="none" strike="noStrike">
              <a:solidFill>
                <a:srgbClr val="000000"/>
              </a:solidFill>
              <a:effectLst/>
              <a:uFillTx/>
              <a:latin typeface="Arial"/>
            </a:endParaRPr>
          </a:p>
        </p:txBody>
      </p:sp>
      <p:sp>
        <p:nvSpPr>
          <p:cNvPr id="615" name="TextBox 16"/>
          <p:cNvSpPr/>
          <p:nvPr/>
        </p:nvSpPr>
        <p:spPr>
          <a:xfrm>
            <a:off x="331560" y="3473280"/>
            <a:ext cx="2234520" cy="59832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1" u="none" strike="noStrike">
                <a:solidFill>
                  <a:srgbClr val="000000"/>
                </a:solidFill>
                <a:effectLst/>
                <a:uFillTx/>
                <a:latin typeface="Arial"/>
              </a:rPr>
              <a:t>	</a:t>
            </a:r>
            <a:r>
              <a:rPr lang="en-US" sz="1000" b="1" u="none" strike="noStrike">
                <a:solidFill>
                  <a:srgbClr val="000000"/>
                </a:solidFill>
                <a:effectLst/>
                <a:uFillTx/>
                <a:latin typeface="Arial"/>
              </a:rPr>
              <a:t>Define Clear Objectives: </a:t>
            </a:r>
            <a:r>
              <a:rPr lang="en-US" sz="1000" b="0" u="none" strike="noStrike">
                <a:solidFill>
                  <a:srgbClr val="000000"/>
                </a:solidFill>
                <a:effectLst/>
                <a:uFillTx/>
                <a:latin typeface="Arial"/>
              </a:rPr>
              <a:t>Start by identifying what you need to learn about = users—e.g., pain points, workflows, or feature expectations. </a:t>
            </a:r>
            <a:endParaRPr lang="en-US" sz="1000" b="0" u="none" strike="noStrike">
              <a:solidFill>
                <a:srgbClr val="000000"/>
              </a:solidFill>
              <a:effectLst/>
              <a:uFillTx/>
              <a:latin typeface="Arial"/>
            </a:endParaRPr>
          </a:p>
        </p:txBody>
      </p:sp>
      <p:sp>
        <p:nvSpPr>
          <p:cNvPr id="616" name="TextBox 17"/>
          <p:cNvSpPr/>
          <p:nvPr/>
        </p:nvSpPr>
        <p:spPr>
          <a:xfrm>
            <a:off x="331560" y="4235040"/>
            <a:ext cx="2337120" cy="59832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1" u="none" strike="noStrike">
                <a:solidFill>
                  <a:srgbClr val="000000"/>
                </a:solidFill>
                <a:effectLst/>
                <a:uFillTx/>
                <a:latin typeface="Arial"/>
              </a:rPr>
              <a:t>	</a:t>
            </a:r>
            <a:r>
              <a:rPr lang="en-US" sz="1000" b="1" u="none" strike="noStrike">
                <a:solidFill>
                  <a:srgbClr val="000000"/>
                </a:solidFill>
                <a:effectLst/>
                <a:uFillTx/>
                <a:latin typeface="Arial"/>
              </a:rPr>
              <a:t>Choose the Right Methods: </a:t>
            </a:r>
            <a:r>
              <a:rPr lang="en-US" sz="1000" b="0" u="none" strike="noStrike">
                <a:solidFill>
                  <a:srgbClr val="000000"/>
                </a:solidFill>
                <a:effectLst/>
                <a:uFillTx/>
                <a:latin typeface="Arial"/>
              </a:rPr>
              <a:t>Define the best way to gather the required information – desk research, user interview, survey, etc. </a:t>
            </a:r>
            <a:endParaRPr lang="en-US" sz="1000" b="0" u="none" strike="noStrike">
              <a:solidFill>
                <a:srgbClr val="000000"/>
              </a:solidFill>
              <a:effectLst/>
              <a:uFillTx/>
              <a:latin typeface="Arial"/>
            </a:endParaRPr>
          </a:p>
        </p:txBody>
      </p:sp>
      <p:sp>
        <p:nvSpPr>
          <p:cNvPr id="617" name="TextBox 18"/>
          <p:cNvSpPr/>
          <p:nvPr/>
        </p:nvSpPr>
        <p:spPr>
          <a:xfrm>
            <a:off x="331560" y="4997160"/>
            <a:ext cx="2479680" cy="90288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1" u="none" strike="noStrike">
                <a:solidFill>
                  <a:srgbClr val="000000"/>
                </a:solidFill>
                <a:effectLst/>
                <a:uFillTx/>
                <a:latin typeface="Arial"/>
              </a:rPr>
              <a:t>	</a:t>
            </a:r>
            <a:r>
              <a:rPr lang="en-US" sz="1000" b="1" u="none" strike="noStrike">
                <a:solidFill>
                  <a:srgbClr val="000000"/>
                </a:solidFill>
                <a:effectLst/>
                <a:uFillTx/>
                <a:latin typeface="Arial"/>
              </a:rPr>
              <a:t>Document and Synthesize Findings: </a:t>
            </a:r>
            <a:endParaRPr lang="en-US" sz="1000" b="0" u="none" strike="noStrike">
              <a:solidFill>
                <a:srgbClr val="000000"/>
              </a:solidFill>
              <a:effectLst/>
              <a:uFillTx/>
              <a:latin typeface="Arial"/>
            </a:endParaRPr>
          </a:p>
          <a:p>
            <a:pPr marL="171360" defTabSz="457200">
              <a:lnSpc>
                <a:spcPts val="1199"/>
              </a:lnSpc>
              <a:tabLst>
                <a:tab pos="0" algn="l"/>
              </a:tabLst>
            </a:pPr>
            <a:r>
              <a:rPr lang="en-US" sz="1000" b="0" u="none" strike="noStrike">
                <a:solidFill>
                  <a:srgbClr val="000000"/>
                </a:solidFill>
                <a:effectLst/>
                <a:uFillTx/>
                <a:latin typeface="Arial"/>
              </a:rPr>
              <a:t>Organize the information using key tools and list the key insights about the problem, user needs and pain-points, existing solutions, and opportunities for AI solutions. </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TextBox 1"/>
          <p:cNvSpPr/>
          <p:nvPr/>
        </p:nvSpPr>
        <p:spPr>
          <a:xfrm>
            <a:off x="10321560" y="2240640"/>
            <a:ext cx="913320" cy="4798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Stage</a:t>
            </a:r>
            <a:endParaRPr lang="en-US" sz="1000" b="0" u="none" strike="noStrike">
              <a:solidFill>
                <a:srgbClr val="000000"/>
              </a:solidFill>
              <a:effectLst/>
              <a:uFillTx/>
              <a:latin typeface="Arial"/>
            </a:endParaRPr>
          </a:p>
          <a:p>
            <a:pPr defTabSz="457200">
              <a:lnSpc>
                <a:spcPts val="1318"/>
              </a:lnSpc>
              <a:spcBef>
                <a:spcPts val="28"/>
              </a:spcBef>
            </a:pPr>
            <a:r>
              <a:rPr lang="en-US" sz="1000" b="0" i="1" u="none" strike="noStrike">
                <a:solidFill>
                  <a:srgbClr val="000000"/>
                </a:solidFill>
                <a:effectLst/>
                <a:uFillTx/>
                <a:latin typeface="Arial"/>
              </a:rPr>
              <a:t>What ends the user’s journey?</a:t>
            </a:r>
            <a:endParaRPr lang="en-US" sz="1000" b="0" u="none" strike="noStrike">
              <a:solidFill>
                <a:srgbClr val="000000"/>
              </a:solidFill>
              <a:effectLst/>
              <a:uFillTx/>
              <a:latin typeface="Arial"/>
            </a:endParaRPr>
          </a:p>
        </p:txBody>
      </p:sp>
      <p:sp>
        <p:nvSpPr>
          <p:cNvPr id="619" name="TextBox 2"/>
          <p:cNvSpPr/>
          <p:nvPr/>
        </p:nvSpPr>
        <p:spPr>
          <a:xfrm>
            <a:off x="5013360" y="224136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Stage</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sp>
        <p:nvSpPr>
          <p:cNvPr id="620" name="TextBox 3"/>
          <p:cNvSpPr/>
          <p:nvPr/>
        </p:nvSpPr>
        <p:spPr>
          <a:xfrm>
            <a:off x="7696080" y="224136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Stage</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sp>
        <p:nvSpPr>
          <p:cNvPr id="621" name="TextBox 4"/>
          <p:cNvSpPr/>
          <p:nvPr/>
        </p:nvSpPr>
        <p:spPr>
          <a:xfrm>
            <a:off x="288000" y="303120"/>
            <a:ext cx="3736080" cy="66672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Core User Tension</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Purpose:</a:t>
            </a:r>
            <a:r>
              <a:rPr lang="en-US" sz="1400" b="0" u="none" strike="noStrike">
                <a:solidFill>
                  <a:srgbClr val="000000"/>
                </a:solidFill>
                <a:effectLst/>
                <a:uFillTx/>
                <a:latin typeface="Arial"/>
              </a:rPr>
              <a:t> Capture the heart of the opportunity</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When: </a:t>
            </a:r>
            <a:r>
              <a:rPr lang="en-US" sz="1400" b="0" u="none" strike="noStrike">
                <a:solidFill>
                  <a:srgbClr val="000000"/>
                </a:solidFill>
                <a:effectLst/>
                <a:uFillTx/>
                <a:latin typeface="Arial"/>
              </a:rPr>
              <a:t>By week 1</a:t>
            </a:r>
            <a:endParaRPr lang="en-US" sz="1400" b="0" u="none" strike="noStrike">
              <a:solidFill>
                <a:srgbClr val="000000"/>
              </a:solidFill>
              <a:effectLst/>
              <a:uFillTx/>
              <a:latin typeface="Arial"/>
            </a:endParaRPr>
          </a:p>
        </p:txBody>
      </p:sp>
      <p:sp>
        <p:nvSpPr>
          <p:cNvPr id="622" name="TextBox 5"/>
          <p:cNvSpPr/>
          <p:nvPr/>
        </p:nvSpPr>
        <p:spPr>
          <a:xfrm>
            <a:off x="3627000" y="2271600"/>
            <a:ext cx="936000" cy="4798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Trigger</a:t>
            </a:r>
            <a:endParaRPr lang="en-US" sz="1000" b="0" u="none" strike="noStrike">
              <a:solidFill>
                <a:srgbClr val="000000"/>
              </a:solidFill>
              <a:effectLst/>
              <a:uFillTx/>
              <a:latin typeface="Arial"/>
            </a:endParaRPr>
          </a:p>
          <a:p>
            <a:pPr defTabSz="457200">
              <a:lnSpc>
                <a:spcPts val="1318"/>
              </a:lnSpc>
              <a:spcBef>
                <a:spcPts val="28"/>
              </a:spcBef>
            </a:pPr>
            <a:r>
              <a:rPr lang="en-US" sz="1000" b="0" i="1" u="none" strike="noStrike">
                <a:solidFill>
                  <a:srgbClr val="000000"/>
                </a:solidFill>
                <a:effectLst/>
                <a:uFillTx/>
                <a:latin typeface="Arial"/>
              </a:rPr>
              <a:t>What starts the user’s journey?</a:t>
            </a:r>
            <a:endParaRPr lang="en-US" sz="1000" b="0" u="none" strike="noStrike">
              <a:solidFill>
                <a:srgbClr val="000000"/>
              </a:solidFill>
              <a:effectLst/>
              <a:uFillTx/>
              <a:latin typeface="Arial"/>
            </a:endParaRPr>
          </a:p>
        </p:txBody>
      </p:sp>
      <p:sp>
        <p:nvSpPr>
          <p:cNvPr id="623" name="TextBox 6"/>
          <p:cNvSpPr/>
          <p:nvPr/>
        </p:nvSpPr>
        <p:spPr>
          <a:xfrm>
            <a:off x="6327720" y="227160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Stage</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sp>
        <p:nvSpPr>
          <p:cNvPr id="624" name="TextBox 7"/>
          <p:cNvSpPr/>
          <p:nvPr/>
        </p:nvSpPr>
        <p:spPr>
          <a:xfrm>
            <a:off x="9010440" y="227160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Stage</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cxnSp>
        <p:nvCxnSpPr>
          <p:cNvPr id="625" name="Connector 8"/>
          <p:cNvCxnSpPr/>
          <p:nvPr/>
        </p:nvCxnSpPr>
        <p:spPr>
          <a:xfrm>
            <a:off x="10237680" y="2249280"/>
            <a:ext cx="720" cy="1043280"/>
          </a:xfrm>
          <a:prstGeom prst="straightConnector1">
            <a:avLst/>
          </a:prstGeom>
          <a:ln w="6349">
            <a:solidFill>
              <a:srgbClr val="000000"/>
            </a:solidFill>
            <a:round/>
          </a:ln>
        </p:spPr>
      </p:cxnSp>
      <p:cxnSp>
        <p:nvCxnSpPr>
          <p:cNvPr id="626" name="Connector 9"/>
          <p:cNvCxnSpPr/>
          <p:nvPr/>
        </p:nvCxnSpPr>
        <p:spPr>
          <a:xfrm>
            <a:off x="4912200" y="2249640"/>
            <a:ext cx="720" cy="1043280"/>
          </a:xfrm>
          <a:prstGeom prst="straightConnector1">
            <a:avLst/>
          </a:prstGeom>
          <a:ln w="6349">
            <a:solidFill>
              <a:srgbClr val="000000"/>
            </a:solidFill>
            <a:round/>
          </a:ln>
        </p:spPr>
      </p:cxnSp>
      <p:cxnSp>
        <p:nvCxnSpPr>
          <p:cNvPr id="627" name="Connector 10"/>
          <p:cNvCxnSpPr/>
          <p:nvPr/>
        </p:nvCxnSpPr>
        <p:spPr>
          <a:xfrm>
            <a:off x="7594920" y="2249640"/>
            <a:ext cx="720" cy="1042920"/>
          </a:xfrm>
          <a:prstGeom prst="straightConnector1">
            <a:avLst/>
          </a:prstGeom>
          <a:ln w="6349">
            <a:solidFill>
              <a:srgbClr val="000000"/>
            </a:solidFill>
            <a:round/>
          </a:ln>
        </p:spPr>
      </p:cxnSp>
      <p:cxnSp>
        <p:nvCxnSpPr>
          <p:cNvPr id="628" name="Connector 11"/>
          <p:cNvCxnSpPr/>
          <p:nvPr/>
        </p:nvCxnSpPr>
        <p:spPr>
          <a:xfrm>
            <a:off x="3543480" y="2265480"/>
            <a:ext cx="720" cy="1043640"/>
          </a:xfrm>
          <a:prstGeom prst="straightConnector1">
            <a:avLst/>
          </a:prstGeom>
          <a:ln w="6349">
            <a:solidFill>
              <a:srgbClr val="000000"/>
            </a:solidFill>
            <a:round/>
          </a:ln>
        </p:spPr>
      </p:cxnSp>
      <p:cxnSp>
        <p:nvCxnSpPr>
          <p:cNvPr id="629" name="Connector 12"/>
          <p:cNvCxnSpPr/>
          <p:nvPr/>
        </p:nvCxnSpPr>
        <p:spPr>
          <a:xfrm>
            <a:off x="6226560" y="2265480"/>
            <a:ext cx="720" cy="1043640"/>
          </a:xfrm>
          <a:prstGeom prst="straightConnector1">
            <a:avLst/>
          </a:prstGeom>
          <a:ln w="6349">
            <a:solidFill>
              <a:srgbClr val="000000"/>
            </a:solidFill>
            <a:round/>
          </a:ln>
        </p:spPr>
      </p:cxnSp>
      <p:cxnSp>
        <p:nvCxnSpPr>
          <p:cNvPr id="630" name="Connector 13"/>
          <p:cNvCxnSpPr/>
          <p:nvPr/>
        </p:nvCxnSpPr>
        <p:spPr>
          <a:xfrm>
            <a:off x="8909280" y="2265480"/>
            <a:ext cx="720" cy="1043280"/>
          </a:xfrm>
          <a:prstGeom prst="straightConnector1">
            <a:avLst/>
          </a:prstGeom>
          <a:ln w="6349">
            <a:solidFill>
              <a:srgbClr val="000000"/>
            </a:solidFill>
            <a:round/>
          </a:ln>
        </p:spPr>
      </p:cxnSp>
      <p:pic>
        <p:nvPicPr>
          <p:cNvPr id="631" name="Picture 14" descr="image.png"/>
          <p:cNvPicPr/>
          <p:nvPr/>
        </p:nvPicPr>
        <p:blipFill>
          <a:blip r:embed="rId1"/>
          <a:stretch/>
        </p:blipFill>
        <p:spPr>
          <a:xfrm>
            <a:off x="3519720" y="3376440"/>
            <a:ext cx="7957440" cy="95400"/>
          </a:xfrm>
          <a:prstGeom prst="rect">
            <a:avLst/>
          </a:prstGeom>
          <a:noFill/>
          <a:ln w="0">
            <a:noFill/>
          </a:ln>
        </p:spPr>
      </p:pic>
      <p:sp>
        <p:nvSpPr>
          <p:cNvPr id="632" name="Oval 15"/>
          <p:cNvSpPr/>
          <p:nvPr/>
        </p:nvSpPr>
        <p:spPr>
          <a:xfrm>
            <a:off x="339012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633" name="Oval 16"/>
          <p:cNvSpPr/>
          <p:nvPr/>
        </p:nvSpPr>
        <p:spPr>
          <a:xfrm>
            <a:off x="4714200" y="3251520"/>
            <a:ext cx="337320" cy="337320"/>
          </a:xfrm>
          <a:prstGeom prst="ellipse">
            <a:avLst/>
          </a:prstGeom>
          <a:solidFill>
            <a:srgbClr val="FEDBDD"/>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634" name="Oval 17"/>
          <p:cNvSpPr/>
          <p:nvPr/>
        </p:nvSpPr>
        <p:spPr>
          <a:xfrm>
            <a:off x="607428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635" name="Oval 18"/>
          <p:cNvSpPr/>
          <p:nvPr/>
        </p:nvSpPr>
        <p:spPr>
          <a:xfrm>
            <a:off x="7398360" y="3251520"/>
            <a:ext cx="337320" cy="337320"/>
          </a:xfrm>
          <a:prstGeom prst="ellipse">
            <a:avLst/>
          </a:prstGeom>
          <a:solidFill>
            <a:srgbClr val="FEDBDD"/>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636" name="Oval 19"/>
          <p:cNvSpPr/>
          <p:nvPr/>
        </p:nvSpPr>
        <p:spPr>
          <a:xfrm>
            <a:off x="875052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637" name="Oval 20"/>
          <p:cNvSpPr/>
          <p:nvPr/>
        </p:nvSpPr>
        <p:spPr>
          <a:xfrm>
            <a:off x="1007856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638" name="TextBox 21"/>
          <p:cNvSpPr/>
          <p:nvPr/>
        </p:nvSpPr>
        <p:spPr>
          <a:xfrm>
            <a:off x="288000" y="6476760"/>
            <a:ext cx="203940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Source: If applicable, describe source origin</a:t>
            </a:r>
            <a:endParaRPr lang="en-US" sz="800" b="0" u="none" strike="noStrike">
              <a:solidFill>
                <a:srgbClr val="000000"/>
              </a:solidFill>
              <a:effectLst/>
              <a:uFillTx/>
              <a:latin typeface="Arial"/>
            </a:endParaRPr>
          </a:p>
        </p:txBody>
      </p:sp>
      <p:sp>
        <p:nvSpPr>
          <p:cNvPr id="639" name="TextBox 22"/>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31</a:t>
            </a:r>
            <a:endParaRPr lang="en-US" sz="800" b="0" u="none" strike="noStrike">
              <a:solidFill>
                <a:srgbClr val="000000"/>
              </a:solidFill>
              <a:effectLst/>
              <a:uFillTx/>
              <a:latin typeface="Arial"/>
            </a:endParaRPr>
          </a:p>
        </p:txBody>
      </p:sp>
      <p:sp>
        <p:nvSpPr>
          <p:cNvPr id="640" name="TextBox 23"/>
          <p:cNvSpPr/>
          <p:nvPr/>
        </p:nvSpPr>
        <p:spPr>
          <a:xfrm>
            <a:off x="288000" y="2261880"/>
            <a:ext cx="1739880" cy="370440"/>
          </a:xfrm>
          <a:prstGeom prst="rect">
            <a:avLst/>
          </a:prstGeom>
          <a:noFill/>
          <a:ln w="0">
            <a:noFill/>
          </a:ln>
        </p:spPr>
        <p:style>
          <a:lnRef idx="0"/>
          <a:fillRef idx="0"/>
          <a:effectRef idx="0"/>
          <a:fontRef idx="minor"/>
        </p:style>
        <p:txBody>
          <a:bodyPr lIns="0" tIns="0" rIns="0" bIns="0" anchor="t">
            <a:noAutofit/>
          </a:bodyPr>
          <a:p>
            <a:pPr defTabSz="457200">
              <a:lnSpc>
                <a:spcPts val="1582"/>
              </a:lnSpc>
            </a:pPr>
            <a:r>
              <a:rPr lang="en-US" sz="1200" b="0" u="none" strike="noStrike">
                <a:solidFill>
                  <a:srgbClr val="0F62FE"/>
                </a:solidFill>
                <a:effectLst/>
                <a:uFillTx/>
                <a:latin typeface="Arial"/>
              </a:rPr>
              <a:t>Current User Experience As-Is Snapshot</a:t>
            </a:r>
            <a:endParaRPr lang="en-US" sz="1200" b="0" u="none" strike="noStrike">
              <a:solidFill>
                <a:srgbClr val="000000"/>
              </a:solidFill>
              <a:effectLst/>
              <a:uFillTx/>
              <a:latin typeface="Arial"/>
            </a:endParaRPr>
          </a:p>
        </p:txBody>
      </p:sp>
      <p:sp>
        <p:nvSpPr>
          <p:cNvPr id="641" name="TextBox 24"/>
          <p:cNvSpPr/>
          <p:nvPr/>
        </p:nvSpPr>
        <p:spPr>
          <a:xfrm>
            <a:off x="288000" y="2829600"/>
            <a:ext cx="2304720" cy="308520"/>
          </a:xfrm>
          <a:prstGeom prst="rect">
            <a:avLst/>
          </a:prstGeom>
          <a:noFill/>
          <a:ln w="0">
            <a:noFill/>
          </a:ln>
        </p:spPr>
        <p:style>
          <a:lnRef idx="0"/>
          <a:fillRef idx="0"/>
          <a:effectRef idx="0"/>
          <a:fontRef idx="minor"/>
        </p:style>
        <p:txBody>
          <a:bodyPr lIns="0" tIns="0" rIns="0" bIns="0" anchor="t">
            <a:noAutofit/>
          </a:bodyPr>
          <a:p>
            <a:pPr defTabSz="457200">
              <a:lnSpc>
                <a:spcPts val="1318"/>
              </a:lnSpc>
            </a:pPr>
            <a:r>
              <a:rPr lang="en-US" sz="1000" b="0" i="1" u="none" strike="noStrike">
                <a:solidFill>
                  <a:srgbClr val="000000"/>
                </a:solidFill>
                <a:effectLst/>
                <a:uFillTx/>
                <a:latin typeface="Arial"/>
              </a:rPr>
              <a:t>Map the existing journey and key steps users take now</a:t>
            </a:r>
            <a:endParaRPr lang="en-US" sz="1000" b="0" u="none" strike="noStrike">
              <a:solidFill>
                <a:srgbClr val="000000"/>
              </a:solidFill>
              <a:effectLst/>
              <a:uFillTx/>
              <a:latin typeface="Arial"/>
            </a:endParaRPr>
          </a:p>
        </p:txBody>
      </p:sp>
      <p:sp>
        <p:nvSpPr>
          <p:cNvPr id="642" name="TextBox 25"/>
          <p:cNvSpPr/>
          <p:nvPr/>
        </p:nvSpPr>
        <p:spPr>
          <a:xfrm>
            <a:off x="333720" y="3633840"/>
            <a:ext cx="16124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Key pains / frustrations</a:t>
            </a:r>
            <a:endParaRPr lang="en-US" sz="1200" b="0" u="none" strike="noStrike">
              <a:solidFill>
                <a:srgbClr val="000000"/>
              </a:solidFill>
              <a:effectLst/>
              <a:uFillTx/>
              <a:latin typeface="Arial"/>
            </a:endParaRPr>
          </a:p>
        </p:txBody>
      </p:sp>
      <p:sp>
        <p:nvSpPr>
          <p:cNvPr id="643" name="TextBox 26"/>
          <p:cNvSpPr/>
          <p:nvPr/>
        </p:nvSpPr>
        <p:spPr>
          <a:xfrm>
            <a:off x="333720" y="3999960"/>
            <a:ext cx="2490840" cy="277200"/>
          </a:xfrm>
          <a:prstGeom prst="rect">
            <a:avLst/>
          </a:prstGeom>
          <a:noFill/>
          <a:ln w="0">
            <a:noFill/>
          </a:ln>
        </p:spPr>
        <p:style>
          <a:lnRef idx="0"/>
          <a:fillRef idx="0"/>
          <a:effectRef idx="0"/>
          <a:fontRef idx="minor"/>
        </p:style>
        <p:txBody>
          <a:bodyPr lIns="0" tIns="0" rIns="0" bIns="0" anchor="t">
            <a:noAutofit/>
          </a:bodyPr>
          <a:p>
            <a:pPr defTabSz="457200">
              <a:lnSpc>
                <a:spcPts val="1188"/>
              </a:lnSpc>
            </a:pPr>
            <a:r>
              <a:rPr lang="en-US" sz="900" b="1" u="none" strike="noStrike">
                <a:solidFill>
                  <a:srgbClr val="000000"/>
                </a:solidFill>
                <a:effectLst/>
                <a:uFillTx/>
                <a:latin typeface="Arial"/>
              </a:rPr>
              <a:t>Max 3: </a:t>
            </a:r>
            <a:r>
              <a:rPr lang="en-US" sz="900" b="0" i="1" u="none" strike="noStrike">
                <a:solidFill>
                  <a:srgbClr val="000000"/>
                </a:solidFill>
                <a:effectLst/>
                <a:uFillTx/>
                <a:latin typeface="Arial"/>
              </a:rPr>
              <a:t>List the top fiction/pain points that block the user’s goal.</a:t>
            </a:r>
            <a:endParaRPr lang="en-US" sz="900" b="0" u="none" strike="noStrike">
              <a:solidFill>
                <a:srgbClr val="000000"/>
              </a:solidFill>
              <a:effectLst/>
              <a:uFillTx/>
              <a:latin typeface="Arial"/>
            </a:endParaRPr>
          </a:p>
        </p:txBody>
      </p:sp>
      <p:sp>
        <p:nvSpPr>
          <p:cNvPr id="644" name="TextBox 27"/>
          <p:cNvSpPr/>
          <p:nvPr/>
        </p:nvSpPr>
        <p:spPr>
          <a:xfrm>
            <a:off x="333720" y="4452480"/>
            <a:ext cx="127800" cy="428400"/>
          </a:xfrm>
          <a:prstGeom prst="rect">
            <a:avLst/>
          </a:prstGeom>
          <a:noFill/>
          <a:ln w="0">
            <a:noFill/>
          </a:ln>
        </p:spPr>
        <p:style>
          <a:lnRef idx="0"/>
          <a:fillRef idx="0"/>
          <a:effectRef idx="0"/>
          <a:fontRef idx="minor"/>
        </p:style>
        <p:txBody>
          <a:bodyPr lIns="0" tIns="0" rIns="0" bIns="0" anchor="t">
            <a:noAutofit/>
          </a:bodyPr>
          <a:p>
            <a:pPr defTabSz="457200">
              <a:lnSpc>
                <a:spcPts val="1035"/>
              </a:lnSpc>
            </a:pPr>
            <a:r>
              <a:rPr lang="en-US" sz="900" b="0" u="none" strike="noStrike">
                <a:solidFill>
                  <a:srgbClr val="000000"/>
                </a:solidFill>
                <a:effectLst/>
                <a:uFillTx/>
                <a:latin typeface="Arial"/>
              </a:rPr>
              <a:t>1.</a:t>
            </a:r>
            <a:endParaRPr lang="en-US" sz="900" b="0" u="none" strike="noStrike">
              <a:solidFill>
                <a:srgbClr val="000000"/>
              </a:solidFill>
              <a:effectLst/>
              <a:uFillTx/>
              <a:latin typeface="Arial"/>
            </a:endParaRPr>
          </a:p>
          <a:p>
            <a:pPr defTabSz="457200">
              <a:lnSpc>
                <a:spcPts val="1035"/>
              </a:lnSpc>
              <a:spcBef>
                <a:spcPts val="153"/>
              </a:spcBef>
            </a:pPr>
            <a:r>
              <a:rPr lang="en-US" sz="900" b="0" u="none" strike="noStrike">
                <a:solidFill>
                  <a:srgbClr val="000000"/>
                </a:solidFill>
                <a:effectLst/>
                <a:uFillTx/>
                <a:latin typeface="Arial"/>
              </a:rPr>
              <a:t>2.</a:t>
            </a:r>
            <a:endParaRPr lang="en-US" sz="900" b="0" u="none" strike="noStrike">
              <a:solidFill>
                <a:srgbClr val="000000"/>
              </a:solidFill>
              <a:effectLst/>
              <a:uFillTx/>
              <a:latin typeface="Arial"/>
            </a:endParaRPr>
          </a:p>
          <a:p>
            <a:pPr defTabSz="457200">
              <a:lnSpc>
                <a:spcPts val="1035"/>
              </a:lnSpc>
              <a:spcBef>
                <a:spcPts val="153"/>
              </a:spcBef>
            </a:pPr>
            <a:r>
              <a:rPr lang="en-US" sz="900" b="0" u="none" strike="noStrike">
                <a:solidFill>
                  <a:srgbClr val="000000"/>
                </a:solidFill>
                <a:effectLst/>
                <a:uFillTx/>
                <a:latin typeface="Arial"/>
              </a:rPr>
              <a:t>3.</a:t>
            </a:r>
            <a:endParaRPr lang="en-US" sz="900" b="0" u="none" strike="noStrike">
              <a:solidFill>
                <a:srgbClr val="000000"/>
              </a:solidFill>
              <a:effectLst/>
              <a:uFillTx/>
              <a:latin typeface="Arial"/>
            </a:endParaRPr>
          </a:p>
        </p:txBody>
      </p:sp>
      <p:pic>
        <p:nvPicPr>
          <p:cNvPr id="645" name="Picture 28" descr="image.png"/>
          <p:cNvPicPr/>
          <p:nvPr/>
        </p:nvPicPr>
        <p:blipFill>
          <a:blip r:embed="rId2"/>
          <a:stretch/>
        </p:blipFill>
        <p:spPr>
          <a:xfrm>
            <a:off x="3531240" y="4762080"/>
            <a:ext cx="6718680" cy="123120"/>
          </a:xfrm>
          <a:prstGeom prst="rect">
            <a:avLst/>
          </a:prstGeom>
          <a:noFill/>
          <a:ln w="0">
            <a:noFill/>
          </a:ln>
        </p:spPr>
      </p:pic>
      <p:sp>
        <p:nvSpPr>
          <p:cNvPr id="646" name="TextBox 29"/>
          <p:cNvSpPr/>
          <p:nvPr/>
        </p:nvSpPr>
        <p:spPr>
          <a:xfrm>
            <a:off x="5988600" y="5016960"/>
            <a:ext cx="193176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Where friction (pain points) </a:t>
            </a:r>
            <a:endParaRPr lang="en-US" sz="1200" b="0" u="none" strike="noStrike">
              <a:solidFill>
                <a:srgbClr val="000000"/>
              </a:solidFill>
              <a:effectLst/>
              <a:uFillTx/>
              <a:latin typeface="Arial"/>
            </a:endParaRPr>
          </a:p>
        </p:txBody>
      </p:sp>
      <p:sp>
        <p:nvSpPr>
          <p:cNvPr id="647" name="TextBox 30"/>
          <p:cNvSpPr/>
          <p:nvPr/>
        </p:nvSpPr>
        <p:spPr>
          <a:xfrm>
            <a:off x="5879160" y="5218200"/>
            <a:ext cx="2148120" cy="339480"/>
          </a:xfrm>
          <a:prstGeom prst="rect">
            <a:avLst/>
          </a:prstGeom>
          <a:noFill/>
          <a:ln w="0">
            <a:noFill/>
          </a:ln>
        </p:spPr>
        <p:style>
          <a:lnRef idx="0"/>
          <a:fillRef idx="0"/>
          <a:effectRef idx="0"/>
          <a:fontRef idx="minor"/>
        </p:style>
        <p:txBody>
          <a:bodyPr lIns="0" tIns="0" rIns="0" bIns="0" anchor="t">
            <a:noAutofit/>
          </a:bodyPr>
          <a:p>
            <a:pPr marL="796320" defTabSz="457200">
              <a:lnSpc>
                <a:spcPts val="1378"/>
              </a:lnSpc>
              <a:tabLst>
                <a:tab pos="0" algn="l"/>
              </a:tabLst>
            </a:pPr>
            <a:r>
              <a:rPr lang="en-US" sz="1200" b="0" u="none" strike="noStrike">
                <a:solidFill>
                  <a:srgbClr val="0F62FE"/>
                </a:solidFill>
                <a:effectLst/>
                <a:uFillTx/>
                <a:latin typeface="Arial"/>
              </a:rPr>
              <a:t>occurs</a:t>
            </a:r>
            <a:endParaRPr lang="en-US" sz="1200" b="0" u="none" strike="noStrike">
              <a:solidFill>
                <a:srgbClr val="000000"/>
              </a:solidFill>
              <a:effectLst/>
              <a:uFillTx/>
              <a:latin typeface="Arial"/>
            </a:endParaRPr>
          </a:p>
          <a:p>
            <a:pPr defTabSz="457200">
              <a:lnSpc>
                <a:spcPts val="1151"/>
              </a:lnSpc>
              <a:spcBef>
                <a:spcPts val="232"/>
              </a:spcBef>
              <a:tabLst>
                <a:tab pos="0" algn="l"/>
              </a:tabLst>
            </a:pPr>
            <a:r>
              <a:rPr lang="en-US" sz="1000" b="0" i="1" u="none" strike="noStrike">
                <a:solidFill>
                  <a:srgbClr val="000000"/>
                </a:solidFill>
                <a:effectLst/>
                <a:uFillTx/>
                <a:latin typeface="Arial"/>
              </a:rPr>
              <a:t>Highlight where pain-points, such as </a:t>
            </a:r>
            <a:endParaRPr lang="en-US" sz="1000" b="0" u="none" strike="noStrike">
              <a:solidFill>
                <a:srgbClr val="000000"/>
              </a:solidFill>
              <a:effectLst/>
              <a:uFillTx/>
              <a:latin typeface="Arial"/>
            </a:endParaRPr>
          </a:p>
        </p:txBody>
      </p:sp>
      <p:sp>
        <p:nvSpPr>
          <p:cNvPr id="648" name="TextBox 31"/>
          <p:cNvSpPr/>
          <p:nvPr/>
        </p:nvSpPr>
        <p:spPr>
          <a:xfrm>
            <a:off x="5929920" y="5584680"/>
            <a:ext cx="204336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delays, errors, rework, or cognitive </a:t>
            </a:r>
            <a:endParaRPr lang="en-US" sz="1000" b="0" u="none" strike="noStrike">
              <a:solidFill>
                <a:srgbClr val="000000"/>
              </a:solidFill>
              <a:effectLst/>
              <a:uFillTx/>
              <a:latin typeface="Arial"/>
            </a:endParaRPr>
          </a:p>
        </p:txBody>
      </p:sp>
      <p:sp>
        <p:nvSpPr>
          <p:cNvPr id="649" name="TextBox 32"/>
          <p:cNvSpPr/>
          <p:nvPr/>
        </p:nvSpPr>
        <p:spPr>
          <a:xfrm>
            <a:off x="6408360" y="5752080"/>
            <a:ext cx="103248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overload happen.</a:t>
            </a:r>
            <a:endParaRPr lang="en-US" sz="1000" b="0" u="none" strike="noStrike">
              <a:solidFill>
                <a:srgbClr val="000000"/>
              </a:solidFill>
              <a:effectLst/>
              <a:uFillTx/>
              <a:latin typeface="Arial"/>
            </a:endParaRPr>
          </a:p>
        </p:txBody>
      </p:sp>
      <p:sp>
        <p:nvSpPr>
          <p:cNvPr id="650" name="TextBox 33"/>
          <p:cNvSpPr/>
          <p:nvPr/>
        </p:nvSpPr>
        <p:spPr>
          <a:xfrm>
            <a:off x="333720" y="1119240"/>
            <a:ext cx="4129920" cy="33984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User goal</a:t>
            </a:r>
            <a:endParaRPr lang="en-US" sz="1200" b="0" u="none" strike="noStrike">
              <a:solidFill>
                <a:srgbClr val="000000"/>
              </a:solidFill>
              <a:effectLst/>
              <a:uFillTx/>
              <a:latin typeface="Arial"/>
            </a:endParaRPr>
          </a:p>
          <a:p>
            <a:pPr defTabSz="457200">
              <a:lnSpc>
                <a:spcPts val="1151"/>
              </a:lnSpc>
              <a:spcBef>
                <a:spcPts val="232"/>
              </a:spcBef>
            </a:pPr>
            <a:r>
              <a:rPr lang="en-US" sz="1000" b="1" i="1" u="none" strike="noStrike">
                <a:solidFill>
                  <a:srgbClr val="000000"/>
                </a:solidFill>
                <a:effectLst/>
                <a:uFillTx/>
                <a:latin typeface="Arial"/>
              </a:rPr>
              <a:t>1 sentence: </a:t>
            </a:r>
            <a:r>
              <a:rPr lang="en-US" sz="1000" b="0" i="1" u="none" strike="noStrike">
                <a:solidFill>
                  <a:srgbClr val="000000"/>
                </a:solidFill>
                <a:effectLst/>
                <a:uFillTx/>
                <a:latin typeface="Arial"/>
              </a:rPr>
              <a:t>What is the user trying to achieve? Keep it short and clear.</a:t>
            </a:r>
            <a:endParaRPr lang="en-US" sz="1000" b="0" u="none" strike="noStrike">
              <a:solidFill>
                <a:srgbClr val="000000"/>
              </a:solidFill>
              <a:effectLst/>
              <a:uFillTx/>
              <a:latin typeface="Arial"/>
            </a:endParaRPr>
          </a:p>
        </p:txBody>
      </p:sp>
      <p:sp>
        <p:nvSpPr>
          <p:cNvPr id="651" name="TextBox 34"/>
          <p:cNvSpPr/>
          <p:nvPr/>
        </p:nvSpPr>
        <p:spPr>
          <a:xfrm>
            <a:off x="5013360" y="3620160"/>
            <a:ext cx="1139400" cy="8308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Key pain / </a:t>
            </a:r>
            <a:endParaRPr lang="en-US" sz="1000" b="0" u="none" strike="noStrike">
              <a:solidFill>
                <a:srgbClr val="000000"/>
              </a:solidFill>
              <a:effectLst/>
              <a:uFillTx/>
              <a:latin typeface="Arial"/>
            </a:endParaRPr>
          </a:p>
          <a:p>
            <a:pPr defTabSz="457200">
              <a:lnSpc>
                <a:spcPts val="1154"/>
              </a:lnSpc>
              <a:spcBef>
                <a:spcPts val="286"/>
              </a:spcBef>
            </a:pPr>
            <a:r>
              <a:rPr lang="en-US" sz="1000" b="1" u="none" strike="noStrike">
                <a:solidFill>
                  <a:srgbClr val="000000"/>
                </a:solidFill>
                <a:effectLst/>
                <a:uFillTx/>
                <a:latin typeface="Arial"/>
              </a:rPr>
              <a:t>frustration</a:t>
            </a:r>
            <a:endParaRPr lang="en-US" sz="1000" b="0" u="none" strike="noStrike">
              <a:solidFill>
                <a:srgbClr val="000000"/>
              </a:solidFill>
              <a:effectLst/>
              <a:uFillTx/>
              <a:latin typeface="Arial"/>
            </a:endParaRPr>
          </a:p>
          <a:p>
            <a:pPr defTabSz="457200">
              <a:lnSpc>
                <a:spcPts val="1318"/>
              </a:lnSpc>
              <a:spcBef>
                <a:spcPts val="31"/>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sp>
        <p:nvSpPr>
          <p:cNvPr id="652" name="TextBox 35"/>
          <p:cNvSpPr/>
          <p:nvPr/>
        </p:nvSpPr>
        <p:spPr>
          <a:xfrm>
            <a:off x="7696080" y="3611880"/>
            <a:ext cx="1139400" cy="8308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Key pain / </a:t>
            </a:r>
            <a:endParaRPr lang="en-US" sz="1000" b="0" u="none" strike="noStrike">
              <a:solidFill>
                <a:srgbClr val="000000"/>
              </a:solidFill>
              <a:effectLst/>
              <a:uFillTx/>
              <a:latin typeface="Arial"/>
            </a:endParaRPr>
          </a:p>
          <a:p>
            <a:pPr defTabSz="457200">
              <a:lnSpc>
                <a:spcPts val="1151"/>
              </a:lnSpc>
              <a:spcBef>
                <a:spcPts val="289"/>
              </a:spcBef>
            </a:pPr>
            <a:r>
              <a:rPr lang="en-US" sz="1000" b="1" u="none" strike="noStrike">
                <a:solidFill>
                  <a:srgbClr val="000000"/>
                </a:solidFill>
                <a:effectLst/>
                <a:uFillTx/>
                <a:latin typeface="Arial"/>
              </a:rPr>
              <a:t>frustration</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sp>
        <p:nvSpPr>
          <p:cNvPr id="653" name="Rectangle 36"/>
          <p:cNvSpPr/>
          <p:nvPr/>
        </p:nvSpPr>
        <p:spPr>
          <a:xfrm>
            <a:off x="5849640" y="288000"/>
            <a:ext cx="17449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654" name="TextBox 37"/>
          <p:cNvSpPr/>
          <p:nvPr/>
        </p:nvSpPr>
        <p:spPr>
          <a:xfrm>
            <a:off x="5895360" y="342000"/>
            <a:ext cx="1056960" cy="44604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Key tools:</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Empathy Map</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As-Is-Scenario</a:t>
            </a:r>
            <a:endParaRPr lang="en-US" sz="1000" b="0" u="none" strike="noStrike">
              <a:solidFill>
                <a:srgbClr val="000000"/>
              </a:solidFill>
              <a:effectLst/>
              <a:uFillTx/>
              <a:latin typeface="Arial"/>
            </a:endParaRPr>
          </a:p>
        </p:txBody>
      </p:sp>
      <p:sp>
        <p:nvSpPr>
          <p:cNvPr id="655" name="Rectangle 38"/>
          <p:cNvSpPr/>
          <p:nvPr/>
        </p:nvSpPr>
        <p:spPr>
          <a:xfrm>
            <a:off x="7595280" y="288000"/>
            <a:ext cx="386928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656" name="TextBox 39"/>
          <p:cNvSpPr/>
          <p:nvPr/>
        </p:nvSpPr>
        <p:spPr>
          <a:xfrm>
            <a:off x="7641360" y="342000"/>
            <a:ext cx="3418560" cy="5986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Focus on understanding what users are experiencing. </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Interview or survey users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Consult with industry experts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Explore industry reports and case studies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Rectangle 1"/>
          <p:cNvSpPr/>
          <p:nvPr/>
        </p:nvSpPr>
        <p:spPr>
          <a:xfrm>
            <a:off x="6096960" y="0"/>
            <a:ext cx="6094440" cy="6856560"/>
          </a:xfrm>
          <a:prstGeom prst="rect">
            <a:avLst/>
          </a:prstGeom>
          <a:solidFill>
            <a:srgbClr val="E5F6FF"/>
          </a:solidFill>
          <a:ln w="9523">
            <a:solidFill>
              <a:srgbClr val="E5F6FF"/>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658" name="TextBox 2"/>
          <p:cNvSpPr/>
          <p:nvPr/>
        </p:nvSpPr>
        <p:spPr>
          <a:xfrm>
            <a:off x="290520" y="2161080"/>
            <a:ext cx="3431880" cy="3085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What makes it hard to solve the problem today?</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Complexity, ambiguity, unstructured data, coordination, etc.</a:t>
            </a:r>
            <a:endParaRPr lang="en-US" sz="1000" b="0" u="none" strike="noStrike">
              <a:solidFill>
                <a:srgbClr val="000000"/>
              </a:solidFill>
              <a:effectLst/>
              <a:uFillTx/>
              <a:latin typeface="Arial"/>
            </a:endParaRPr>
          </a:p>
        </p:txBody>
      </p:sp>
      <p:sp>
        <p:nvSpPr>
          <p:cNvPr id="659" name="TextBox 3"/>
          <p:cNvSpPr/>
          <p:nvPr/>
        </p:nvSpPr>
        <p:spPr>
          <a:xfrm>
            <a:off x="290520" y="2664000"/>
            <a:ext cx="3863880" cy="308520"/>
          </a:xfrm>
          <a:prstGeom prst="rect">
            <a:avLst/>
          </a:prstGeom>
          <a:noFill/>
          <a:ln w="0">
            <a:noFill/>
          </a:ln>
        </p:spPr>
        <p:style>
          <a:lnRef idx="0"/>
          <a:fillRef idx="0"/>
          <a:effectRef idx="0"/>
          <a:fontRef idx="minor"/>
        </p:style>
        <p:txBody>
          <a:bodyPr lIns="0" tIns="0" rIns="0" bIns="0" anchor="t">
            <a:noAutofit/>
          </a:bodyPr>
          <a:p>
            <a:pPr defTabSz="457200">
              <a:lnSpc>
                <a:spcPts val="1318"/>
              </a:lnSpc>
            </a:pPr>
            <a:r>
              <a:rPr lang="en-US" sz="1000" b="0" i="1" u="none" strike="noStrike">
                <a:solidFill>
                  <a:srgbClr val="000000"/>
                </a:solidFill>
                <a:effectLst/>
                <a:uFillTx/>
                <a:latin typeface="Arial"/>
              </a:rPr>
              <a:t>Explain why “more automation” or “better UI” alone won’t solve the problem.</a:t>
            </a:r>
            <a:endParaRPr lang="en-US" sz="1000" b="0" u="none" strike="noStrike">
              <a:solidFill>
                <a:srgbClr val="000000"/>
              </a:solidFill>
              <a:effectLst/>
              <a:uFillTx/>
              <a:latin typeface="Arial"/>
            </a:endParaRPr>
          </a:p>
        </p:txBody>
      </p:sp>
      <p:sp>
        <p:nvSpPr>
          <p:cNvPr id="660" name="TextBox 4"/>
          <p:cNvSpPr/>
          <p:nvPr/>
        </p:nvSpPr>
        <p:spPr>
          <a:xfrm>
            <a:off x="6381360" y="1727280"/>
            <a:ext cx="2588760" cy="33984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Existing tools / processes used today</a:t>
            </a:r>
            <a:endParaRPr lang="en-US" sz="1200" b="0" u="none" strike="noStrike">
              <a:solidFill>
                <a:srgbClr val="000000"/>
              </a:solidFill>
              <a:effectLst/>
              <a:uFillTx/>
              <a:latin typeface="Arial"/>
            </a:endParaRPr>
          </a:p>
          <a:p>
            <a:pPr defTabSz="457200">
              <a:lnSpc>
                <a:spcPts val="1151"/>
              </a:lnSpc>
              <a:spcBef>
                <a:spcPts val="235"/>
              </a:spcBef>
            </a:pPr>
            <a:r>
              <a:rPr lang="en-US" sz="1000" b="0" i="1" u="none" strike="noStrike">
                <a:solidFill>
                  <a:srgbClr val="000000"/>
                </a:solidFill>
                <a:effectLst/>
                <a:uFillTx/>
                <a:latin typeface="Arial"/>
              </a:rPr>
              <a:t>List what solutions users rely on now today</a:t>
            </a:r>
            <a:endParaRPr lang="en-US" sz="1000" b="0" u="none" strike="noStrike">
              <a:solidFill>
                <a:srgbClr val="000000"/>
              </a:solidFill>
              <a:effectLst/>
              <a:uFillTx/>
              <a:latin typeface="Arial"/>
            </a:endParaRPr>
          </a:p>
        </p:txBody>
      </p:sp>
      <p:sp>
        <p:nvSpPr>
          <p:cNvPr id="661" name="TextBox 5"/>
          <p:cNvSpPr/>
          <p:nvPr/>
        </p:nvSpPr>
        <p:spPr>
          <a:xfrm>
            <a:off x="6381360" y="2297520"/>
            <a:ext cx="3928680" cy="33948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What they do well</a:t>
            </a:r>
            <a:endParaRPr lang="en-US" sz="1200" b="0" u="none" strike="noStrike">
              <a:solidFill>
                <a:srgbClr val="000000"/>
              </a:solidFill>
              <a:effectLst/>
              <a:uFillTx/>
              <a:latin typeface="Arial"/>
            </a:endParaRPr>
          </a:p>
          <a:p>
            <a:pPr defTabSz="457200">
              <a:lnSpc>
                <a:spcPts val="1151"/>
              </a:lnSpc>
              <a:spcBef>
                <a:spcPts val="232"/>
              </a:spcBef>
            </a:pPr>
            <a:r>
              <a:rPr lang="en-US" sz="1000" b="0" i="1" u="none" strike="noStrike">
                <a:solidFill>
                  <a:srgbClr val="000000"/>
                </a:solidFill>
                <a:effectLst/>
                <a:uFillTx/>
                <a:latin typeface="Arial"/>
              </a:rPr>
              <a:t>Identify strengths of existing solutions to avoid reinventing the wheel</a:t>
            </a:r>
            <a:endParaRPr lang="en-US" sz="1000" b="0" u="none" strike="noStrike">
              <a:solidFill>
                <a:srgbClr val="000000"/>
              </a:solidFill>
              <a:effectLst/>
              <a:uFillTx/>
              <a:latin typeface="Arial"/>
            </a:endParaRPr>
          </a:p>
        </p:txBody>
      </p:sp>
      <p:sp>
        <p:nvSpPr>
          <p:cNvPr id="662" name="TextBox 6"/>
          <p:cNvSpPr/>
          <p:nvPr/>
        </p:nvSpPr>
        <p:spPr>
          <a:xfrm>
            <a:off x="6381360" y="2867400"/>
            <a:ext cx="4548240" cy="50724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Where they break down</a:t>
            </a:r>
            <a:endParaRPr lang="en-US" sz="1200" b="0" u="none" strike="noStrike">
              <a:solidFill>
                <a:srgbClr val="000000"/>
              </a:solidFill>
              <a:effectLst/>
              <a:uFillTx/>
              <a:latin typeface="Arial"/>
            </a:endParaRPr>
          </a:p>
          <a:p>
            <a:pPr defTabSz="457200">
              <a:lnSpc>
                <a:spcPts val="1321"/>
              </a:lnSpc>
              <a:spcBef>
                <a:spcPts val="65"/>
              </a:spcBef>
            </a:pPr>
            <a:r>
              <a:rPr lang="en-US" sz="1000" b="0" i="1" u="none" strike="noStrike">
                <a:solidFill>
                  <a:srgbClr val="000000"/>
                </a:solidFill>
                <a:effectLst/>
                <a:uFillTx/>
                <a:latin typeface="Arial"/>
              </a:rPr>
              <a:t>Explain why these solutions fail to solve the user pain points (e.g., too manual, fragmented, rigid)</a:t>
            </a:r>
            <a:endParaRPr lang="en-US" sz="1000" b="0" u="none" strike="noStrike">
              <a:solidFill>
                <a:srgbClr val="000000"/>
              </a:solidFill>
              <a:effectLst/>
              <a:uFillTx/>
              <a:latin typeface="Arial"/>
            </a:endParaRPr>
          </a:p>
        </p:txBody>
      </p:sp>
      <p:sp>
        <p:nvSpPr>
          <p:cNvPr id="663" name="TextBox 7"/>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32</a:t>
            </a:r>
            <a:endParaRPr lang="en-US" sz="800" b="0" u="none" strike="noStrike">
              <a:solidFill>
                <a:srgbClr val="000000"/>
              </a:solidFill>
              <a:effectLst/>
              <a:uFillTx/>
              <a:latin typeface="Arial"/>
            </a:endParaRPr>
          </a:p>
        </p:txBody>
      </p:sp>
      <p:sp>
        <p:nvSpPr>
          <p:cNvPr id="664" name="TextBox 8"/>
          <p:cNvSpPr/>
          <p:nvPr/>
        </p:nvSpPr>
        <p:spPr>
          <a:xfrm>
            <a:off x="288000" y="300240"/>
            <a:ext cx="235872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Why Current Solutions Fail</a:t>
            </a:r>
            <a:endParaRPr lang="en-US" sz="1400" b="0" u="none" strike="noStrike">
              <a:solidFill>
                <a:srgbClr val="000000"/>
              </a:solidFill>
              <a:effectLst/>
              <a:uFillTx/>
              <a:latin typeface="Arial"/>
            </a:endParaRPr>
          </a:p>
        </p:txBody>
      </p:sp>
      <p:sp>
        <p:nvSpPr>
          <p:cNvPr id="665" name="TextBox 9"/>
          <p:cNvSpPr/>
          <p:nvPr/>
        </p:nvSpPr>
        <p:spPr>
          <a:xfrm>
            <a:off x="288000" y="727200"/>
            <a:ext cx="4423320" cy="41040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Purpose:</a:t>
            </a:r>
            <a:r>
              <a:rPr lang="en-US" sz="1400" b="0" u="none" strike="noStrike">
                <a:solidFill>
                  <a:srgbClr val="000000"/>
                </a:solidFill>
                <a:effectLst/>
                <a:uFillTx/>
                <a:latin typeface="Arial"/>
              </a:rPr>
              <a:t> Understand gaps in existing tools/processes</a:t>
            </a:r>
            <a:endParaRPr lang="en-US" sz="1400" b="0" u="none" strike="noStrike">
              <a:solidFill>
                <a:srgbClr val="000000"/>
              </a:solidFill>
              <a:effectLst/>
              <a:uFillTx/>
              <a:latin typeface="Arial"/>
            </a:endParaRPr>
          </a:p>
          <a:p>
            <a:pPr defTabSz="457200">
              <a:lnSpc>
                <a:spcPts val="1607"/>
              </a:lnSpc>
              <a:spcBef>
                <a:spcPts val="71"/>
              </a:spcBef>
            </a:pPr>
            <a:r>
              <a:rPr lang="en-US" sz="1400" b="1" u="none" strike="noStrike">
                <a:solidFill>
                  <a:srgbClr val="000000"/>
                </a:solidFill>
                <a:effectLst/>
                <a:uFillTx/>
                <a:latin typeface="Arial"/>
              </a:rPr>
              <a:t>When: </a:t>
            </a:r>
            <a:r>
              <a:rPr lang="en-US" sz="1400" b="0" u="none" strike="noStrike">
                <a:solidFill>
                  <a:srgbClr val="000000"/>
                </a:solidFill>
                <a:effectLst/>
                <a:uFillTx/>
                <a:latin typeface="Arial"/>
              </a:rPr>
              <a:t>By Week 1/2</a:t>
            </a:r>
            <a:endParaRPr lang="en-US" sz="1400" b="0" u="none" strike="noStrike">
              <a:solidFill>
                <a:srgbClr val="000000"/>
              </a:solidFill>
              <a:effectLst/>
              <a:uFillTx/>
              <a:latin typeface="Arial"/>
            </a:endParaRPr>
          </a:p>
        </p:txBody>
      </p:sp>
      <p:sp>
        <p:nvSpPr>
          <p:cNvPr id="666" name="Rectangle 10"/>
          <p:cNvSpPr/>
          <p:nvPr/>
        </p:nvSpPr>
        <p:spPr>
          <a:xfrm>
            <a:off x="285840" y="3300480"/>
            <a:ext cx="4630680" cy="16606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667" name="TextBox 11"/>
          <p:cNvSpPr/>
          <p:nvPr/>
        </p:nvSpPr>
        <p:spPr>
          <a:xfrm>
            <a:off x="331560" y="3354840"/>
            <a:ext cx="105696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Key tools: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Empathy Map</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As-Is-Scenario</a:t>
            </a:r>
            <a:endParaRPr lang="en-US" sz="1000" b="0" u="none" strike="noStrike">
              <a:solidFill>
                <a:srgbClr val="000000"/>
              </a:solidFill>
              <a:effectLst/>
              <a:uFillTx/>
              <a:latin typeface="Arial"/>
            </a:endParaRPr>
          </a:p>
        </p:txBody>
      </p:sp>
      <p:sp>
        <p:nvSpPr>
          <p:cNvPr id="668" name="TextBox 12"/>
          <p:cNvSpPr/>
          <p:nvPr/>
        </p:nvSpPr>
        <p:spPr>
          <a:xfrm>
            <a:off x="331560" y="3964320"/>
            <a:ext cx="4543560" cy="90288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Focus on understanding what solutions users are already using and why they don’t solve the problem – this will help you understand what opportunities exist for you to innovate and offer better solutions.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Research existing solutions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Interview or survey users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Consult with industry experts</a:t>
            </a:r>
            <a:endParaRPr lang="en-US" sz="1000" b="0" u="none" strike="noStrike">
              <a:solidFill>
                <a:srgbClr val="000000"/>
              </a:solidFill>
              <a:effectLst/>
              <a:uFillTx/>
              <a:latin typeface="Arial"/>
            </a:endParaRPr>
          </a:p>
        </p:txBody>
      </p:sp>
      <p:sp>
        <p:nvSpPr>
          <p:cNvPr id="669" name="TextBox 13"/>
          <p:cNvSpPr/>
          <p:nvPr/>
        </p:nvSpPr>
        <p:spPr>
          <a:xfrm>
            <a:off x="290520" y="1727280"/>
            <a:ext cx="2544840" cy="16920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Key insight – why the problem exists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TextBox 1"/>
          <p:cNvSpPr/>
          <p:nvPr/>
        </p:nvSpPr>
        <p:spPr>
          <a:xfrm>
            <a:off x="287280" y="1794960"/>
            <a:ext cx="1180080" cy="16920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Why Agentic AI?</a:t>
            </a:r>
            <a:endParaRPr lang="en-US" sz="1200" b="0" u="none" strike="noStrike">
              <a:solidFill>
                <a:srgbClr val="000000"/>
              </a:solidFill>
              <a:effectLst/>
              <a:uFillTx/>
              <a:latin typeface="Arial"/>
            </a:endParaRPr>
          </a:p>
        </p:txBody>
      </p:sp>
      <p:sp>
        <p:nvSpPr>
          <p:cNvPr id="671" name="TextBox 2"/>
          <p:cNvSpPr/>
          <p:nvPr/>
        </p:nvSpPr>
        <p:spPr>
          <a:xfrm>
            <a:off x="287280" y="2195280"/>
            <a:ext cx="3555000" cy="644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Answer:</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What would the system understand better with Agentic AI?</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What decisions could be improved?</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What coordination could be simplified?</a:t>
            </a:r>
            <a:endParaRPr lang="en-US" sz="1000" b="0" u="none" strike="noStrike">
              <a:solidFill>
                <a:srgbClr val="000000"/>
              </a:solidFill>
              <a:effectLst/>
              <a:uFillTx/>
              <a:latin typeface="Arial"/>
            </a:endParaRPr>
          </a:p>
        </p:txBody>
      </p:sp>
      <p:pic>
        <p:nvPicPr>
          <p:cNvPr id="672" name="Picture 3" descr="image.png"/>
          <p:cNvPicPr/>
          <p:nvPr/>
        </p:nvPicPr>
        <p:blipFill>
          <a:blip r:embed="rId1"/>
          <a:stretch/>
        </p:blipFill>
        <p:spPr>
          <a:xfrm>
            <a:off x="4874040" y="3153600"/>
            <a:ext cx="326520" cy="266400"/>
          </a:xfrm>
          <a:prstGeom prst="rect">
            <a:avLst/>
          </a:prstGeom>
          <a:noFill/>
          <a:ln w="0">
            <a:noFill/>
          </a:ln>
        </p:spPr>
      </p:pic>
      <p:sp>
        <p:nvSpPr>
          <p:cNvPr id="673" name="TextBox 4"/>
          <p:cNvSpPr/>
          <p:nvPr/>
        </p:nvSpPr>
        <p:spPr>
          <a:xfrm>
            <a:off x="5125320" y="3200760"/>
            <a:ext cx="2268720" cy="14112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i="1" u="none" strike="noStrike">
                <a:solidFill>
                  <a:srgbClr val="000000"/>
                </a:solidFill>
                <a:effectLst/>
                <a:uFillTx/>
                <a:latin typeface="Arial"/>
              </a:rPr>
              <a:t> No features. No tools. No architecture.</a:t>
            </a:r>
            <a:endParaRPr lang="en-US" sz="1000" b="0" u="none" strike="noStrike">
              <a:solidFill>
                <a:srgbClr val="000000"/>
              </a:solidFill>
              <a:effectLst/>
              <a:uFillTx/>
              <a:latin typeface="Arial"/>
            </a:endParaRPr>
          </a:p>
        </p:txBody>
      </p:sp>
      <p:sp>
        <p:nvSpPr>
          <p:cNvPr id="674" name="TextBox 5"/>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33</a:t>
            </a:r>
            <a:endParaRPr lang="en-US" sz="800" b="0" u="none" strike="noStrike">
              <a:solidFill>
                <a:srgbClr val="000000"/>
              </a:solidFill>
              <a:effectLst/>
              <a:uFillTx/>
              <a:latin typeface="Arial"/>
            </a:endParaRPr>
          </a:p>
        </p:txBody>
      </p:sp>
      <p:sp>
        <p:nvSpPr>
          <p:cNvPr id="675" name="TextBox 6"/>
          <p:cNvSpPr/>
          <p:nvPr/>
        </p:nvSpPr>
        <p:spPr>
          <a:xfrm>
            <a:off x="288000" y="300240"/>
            <a:ext cx="281988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Early AI Opportunity Hypothesis</a:t>
            </a:r>
            <a:endParaRPr lang="en-US" sz="1400" b="0" u="none" strike="noStrike">
              <a:solidFill>
                <a:srgbClr val="000000"/>
              </a:solidFill>
              <a:effectLst/>
              <a:uFillTx/>
              <a:latin typeface="Arial"/>
            </a:endParaRPr>
          </a:p>
        </p:txBody>
      </p:sp>
      <p:sp>
        <p:nvSpPr>
          <p:cNvPr id="676" name="TextBox 7"/>
          <p:cNvSpPr/>
          <p:nvPr/>
        </p:nvSpPr>
        <p:spPr>
          <a:xfrm>
            <a:off x="288000" y="727200"/>
            <a:ext cx="3565800" cy="623880"/>
          </a:xfrm>
          <a:prstGeom prst="rect">
            <a:avLst/>
          </a:prstGeom>
          <a:noFill/>
          <a:ln w="0">
            <a:noFill/>
          </a:ln>
        </p:spPr>
        <p:style>
          <a:lnRef idx="0"/>
          <a:fillRef idx="0"/>
          <a:effectRef idx="0"/>
          <a:fontRef idx="minor"/>
        </p:style>
        <p:txBody>
          <a:bodyPr lIns="0" tIns="0" rIns="0" bIns="0" anchor="t">
            <a:noAutofit/>
          </a:bodyPr>
          <a:p>
            <a:pPr defTabSz="457200">
              <a:lnSpc>
                <a:spcPts val="1678"/>
              </a:lnSpc>
            </a:pPr>
            <a:r>
              <a:rPr lang="en-US" sz="1400" b="1" u="none" strike="noStrike">
                <a:solidFill>
                  <a:srgbClr val="000000"/>
                </a:solidFill>
                <a:effectLst/>
                <a:uFillTx/>
                <a:latin typeface="Arial"/>
              </a:rPr>
              <a:t>Purpose:</a:t>
            </a:r>
            <a:r>
              <a:rPr lang="en-US" sz="1400" b="0" u="none" strike="noStrike">
                <a:solidFill>
                  <a:srgbClr val="000000"/>
                </a:solidFill>
                <a:effectLst/>
                <a:uFillTx/>
                <a:latin typeface="Arial"/>
              </a:rPr>
              <a:t> Understand opportunities to offer better solutions (No solution design yet)</a:t>
            </a:r>
            <a:endParaRPr lang="en-US" sz="1400" b="0" u="none" strike="noStrike">
              <a:solidFill>
                <a:srgbClr val="000000"/>
              </a:solidFill>
              <a:effectLst/>
              <a:uFillTx/>
              <a:latin typeface="Arial"/>
            </a:endParaRPr>
          </a:p>
          <a:p>
            <a:pPr defTabSz="457200">
              <a:lnSpc>
                <a:spcPts val="1607"/>
              </a:lnSpc>
              <a:spcBef>
                <a:spcPts val="71"/>
              </a:spcBef>
            </a:pPr>
            <a:r>
              <a:rPr lang="en-US" sz="1400" b="1" u="none" strike="noStrike">
                <a:solidFill>
                  <a:srgbClr val="000000"/>
                </a:solidFill>
                <a:effectLst/>
                <a:uFillTx/>
                <a:latin typeface="Arial"/>
              </a:rPr>
              <a:t>When:</a:t>
            </a:r>
            <a:r>
              <a:rPr lang="en-US" sz="1400" b="0" u="none" strike="noStrike">
                <a:solidFill>
                  <a:srgbClr val="000000"/>
                </a:solidFill>
                <a:effectLst/>
                <a:uFillTx/>
                <a:latin typeface="Arial"/>
              </a:rPr>
              <a:t> By Week 1/2</a:t>
            </a:r>
            <a:endParaRPr lang="en-US" sz="1400" b="0" u="none" strike="noStrike">
              <a:solidFill>
                <a:srgbClr val="000000"/>
              </a:solidFill>
              <a:effectLst/>
              <a:uFillTx/>
              <a:latin typeface="Arial"/>
            </a:endParaRPr>
          </a:p>
        </p:txBody>
      </p:sp>
      <p:sp>
        <p:nvSpPr>
          <p:cNvPr id="677" name="Rectangle 8"/>
          <p:cNvSpPr/>
          <p:nvPr/>
        </p:nvSpPr>
        <p:spPr>
          <a:xfrm>
            <a:off x="285840" y="4083840"/>
            <a:ext cx="5935320" cy="175824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678" name="TextBox 9"/>
          <p:cNvSpPr/>
          <p:nvPr/>
        </p:nvSpPr>
        <p:spPr>
          <a:xfrm>
            <a:off x="331560" y="4138200"/>
            <a:ext cx="1290960" cy="5983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Key tools: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Empathy Map</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As-Is-Scenario</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Big Idea Vignettes </a:t>
            </a:r>
            <a:endParaRPr lang="en-US" sz="1000" b="0" u="none" strike="noStrike">
              <a:solidFill>
                <a:srgbClr val="000000"/>
              </a:solidFill>
              <a:effectLst/>
              <a:uFillTx/>
              <a:latin typeface="Arial"/>
            </a:endParaRPr>
          </a:p>
        </p:txBody>
      </p:sp>
      <p:sp>
        <p:nvSpPr>
          <p:cNvPr id="679" name="TextBox 10"/>
          <p:cNvSpPr/>
          <p:nvPr/>
        </p:nvSpPr>
        <p:spPr>
          <a:xfrm>
            <a:off x="331560" y="4900320"/>
            <a:ext cx="5931720" cy="75060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Focus on understanding how AI can offer value beyond basic prompting and automation – this will help you understand what opportunities exist for you to innovate and offer better solutions.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Understand Agentic AI capabilities </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Consult with industry experts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Research innovative Agentic AI solutions in other areas/industries that might give you inspiration</a:t>
            </a:r>
            <a:endParaRPr lang="en-US" sz="1000" b="0" u="none" strike="noStrike">
              <a:solidFill>
                <a:srgbClr val="000000"/>
              </a:solidFill>
              <a:effectLst/>
              <a:uFillTx/>
              <a:latin typeface="Arial"/>
            </a:endParaRPr>
          </a:p>
        </p:txBody>
      </p:sp>
      <p:sp>
        <p:nvSpPr>
          <p:cNvPr id="680" name="TextBox 11"/>
          <p:cNvSpPr/>
          <p:nvPr/>
        </p:nvSpPr>
        <p:spPr>
          <a:xfrm>
            <a:off x="4950720" y="1794960"/>
            <a:ext cx="1509480" cy="16920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High-level hypothesis</a:t>
            </a:r>
            <a:endParaRPr lang="en-US" sz="1200" b="0" u="none" strike="noStrike">
              <a:solidFill>
                <a:srgbClr val="000000"/>
              </a:solidFill>
              <a:effectLst/>
              <a:uFillTx/>
              <a:latin typeface="Arial"/>
            </a:endParaRPr>
          </a:p>
        </p:txBody>
      </p:sp>
      <p:sp>
        <p:nvSpPr>
          <p:cNvPr id="681" name="TextBox 12"/>
          <p:cNvSpPr/>
          <p:nvPr/>
        </p:nvSpPr>
        <p:spPr>
          <a:xfrm>
            <a:off x="4950720" y="2195280"/>
            <a:ext cx="189360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1–2 sentences - Use this format:</a:t>
            </a:r>
            <a:endParaRPr lang="en-US" sz="1000" b="0" u="none" strike="noStrike">
              <a:solidFill>
                <a:srgbClr val="000000"/>
              </a:solidFill>
              <a:effectLst/>
              <a:uFillTx/>
              <a:latin typeface="Arial"/>
            </a:endParaRPr>
          </a:p>
        </p:txBody>
      </p:sp>
      <p:sp>
        <p:nvSpPr>
          <p:cNvPr id="682" name="TextBox 13"/>
          <p:cNvSpPr/>
          <p:nvPr/>
        </p:nvSpPr>
        <p:spPr>
          <a:xfrm>
            <a:off x="4950720" y="2530440"/>
            <a:ext cx="605772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“An intelligent system could help users by [what it would do], because today [why current approach fails].”</a:t>
            </a:r>
            <a:endParaRPr lang="en-US" sz="1000" b="0" u="none" strike="noStrike">
              <a:solidFill>
                <a:srgbClr val="000000"/>
              </a:solidFill>
              <a:effectLst/>
              <a:uFillTx/>
              <a:latin typeface="Arial"/>
            </a:endParaRPr>
          </a:p>
        </p:txBody>
      </p:sp>
      <p:sp>
        <p:nvSpPr>
          <p:cNvPr id="683" name="TextBox 14"/>
          <p:cNvSpPr/>
          <p:nvPr/>
        </p:nvSpPr>
        <p:spPr>
          <a:xfrm>
            <a:off x="4950720" y="2865600"/>
            <a:ext cx="605772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“An intelligent system could help users by [what it would do], because today [why current approach fails].”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84" name="Picture 1" descr="image.png"/>
          <p:cNvPicPr/>
          <p:nvPr/>
        </p:nvPicPr>
        <p:blipFill>
          <a:blip r:embed="rId1"/>
          <a:stretch/>
        </p:blipFill>
        <p:spPr>
          <a:xfrm>
            <a:off x="44280" y="70200"/>
            <a:ext cx="1044360" cy="852840"/>
          </a:xfrm>
          <a:prstGeom prst="rect">
            <a:avLst/>
          </a:prstGeom>
          <a:noFill/>
          <a:ln w="0">
            <a:noFill/>
          </a:ln>
        </p:spPr>
      </p:pic>
      <p:sp>
        <p:nvSpPr>
          <p:cNvPr id="685" name="TextBox 2"/>
          <p:cNvSpPr/>
          <p:nvPr/>
        </p:nvSpPr>
        <p:spPr>
          <a:xfrm>
            <a:off x="845640" y="219600"/>
            <a:ext cx="3855600" cy="452160"/>
          </a:xfrm>
          <a:prstGeom prst="rect">
            <a:avLst/>
          </a:prstGeom>
          <a:noFill/>
          <a:ln w="0">
            <a:noFill/>
          </a:ln>
        </p:spPr>
        <p:style>
          <a:lnRef idx="0"/>
          <a:fillRef idx="0"/>
          <a:effectRef idx="0"/>
          <a:fontRef idx="minor"/>
        </p:style>
        <p:txBody>
          <a:bodyPr lIns="0" tIns="0" rIns="0" bIns="0" anchor="t">
            <a:noAutofit/>
          </a:bodyPr>
          <a:p>
            <a:pPr defTabSz="457200">
              <a:lnSpc>
                <a:spcPts val="3679"/>
              </a:lnSpc>
            </a:pPr>
            <a:r>
              <a:rPr lang="en-US" sz="3200" b="0" u="none" strike="noStrike">
                <a:solidFill>
                  <a:srgbClr val="000000"/>
                </a:solidFill>
                <a:effectLst/>
                <a:uFillTx/>
                <a:latin typeface="Arial"/>
              </a:rPr>
              <a:t> Checkpoint: Week 2</a:t>
            </a:r>
            <a:endParaRPr lang="en-US" sz="3200" b="0" u="none" strike="noStrike">
              <a:solidFill>
                <a:srgbClr val="000000"/>
              </a:solidFill>
              <a:effectLst/>
              <a:uFillTx/>
              <a:latin typeface="Arial"/>
            </a:endParaRPr>
          </a:p>
        </p:txBody>
      </p:sp>
      <p:sp>
        <p:nvSpPr>
          <p:cNvPr id="686" name="TextBox 3"/>
          <p:cNvSpPr/>
          <p:nvPr/>
        </p:nvSpPr>
        <p:spPr>
          <a:xfrm>
            <a:off x="288000" y="990360"/>
            <a:ext cx="5622480" cy="308880"/>
          </a:xfrm>
          <a:prstGeom prst="rect">
            <a:avLst/>
          </a:prstGeom>
          <a:noFill/>
          <a:ln w="0">
            <a:noFill/>
          </a:ln>
        </p:spPr>
        <p:style>
          <a:lnRef idx="0"/>
          <a:fillRef idx="0"/>
          <a:effectRef idx="0"/>
          <a:fontRef idx="minor"/>
        </p:style>
        <p:txBody>
          <a:bodyPr lIns="0" tIns="0" rIns="0" bIns="0" anchor="t">
            <a:noAutofit/>
          </a:bodyPr>
          <a:p>
            <a:pPr defTabSz="457200">
              <a:lnSpc>
                <a:spcPts val="1318"/>
              </a:lnSpc>
            </a:pPr>
            <a:r>
              <a:rPr lang="en-US" sz="1000" b="1" u="none" strike="noStrike">
                <a:solidFill>
                  <a:srgbClr val="000000"/>
                </a:solidFill>
                <a:effectLst/>
                <a:uFillTx/>
                <a:latin typeface="Arial"/>
              </a:rPr>
              <a:t>At this stage, you should have a clear picture of the problem, the people affected, and why current solutions fail —without jumping into solution design.</a:t>
            </a:r>
            <a:endParaRPr lang="en-US" sz="1000" b="0" u="none" strike="noStrike">
              <a:solidFill>
                <a:srgbClr val="000000"/>
              </a:solidFill>
              <a:effectLst/>
              <a:uFillTx/>
              <a:latin typeface="Arial"/>
            </a:endParaRPr>
          </a:p>
        </p:txBody>
      </p:sp>
      <p:sp>
        <p:nvSpPr>
          <p:cNvPr id="687" name="TextBox 4"/>
          <p:cNvSpPr/>
          <p:nvPr/>
        </p:nvSpPr>
        <p:spPr>
          <a:xfrm>
            <a:off x="288000" y="1494000"/>
            <a:ext cx="5095080" cy="810720"/>
          </a:xfrm>
          <a:prstGeom prst="rect">
            <a:avLst/>
          </a:prstGeom>
          <a:noFill/>
          <a:ln w="0">
            <a:noFill/>
          </a:ln>
        </p:spPr>
        <p:style>
          <a:lnRef idx="0"/>
          <a:fillRef idx="0"/>
          <a:effectRef idx="0"/>
          <a:fontRef idx="minor"/>
        </p:style>
        <p:txBody>
          <a:bodyPr lIns="0" tIns="0" rIns="0" bIns="0" anchor="t">
            <a:noAutofit/>
          </a:bodyPr>
          <a:p>
            <a:pPr marL="228600" indent="-228600" defTabSz="457200">
              <a:lnSpc>
                <a:spcPts val="115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The problem is specific and human-centered (experienced by real people)</a:t>
            </a:r>
            <a:endParaRPr lang="en-US" sz="1000" b="0" u="none" strike="noStrike">
              <a:solidFill>
                <a:srgbClr val="000000"/>
              </a:solidFill>
              <a:effectLst/>
              <a:uFillTx/>
              <a:latin typeface="Arial"/>
            </a:endParaRPr>
          </a:p>
          <a:p>
            <a:pPr marL="228600" indent="-22860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The user and user experience is clear</a:t>
            </a:r>
            <a:endParaRPr lang="en-US" sz="1000" b="0" u="none" strike="noStrike">
              <a:solidFill>
                <a:srgbClr val="000000"/>
              </a:solidFill>
              <a:effectLst/>
              <a:uFillTx/>
              <a:latin typeface="Arial"/>
            </a:endParaRPr>
          </a:p>
          <a:p>
            <a:pPr marL="228600" indent="-22860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The pain-points are solvable and non-obvious</a:t>
            </a:r>
            <a:endParaRPr lang="en-US" sz="1000" b="0" u="none" strike="noStrike">
              <a:solidFill>
                <a:srgbClr val="000000"/>
              </a:solidFill>
              <a:effectLst/>
              <a:uFillTx/>
              <a:latin typeface="Arial"/>
            </a:endParaRPr>
          </a:p>
          <a:p>
            <a:pPr marL="228600" indent="-228600" defTabSz="457200">
              <a:lnSpc>
                <a:spcPts val="1318"/>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There is a clear and valuable opportunity for Agentic AI to offer a better solution and experience</a:t>
            </a:r>
            <a:endParaRPr lang="en-US" sz="1000" b="0" u="none" strike="noStrike">
              <a:solidFill>
                <a:srgbClr val="000000"/>
              </a:solidFill>
              <a:effectLst/>
              <a:uFillTx/>
              <a:latin typeface="Arial"/>
            </a:endParaRPr>
          </a:p>
        </p:txBody>
      </p:sp>
      <p:sp>
        <p:nvSpPr>
          <p:cNvPr id="688" name="TextBox 5"/>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34</a:t>
            </a:r>
            <a:endParaRPr lang="en-US" sz="800" b="0" u="none" strike="noStrike">
              <a:solidFill>
                <a:srgbClr val="000000"/>
              </a:solidFill>
              <a:effectLst/>
              <a:uFillTx/>
              <a:latin typeface="Arial"/>
            </a:endParaRPr>
          </a:p>
        </p:txBody>
      </p:sp>
      <p:sp>
        <p:nvSpPr>
          <p:cNvPr id="689" name="TextBox 6"/>
          <p:cNvSpPr/>
          <p:nvPr/>
        </p:nvSpPr>
        <p:spPr>
          <a:xfrm>
            <a:off x="288000" y="2854440"/>
            <a:ext cx="2412000" cy="16920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1" u="none" strike="noStrike">
                <a:solidFill>
                  <a:srgbClr val="000000"/>
                </a:solidFill>
                <a:effectLst/>
                <a:uFillTx/>
                <a:latin typeface="Arial"/>
              </a:rPr>
              <a:t>Open Questions &amp; Assumptions</a:t>
            </a:r>
            <a:endParaRPr lang="en-US" sz="1200" b="0" u="none" strike="noStrike">
              <a:solidFill>
                <a:srgbClr val="000000"/>
              </a:solidFill>
              <a:effectLst/>
              <a:uFillTx/>
              <a:latin typeface="Arial"/>
            </a:endParaRPr>
          </a:p>
        </p:txBody>
      </p:sp>
      <p:sp>
        <p:nvSpPr>
          <p:cNvPr id="690" name="TextBox 7"/>
          <p:cNvSpPr/>
          <p:nvPr/>
        </p:nvSpPr>
        <p:spPr>
          <a:xfrm>
            <a:off x="288000" y="3256920"/>
            <a:ext cx="2535840" cy="33948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What we don’t know yet</a:t>
            </a:r>
            <a:endParaRPr lang="en-US" sz="1200" b="0" u="none" strike="noStrike">
              <a:solidFill>
                <a:srgbClr val="000000"/>
              </a:solidFill>
              <a:effectLst/>
              <a:uFillTx/>
              <a:latin typeface="Arial"/>
            </a:endParaRPr>
          </a:p>
          <a:p>
            <a:pPr defTabSz="457200">
              <a:lnSpc>
                <a:spcPts val="1151"/>
              </a:lnSpc>
              <a:spcBef>
                <a:spcPts val="232"/>
              </a:spcBef>
            </a:pPr>
            <a:r>
              <a:rPr lang="en-US" sz="1000" b="0" i="1" u="none" strike="noStrike">
                <a:solidFill>
                  <a:srgbClr val="000000"/>
                </a:solidFill>
                <a:effectLst/>
                <a:uFillTx/>
                <a:latin typeface="Arial"/>
              </a:rPr>
              <a:t>List gaps in knowledge that need validation.</a:t>
            </a:r>
            <a:endParaRPr lang="en-US" sz="1000" b="0" u="none" strike="noStrike">
              <a:solidFill>
                <a:srgbClr val="000000"/>
              </a:solidFill>
              <a:effectLst/>
              <a:uFillTx/>
              <a:latin typeface="Arial"/>
            </a:endParaRPr>
          </a:p>
        </p:txBody>
      </p:sp>
      <p:sp>
        <p:nvSpPr>
          <p:cNvPr id="691" name="TextBox 8"/>
          <p:cNvSpPr/>
          <p:nvPr/>
        </p:nvSpPr>
        <p:spPr>
          <a:xfrm>
            <a:off x="3926160" y="3254760"/>
            <a:ext cx="3074400" cy="47412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Assumptions we are making</a:t>
            </a:r>
            <a:endParaRPr lang="en-US" sz="1200" b="0" u="none" strike="noStrike">
              <a:solidFill>
                <a:srgbClr val="000000"/>
              </a:solidFill>
              <a:effectLst/>
              <a:uFillTx/>
              <a:latin typeface="Arial"/>
            </a:endParaRPr>
          </a:p>
          <a:p>
            <a:pPr defTabSz="457200">
              <a:lnSpc>
                <a:spcPts val="1199"/>
              </a:lnSpc>
              <a:spcBef>
                <a:spcPts val="43"/>
              </a:spcBef>
            </a:pPr>
            <a:r>
              <a:rPr lang="en-US" sz="1000" b="0" i="1" u="none" strike="noStrike">
                <a:solidFill>
                  <a:srgbClr val="000000"/>
                </a:solidFill>
                <a:effectLst/>
                <a:uFillTx/>
                <a:latin typeface="Arial"/>
              </a:rPr>
              <a:t>Document any assumptions about users, processes, or technology.</a:t>
            </a:r>
            <a:endParaRPr lang="en-US" sz="1000" b="0" u="none" strike="noStrike">
              <a:solidFill>
                <a:srgbClr val="000000"/>
              </a:solidFill>
              <a:effectLst/>
              <a:uFillTx/>
              <a:latin typeface="Arial"/>
            </a:endParaRPr>
          </a:p>
        </p:txBody>
      </p:sp>
      <p:sp>
        <p:nvSpPr>
          <p:cNvPr id="692" name="TextBox 9"/>
          <p:cNvSpPr/>
          <p:nvPr/>
        </p:nvSpPr>
        <p:spPr>
          <a:xfrm>
            <a:off x="7650360" y="3254760"/>
            <a:ext cx="2935800" cy="47412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Validation research</a:t>
            </a:r>
            <a:endParaRPr lang="en-US" sz="1200" b="0" u="none" strike="noStrike">
              <a:solidFill>
                <a:srgbClr val="000000"/>
              </a:solidFill>
              <a:effectLst/>
              <a:uFillTx/>
              <a:latin typeface="Arial"/>
            </a:endParaRPr>
          </a:p>
          <a:p>
            <a:pPr defTabSz="457200">
              <a:lnSpc>
                <a:spcPts val="1199"/>
              </a:lnSpc>
              <a:spcBef>
                <a:spcPts val="43"/>
              </a:spcBef>
            </a:pPr>
            <a:r>
              <a:rPr lang="en-US" sz="1000" b="0" i="1" u="none" strike="noStrike">
                <a:solidFill>
                  <a:srgbClr val="000000"/>
                </a:solidFill>
                <a:effectLst/>
                <a:uFillTx/>
                <a:latin typeface="Arial"/>
              </a:rPr>
              <a:t>List what research is needed to gather information and/or validate assumptions</a:t>
            </a:r>
            <a:endParaRPr lang="en-US" sz="1000" b="0" u="none" strike="noStrike">
              <a:solidFill>
                <a:srgbClr val="000000"/>
              </a:solidFill>
              <a:effectLst/>
              <a:uFillTx/>
              <a:latin typeface="Arial"/>
            </a:endParaRPr>
          </a:p>
        </p:txBody>
      </p:sp>
      <p:sp>
        <p:nvSpPr>
          <p:cNvPr id="693" name="TextBox 10"/>
          <p:cNvSpPr/>
          <p:nvPr/>
        </p:nvSpPr>
        <p:spPr>
          <a:xfrm>
            <a:off x="7650360" y="3892320"/>
            <a:ext cx="335520" cy="59796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3.</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a:t>
            </a:r>
            <a:endParaRPr lang="en-US" sz="1000" b="0" u="none" strike="noStrike">
              <a:solidFill>
                <a:srgbClr val="000000"/>
              </a:solidFill>
              <a:effectLst/>
              <a:uFillTx/>
              <a:latin typeface="Arial"/>
            </a:endParaRPr>
          </a:p>
        </p:txBody>
      </p:sp>
      <p:cxnSp>
        <p:nvCxnSpPr>
          <p:cNvPr id="694" name="Connector 11"/>
          <p:cNvCxnSpPr/>
          <p:nvPr/>
        </p:nvCxnSpPr>
        <p:spPr>
          <a:xfrm>
            <a:off x="3656880" y="3276360"/>
            <a:ext cx="720" cy="3040920"/>
          </a:xfrm>
          <a:prstGeom prst="straightConnector1">
            <a:avLst/>
          </a:prstGeom>
          <a:ln w="6349">
            <a:solidFill>
              <a:srgbClr val="000000"/>
            </a:solidFill>
            <a:round/>
          </a:ln>
        </p:spPr>
      </p:cxnSp>
      <p:cxnSp>
        <p:nvCxnSpPr>
          <p:cNvPr id="695" name="Connector 12"/>
          <p:cNvCxnSpPr/>
          <p:nvPr/>
        </p:nvCxnSpPr>
        <p:spPr>
          <a:xfrm>
            <a:off x="7381080" y="3276360"/>
            <a:ext cx="720" cy="3040920"/>
          </a:xfrm>
          <a:prstGeom prst="straightConnector1">
            <a:avLst/>
          </a:prstGeom>
          <a:ln w="6349">
            <a:solidFill>
              <a:srgbClr val="000000"/>
            </a:solidFill>
            <a:round/>
          </a:ln>
        </p:spPr>
      </p:cxnSp>
      <p:sp>
        <p:nvSpPr>
          <p:cNvPr id="696" name="Rectangle 13"/>
          <p:cNvSpPr/>
          <p:nvPr/>
        </p:nvSpPr>
        <p:spPr>
          <a:xfrm>
            <a:off x="5968080" y="280800"/>
            <a:ext cx="5935320" cy="192600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697" name="TextBox 14"/>
          <p:cNvSpPr/>
          <p:nvPr/>
        </p:nvSpPr>
        <p:spPr>
          <a:xfrm>
            <a:off x="6014520" y="334800"/>
            <a:ext cx="105696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Key tools: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Empathy Map</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As-Is-Scenario</a:t>
            </a:r>
            <a:endParaRPr lang="en-US" sz="1000" b="0" u="none" strike="noStrike">
              <a:solidFill>
                <a:srgbClr val="000000"/>
              </a:solidFill>
              <a:effectLst/>
              <a:uFillTx/>
              <a:latin typeface="Arial"/>
            </a:endParaRPr>
          </a:p>
        </p:txBody>
      </p:sp>
      <p:sp>
        <p:nvSpPr>
          <p:cNvPr id="698" name="TextBox 15"/>
          <p:cNvSpPr/>
          <p:nvPr/>
        </p:nvSpPr>
        <p:spPr>
          <a:xfrm>
            <a:off x="6014520" y="944640"/>
            <a:ext cx="5942160" cy="59832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There are things we know –there are things that we think we know (assumptions) – and there are things we do not know. Now it is the time to look again at your empathy map and as-is-scenario and do a critical analysis. Is there something that is critical for the success if your project that you might not know for sure yet? </a:t>
            </a:r>
            <a:endParaRPr lang="en-US" sz="1000" b="0" u="none" strike="noStrike">
              <a:solidFill>
                <a:srgbClr val="000000"/>
              </a:solidFill>
              <a:effectLst/>
              <a:uFillTx/>
              <a:latin typeface="Arial"/>
            </a:endParaRPr>
          </a:p>
        </p:txBody>
      </p:sp>
      <p:sp>
        <p:nvSpPr>
          <p:cNvPr id="699" name="TextBox 16"/>
          <p:cNvSpPr/>
          <p:nvPr/>
        </p:nvSpPr>
        <p:spPr>
          <a:xfrm>
            <a:off x="6014520" y="1706400"/>
            <a:ext cx="5926680" cy="44604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User value is at the heart of innovation. </a:t>
            </a:r>
            <a:r>
              <a:rPr lang="en-US" sz="1000" b="0" u="none" strike="noStrike">
                <a:solidFill>
                  <a:srgbClr val="000000"/>
                </a:solidFill>
                <a:effectLst/>
                <a:uFillTx/>
                <a:latin typeface="Arial"/>
              </a:rPr>
              <a:t>The market is full of solutions that solve no-one’s problem because they failed to understand their user needs, pain-points and desires – this is the time for you to be sure that you are solving a real, human problem, that will make users want to use your solution.</a:t>
            </a:r>
            <a:endParaRPr lang="en-US" sz="1000" b="0" u="none" strike="noStrike">
              <a:solidFill>
                <a:srgbClr val="000000"/>
              </a:solidFill>
              <a:effectLst/>
              <a:uFillTx/>
              <a:latin typeface="Arial"/>
            </a:endParaRPr>
          </a:p>
        </p:txBody>
      </p:sp>
      <p:sp>
        <p:nvSpPr>
          <p:cNvPr id="700" name="TextBox 17"/>
          <p:cNvSpPr/>
          <p:nvPr/>
        </p:nvSpPr>
        <p:spPr>
          <a:xfrm>
            <a:off x="288000" y="3791160"/>
            <a:ext cx="139320" cy="4762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defTabSz="457200">
              <a:lnSpc>
                <a:spcPts val="1154"/>
              </a:lnSpc>
              <a:spcBef>
                <a:spcPts val="167"/>
              </a:spcBef>
            </a:pPr>
            <a:r>
              <a:rPr lang="en-US" sz="1000" b="0" i="1" u="none" strike="noStrike">
                <a:solidFill>
                  <a:srgbClr val="000000"/>
                </a:solidFill>
                <a:effectLst/>
                <a:uFillTx/>
                <a:latin typeface="Arial"/>
              </a:rPr>
              <a:t>3.</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 name="Rectangle 1"/>
          <p:cNvSpPr/>
          <p:nvPr/>
        </p:nvSpPr>
        <p:spPr>
          <a:xfrm>
            <a:off x="0" y="0"/>
            <a:ext cx="12191400" cy="5999400"/>
          </a:xfrm>
          <a:prstGeom prst="rect">
            <a:avLst/>
          </a:prstGeom>
          <a:solidFill>
            <a:srgbClr val="E5F6FF"/>
          </a:solidFill>
          <a:ln w="9523">
            <a:solidFill>
              <a:srgbClr val="E5F6FF"/>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pic>
        <p:nvPicPr>
          <p:cNvPr id="702" name="Picture 2" descr="image.png"/>
          <p:cNvPicPr/>
          <p:nvPr/>
        </p:nvPicPr>
        <p:blipFill>
          <a:blip r:embed="rId1"/>
          <a:stretch/>
        </p:blipFill>
        <p:spPr>
          <a:xfrm>
            <a:off x="11125800" y="6246720"/>
            <a:ext cx="847440" cy="332280"/>
          </a:xfrm>
          <a:prstGeom prst="rect">
            <a:avLst/>
          </a:prstGeom>
          <a:noFill/>
          <a:ln w="0">
            <a:noFill/>
          </a:ln>
        </p:spPr>
      </p:pic>
      <p:sp>
        <p:nvSpPr>
          <p:cNvPr id="703" name="TextBox 3"/>
          <p:cNvSpPr/>
          <p:nvPr/>
        </p:nvSpPr>
        <p:spPr>
          <a:xfrm>
            <a:off x="288000" y="228960"/>
            <a:ext cx="5834160" cy="1616400"/>
          </a:xfrm>
          <a:prstGeom prst="rect">
            <a:avLst/>
          </a:prstGeom>
          <a:noFill/>
          <a:ln w="0">
            <a:noFill/>
          </a:ln>
        </p:spPr>
        <p:style>
          <a:lnRef idx="0"/>
          <a:fillRef idx="0"/>
          <a:effectRef idx="0"/>
          <a:fontRef idx="minor"/>
        </p:style>
        <p:txBody>
          <a:bodyPr lIns="0" tIns="0" rIns="0" bIns="0" anchor="t">
            <a:noAutofit/>
          </a:bodyPr>
          <a:p>
            <a:pPr defTabSz="457200">
              <a:lnSpc>
                <a:spcPts val="4946"/>
              </a:lnSpc>
            </a:pPr>
            <a:r>
              <a:rPr lang="en-US" sz="4300" b="0" u="none" strike="noStrike">
                <a:solidFill>
                  <a:srgbClr val="000000"/>
                </a:solidFill>
                <a:effectLst/>
                <a:uFillTx/>
                <a:latin typeface="Arial"/>
              </a:rPr>
              <a:t>User-Centric Solution</a:t>
            </a:r>
            <a:endParaRPr lang="en-US" sz="4300" b="0" u="none" strike="noStrike">
              <a:solidFill>
                <a:srgbClr val="000000"/>
              </a:solidFill>
              <a:effectLst/>
              <a:uFillTx/>
              <a:latin typeface="Arial"/>
            </a:endParaRPr>
          </a:p>
          <a:p>
            <a:pPr defTabSz="457200">
              <a:lnSpc>
                <a:spcPts val="3960"/>
              </a:lnSpc>
              <a:spcBef>
                <a:spcPts val="227"/>
              </a:spcBef>
            </a:pPr>
            <a:r>
              <a:rPr lang="en-US" sz="3300" b="0" i="1" u="none" strike="noStrike">
                <a:solidFill>
                  <a:srgbClr val="000000"/>
                </a:solidFill>
                <a:effectLst/>
                <a:uFillTx/>
                <a:latin typeface="Arial"/>
              </a:rPr>
              <a:t>From opportunity to concept – addressing user pain-points</a:t>
            </a:r>
            <a:r>
              <a:rPr lang="en-US" sz="3300" b="0" u="none" strike="noStrike">
                <a:solidFill>
                  <a:srgbClr val="000000"/>
                </a:solidFill>
                <a:effectLst/>
                <a:uFillTx/>
                <a:latin typeface="Arial"/>
              </a:rPr>
              <a:t> </a:t>
            </a:r>
            <a:endParaRPr lang="en-US" sz="3300" b="0" u="none" strike="noStrike">
              <a:solidFill>
                <a:srgbClr val="000000"/>
              </a:solidFill>
              <a:effectLst/>
              <a:uFillTx/>
              <a:latin typeface="Arial"/>
            </a:endParaRPr>
          </a:p>
        </p:txBody>
      </p:sp>
      <p:sp>
        <p:nvSpPr>
          <p:cNvPr id="704" name="Rectangle 4"/>
          <p:cNvSpPr/>
          <p:nvPr/>
        </p:nvSpPr>
        <p:spPr>
          <a:xfrm>
            <a:off x="285840" y="2094120"/>
            <a:ext cx="7228440" cy="3479760"/>
          </a:xfrm>
          <a:prstGeom prst="rect">
            <a:avLst/>
          </a:prstGeom>
          <a:solidFill>
            <a:srgbClr val="E5F6FF"/>
          </a:solidFill>
          <a:ln w="9523">
            <a:solidFill>
              <a:srgbClr val="E5F6FF"/>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05" name="TextBox 5"/>
          <p:cNvSpPr/>
          <p:nvPr/>
        </p:nvSpPr>
        <p:spPr>
          <a:xfrm>
            <a:off x="331560" y="2148480"/>
            <a:ext cx="6749280" cy="29376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u="none" strike="noStrike">
                <a:solidFill>
                  <a:srgbClr val="000000"/>
                </a:solidFill>
                <a:effectLst/>
                <a:uFillTx/>
                <a:latin typeface="Arial"/>
              </a:rPr>
              <a:t>Before completing the User-Centric Solution section, teams are strongly encouraged to first conduct two foundational exercises:</a:t>
            </a:r>
            <a:endParaRPr lang="en-US" sz="1000" b="0" u="none" strike="noStrike">
              <a:solidFill>
                <a:srgbClr val="000000"/>
              </a:solidFill>
              <a:effectLst/>
              <a:uFillTx/>
              <a:latin typeface="Arial"/>
            </a:endParaRPr>
          </a:p>
        </p:txBody>
      </p:sp>
      <p:sp>
        <p:nvSpPr>
          <p:cNvPr id="706" name="TextBox 6"/>
          <p:cNvSpPr/>
          <p:nvPr/>
        </p:nvSpPr>
        <p:spPr>
          <a:xfrm>
            <a:off x="331560" y="2605680"/>
            <a:ext cx="667800" cy="14112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Ideation</a:t>
            </a:r>
            <a:endParaRPr lang="en-US" sz="1000" b="0" u="none" strike="noStrike">
              <a:solidFill>
                <a:srgbClr val="000000"/>
              </a:solidFill>
              <a:effectLst/>
              <a:uFillTx/>
              <a:latin typeface="Arial"/>
            </a:endParaRPr>
          </a:p>
        </p:txBody>
      </p:sp>
      <p:pic>
        <p:nvPicPr>
          <p:cNvPr id="707" name="Picture 7" descr="image.png"/>
          <p:cNvPicPr/>
          <p:nvPr/>
        </p:nvPicPr>
        <p:blipFill>
          <a:blip r:embed="rId2"/>
          <a:stretch/>
        </p:blipFill>
        <p:spPr>
          <a:xfrm>
            <a:off x="254520" y="3168000"/>
            <a:ext cx="326520" cy="266400"/>
          </a:xfrm>
          <a:prstGeom prst="rect">
            <a:avLst/>
          </a:prstGeom>
          <a:noFill/>
          <a:ln w="0">
            <a:noFill/>
          </a:ln>
        </p:spPr>
      </p:pic>
      <p:sp>
        <p:nvSpPr>
          <p:cNvPr id="708" name="TextBox 8"/>
          <p:cNvSpPr/>
          <p:nvPr/>
        </p:nvSpPr>
        <p:spPr>
          <a:xfrm>
            <a:off x="505800" y="3215160"/>
            <a:ext cx="538884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 </a:t>
            </a: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Keep language user-focused, avoid technical jargon, and write in short, clear sentences.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 name="TextBox 1"/>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36</a:t>
            </a:r>
            <a:endParaRPr lang="en-US" sz="800" b="0" u="none" strike="noStrike">
              <a:solidFill>
                <a:srgbClr val="000000"/>
              </a:solidFill>
              <a:effectLst/>
              <a:uFillTx/>
              <a:latin typeface="Arial"/>
            </a:endParaRPr>
          </a:p>
        </p:txBody>
      </p:sp>
      <p:sp>
        <p:nvSpPr>
          <p:cNvPr id="710" name="TextBox 2"/>
          <p:cNvSpPr/>
          <p:nvPr/>
        </p:nvSpPr>
        <p:spPr>
          <a:xfrm>
            <a:off x="288000" y="300240"/>
            <a:ext cx="15026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Target Core User</a:t>
            </a:r>
            <a:endParaRPr lang="en-US" sz="1400" b="0" u="none" strike="noStrike">
              <a:solidFill>
                <a:srgbClr val="000000"/>
              </a:solidFill>
              <a:effectLst/>
              <a:uFillTx/>
              <a:latin typeface="Arial"/>
            </a:endParaRPr>
          </a:p>
        </p:txBody>
      </p:sp>
      <p:sp>
        <p:nvSpPr>
          <p:cNvPr id="711" name="TextBox 3"/>
          <p:cNvSpPr/>
          <p:nvPr/>
        </p:nvSpPr>
        <p:spPr>
          <a:xfrm>
            <a:off x="288000" y="727200"/>
            <a:ext cx="3522600" cy="623880"/>
          </a:xfrm>
          <a:prstGeom prst="rect">
            <a:avLst/>
          </a:prstGeom>
          <a:noFill/>
          <a:ln w="0">
            <a:noFill/>
          </a:ln>
        </p:spPr>
        <p:style>
          <a:lnRef idx="0"/>
          <a:fillRef idx="0"/>
          <a:effectRef idx="0"/>
          <a:fontRef idx="minor"/>
        </p:style>
        <p:txBody>
          <a:bodyPr lIns="0" tIns="0" rIns="0" bIns="0" anchor="t">
            <a:noAutofit/>
          </a:bodyPr>
          <a:p>
            <a:pPr defTabSz="457200">
              <a:lnSpc>
                <a:spcPts val="1678"/>
              </a:lnSpc>
            </a:pPr>
            <a:r>
              <a:rPr lang="en-US" sz="1400" b="1" u="none" strike="noStrike">
                <a:solidFill>
                  <a:srgbClr val="000000"/>
                </a:solidFill>
                <a:effectLst/>
                <a:uFillTx/>
                <a:latin typeface="Arial"/>
              </a:rPr>
              <a:t>Purpose:</a:t>
            </a:r>
            <a:r>
              <a:rPr lang="en-US" sz="1400" b="0" u="none" strike="noStrike">
                <a:solidFill>
                  <a:srgbClr val="000000"/>
                </a:solidFill>
                <a:effectLst/>
                <a:uFillTx/>
                <a:latin typeface="Arial"/>
              </a:rPr>
              <a:t> Ensure that your solution is user-centered and solves real user problems</a:t>
            </a:r>
            <a:endParaRPr lang="en-US" sz="1400" b="0" u="none" strike="noStrike">
              <a:solidFill>
                <a:srgbClr val="000000"/>
              </a:solidFill>
              <a:effectLst/>
              <a:uFillTx/>
              <a:latin typeface="Arial"/>
            </a:endParaRPr>
          </a:p>
          <a:p>
            <a:pPr defTabSz="457200">
              <a:lnSpc>
                <a:spcPts val="1607"/>
              </a:lnSpc>
              <a:spcBef>
                <a:spcPts val="71"/>
              </a:spcBef>
            </a:pPr>
            <a:r>
              <a:rPr lang="en-US" sz="1400" b="1" u="none" strike="noStrike">
                <a:solidFill>
                  <a:srgbClr val="000000"/>
                </a:solidFill>
                <a:effectLst/>
                <a:uFillTx/>
                <a:latin typeface="Arial"/>
              </a:rPr>
              <a:t>When:</a:t>
            </a:r>
            <a:r>
              <a:rPr lang="en-US" sz="1400" b="0" u="none" strike="noStrike">
                <a:solidFill>
                  <a:srgbClr val="000000"/>
                </a:solidFill>
                <a:effectLst/>
                <a:uFillTx/>
                <a:latin typeface="Arial"/>
              </a:rPr>
              <a:t> By Week 3</a:t>
            </a:r>
            <a:endParaRPr lang="en-US" sz="1400" b="0" u="none" strike="noStrike">
              <a:solidFill>
                <a:srgbClr val="000000"/>
              </a:solidFill>
              <a:effectLst/>
              <a:uFillTx/>
              <a:latin typeface="Arial"/>
            </a:endParaRPr>
          </a:p>
        </p:txBody>
      </p:sp>
      <p:sp>
        <p:nvSpPr>
          <p:cNvPr id="712" name="Rectangle 4"/>
          <p:cNvSpPr/>
          <p:nvPr/>
        </p:nvSpPr>
        <p:spPr>
          <a:xfrm>
            <a:off x="5849640" y="288000"/>
            <a:ext cx="17449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13" name="TextBox 5"/>
          <p:cNvSpPr/>
          <p:nvPr/>
        </p:nvSpPr>
        <p:spPr>
          <a:xfrm>
            <a:off x="5895360" y="342000"/>
            <a:ext cx="999000" cy="29376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Key tools:</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User Persona</a:t>
            </a:r>
            <a:endParaRPr lang="en-US" sz="1000" b="0" u="none" strike="noStrike">
              <a:solidFill>
                <a:srgbClr val="000000"/>
              </a:solidFill>
              <a:effectLst/>
              <a:uFillTx/>
              <a:latin typeface="Arial"/>
            </a:endParaRPr>
          </a:p>
        </p:txBody>
      </p:sp>
      <p:sp>
        <p:nvSpPr>
          <p:cNvPr id="714" name="Rectangle 6"/>
          <p:cNvSpPr/>
          <p:nvPr/>
        </p:nvSpPr>
        <p:spPr>
          <a:xfrm>
            <a:off x="7595280" y="288000"/>
            <a:ext cx="43081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15" name="TextBox 7"/>
          <p:cNvSpPr/>
          <p:nvPr/>
        </p:nvSpPr>
        <p:spPr>
          <a:xfrm>
            <a:off x="7641360" y="342000"/>
            <a:ext cx="2697120" cy="1414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Once you are Summarise the information </a:t>
            </a:r>
            <a:endParaRPr lang="en-US" sz="1000" b="0" u="none" strike="noStrike">
              <a:solidFill>
                <a:srgbClr val="000000"/>
              </a:solidFill>
              <a:effectLst/>
              <a:uFillTx/>
              <a:latin typeface="Arial"/>
            </a:endParaRPr>
          </a:p>
        </p:txBody>
      </p:sp>
      <p:sp>
        <p:nvSpPr>
          <p:cNvPr id="716" name="TextBox 8"/>
          <p:cNvSpPr/>
          <p:nvPr/>
        </p:nvSpPr>
        <p:spPr>
          <a:xfrm>
            <a:off x="333720" y="4246560"/>
            <a:ext cx="1291680" cy="308880"/>
          </a:xfrm>
          <a:prstGeom prst="rect">
            <a:avLst/>
          </a:prstGeom>
          <a:noFill/>
          <a:ln w="0">
            <a:noFill/>
          </a:ln>
        </p:spPr>
        <p:style>
          <a:lnRef idx="0"/>
          <a:fillRef idx="0"/>
          <a:effectRef idx="0"/>
          <a:fontRef idx="minor"/>
        </p:style>
        <p:txBody>
          <a:bodyPr lIns="0" tIns="0" rIns="0" bIns="0" anchor="t">
            <a:noAutofit/>
          </a:bodyPr>
          <a:p>
            <a:pPr defTabSz="457200">
              <a:lnSpc>
                <a:spcPts val="1321"/>
              </a:lnSpc>
            </a:pPr>
            <a:r>
              <a:rPr lang="en-US" sz="1000" b="1" u="none" strike="noStrike">
                <a:solidFill>
                  <a:srgbClr val="000000"/>
                </a:solidFill>
                <a:effectLst/>
                <a:uFillTx/>
                <a:latin typeface="Arial"/>
              </a:rPr>
              <a:t>Firstname Lastname Role</a:t>
            </a:r>
            <a:endParaRPr lang="en-US" sz="1000" b="0" u="none" strike="noStrike">
              <a:solidFill>
                <a:srgbClr val="000000"/>
              </a:solidFill>
              <a:effectLst/>
              <a:uFillTx/>
              <a:latin typeface="Arial"/>
            </a:endParaRPr>
          </a:p>
        </p:txBody>
      </p:sp>
      <p:sp>
        <p:nvSpPr>
          <p:cNvPr id="717" name="TextBox 9"/>
          <p:cNvSpPr/>
          <p:nvPr/>
        </p:nvSpPr>
        <p:spPr>
          <a:xfrm>
            <a:off x="333720" y="4749840"/>
            <a:ext cx="1887120" cy="6436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Demographic info</a:t>
            </a:r>
            <a:endParaRPr lang="en-US" sz="1000" b="0" u="none" strike="noStrike">
              <a:solidFill>
                <a:srgbClr val="000000"/>
              </a:solidFill>
              <a:effectLst/>
              <a:uFillTx/>
              <a:latin typeface="Arial"/>
            </a:endParaRPr>
          </a:p>
          <a:p>
            <a:pPr defTabSz="457200">
              <a:lnSpc>
                <a:spcPts val="1318"/>
              </a:lnSpc>
            </a:pPr>
            <a:r>
              <a:rPr lang="en-US" sz="1000" b="0" i="1" u="none" strike="noStrike">
                <a:solidFill>
                  <a:srgbClr val="000000"/>
                </a:solidFill>
                <a:effectLst/>
                <a:uFillTx/>
                <a:latin typeface="Arial"/>
              </a:rPr>
              <a:t>Other demographic information, such as age, gender, income, education, location, etc.</a:t>
            </a:r>
            <a:endParaRPr lang="en-US" sz="1000" b="0" u="none" strike="noStrike">
              <a:solidFill>
                <a:srgbClr val="000000"/>
              </a:solidFill>
              <a:effectLst/>
              <a:uFillTx/>
              <a:latin typeface="Arial"/>
            </a:endParaRPr>
          </a:p>
        </p:txBody>
      </p:sp>
      <p:sp>
        <p:nvSpPr>
          <p:cNvPr id="718" name="TextBox 10"/>
          <p:cNvSpPr/>
          <p:nvPr/>
        </p:nvSpPr>
        <p:spPr>
          <a:xfrm>
            <a:off x="333720" y="1751040"/>
            <a:ext cx="162900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Targeted User Persona</a:t>
            </a:r>
            <a:endParaRPr lang="en-US" sz="1200" b="0" u="none" strike="noStrike">
              <a:solidFill>
                <a:srgbClr val="000000"/>
              </a:solidFill>
              <a:effectLst/>
              <a:uFillTx/>
              <a:latin typeface="Arial"/>
            </a:endParaRPr>
          </a:p>
        </p:txBody>
      </p:sp>
      <p:sp>
        <p:nvSpPr>
          <p:cNvPr id="719" name="Rectangle 11"/>
          <p:cNvSpPr/>
          <p:nvPr/>
        </p:nvSpPr>
        <p:spPr>
          <a:xfrm>
            <a:off x="288000" y="2147040"/>
            <a:ext cx="1974600" cy="1866240"/>
          </a:xfrm>
          <a:prstGeom prst="rect">
            <a:avLst/>
          </a:prstGeom>
          <a:solidFill>
            <a:srgbClr val="F2F2F2"/>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20" name="TextBox 12"/>
          <p:cNvSpPr/>
          <p:nvPr/>
        </p:nvSpPr>
        <p:spPr>
          <a:xfrm>
            <a:off x="644400" y="3012840"/>
            <a:ext cx="1319040" cy="1414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u="none" strike="noStrike">
                <a:solidFill>
                  <a:srgbClr val="0F62FE"/>
                </a:solidFill>
                <a:effectLst/>
                <a:uFillTx/>
                <a:latin typeface="Arial"/>
              </a:rPr>
              <a:t>Illustrative User Image</a:t>
            </a:r>
            <a:endParaRPr lang="en-US" sz="1000" b="0" u="none" strike="noStrike">
              <a:solidFill>
                <a:srgbClr val="000000"/>
              </a:solidFill>
              <a:effectLst/>
              <a:uFillTx/>
              <a:latin typeface="Arial"/>
            </a:endParaRPr>
          </a:p>
        </p:txBody>
      </p:sp>
      <p:sp>
        <p:nvSpPr>
          <p:cNvPr id="721" name="Rectangle 13"/>
          <p:cNvSpPr/>
          <p:nvPr/>
        </p:nvSpPr>
        <p:spPr>
          <a:xfrm>
            <a:off x="3155400" y="2147040"/>
            <a:ext cx="3435480" cy="203040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22" name="TextBox 14"/>
          <p:cNvSpPr/>
          <p:nvPr/>
        </p:nvSpPr>
        <p:spPr>
          <a:xfrm>
            <a:off x="3201480" y="2203920"/>
            <a:ext cx="6692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Short Bio</a:t>
            </a:r>
            <a:endParaRPr lang="en-US" sz="1200" b="0" u="none" strike="noStrike">
              <a:solidFill>
                <a:srgbClr val="000000"/>
              </a:solidFill>
              <a:effectLst/>
              <a:uFillTx/>
              <a:latin typeface="Arial"/>
            </a:endParaRPr>
          </a:p>
        </p:txBody>
      </p:sp>
      <p:sp>
        <p:nvSpPr>
          <p:cNvPr id="723" name="TextBox 15"/>
          <p:cNvSpPr/>
          <p:nvPr/>
        </p:nvSpPr>
        <p:spPr>
          <a:xfrm>
            <a:off x="3201480" y="2568600"/>
            <a:ext cx="3245400" cy="44568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i="1" u="none" strike="noStrike">
                <a:solidFill>
                  <a:srgbClr val="000000"/>
                </a:solidFill>
                <a:effectLst/>
                <a:uFillTx/>
                <a:latin typeface="Arial"/>
              </a:rPr>
              <a:t>Explain who is the user, their job description, their preferences, and any other background information can help you create a more authentic character. </a:t>
            </a:r>
            <a:endParaRPr lang="en-US" sz="1000" b="0" u="none" strike="noStrike">
              <a:solidFill>
                <a:srgbClr val="000000"/>
              </a:solidFill>
              <a:effectLst/>
              <a:uFillTx/>
              <a:latin typeface="Arial"/>
            </a:endParaRPr>
          </a:p>
        </p:txBody>
      </p:sp>
      <p:sp>
        <p:nvSpPr>
          <p:cNvPr id="724" name="Rectangle 16"/>
          <p:cNvSpPr/>
          <p:nvPr/>
        </p:nvSpPr>
        <p:spPr>
          <a:xfrm>
            <a:off x="3155400" y="4390200"/>
            <a:ext cx="3435480" cy="170532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25" name="TextBox 17"/>
          <p:cNvSpPr/>
          <p:nvPr/>
        </p:nvSpPr>
        <p:spPr>
          <a:xfrm>
            <a:off x="3201480" y="4447080"/>
            <a:ext cx="20606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Ideal Experience / Must Have</a:t>
            </a:r>
            <a:endParaRPr lang="en-US" sz="1200" b="0" u="none" strike="noStrike">
              <a:solidFill>
                <a:srgbClr val="000000"/>
              </a:solidFill>
              <a:effectLst/>
              <a:uFillTx/>
              <a:latin typeface="Arial"/>
            </a:endParaRPr>
          </a:p>
        </p:txBody>
      </p:sp>
      <p:sp>
        <p:nvSpPr>
          <p:cNvPr id="726" name="TextBox 18"/>
          <p:cNvSpPr/>
          <p:nvPr/>
        </p:nvSpPr>
        <p:spPr>
          <a:xfrm>
            <a:off x="3201480" y="4811760"/>
            <a:ext cx="3237840" cy="44568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i="1" u="none" strike="noStrike">
                <a:solidFill>
                  <a:srgbClr val="000000"/>
                </a:solidFill>
                <a:effectLst/>
                <a:uFillTx/>
                <a:latin typeface="Arial"/>
              </a:rPr>
              <a:t>Knowing your core user, explain how your product can serve them better to create the optimal user experience based what they would love to or must have.</a:t>
            </a:r>
            <a:endParaRPr lang="en-US" sz="1000" b="0" u="none" strike="noStrike">
              <a:solidFill>
                <a:srgbClr val="000000"/>
              </a:solidFill>
              <a:effectLst/>
              <a:uFillTx/>
              <a:latin typeface="Arial"/>
            </a:endParaRPr>
          </a:p>
        </p:txBody>
      </p:sp>
      <p:sp>
        <p:nvSpPr>
          <p:cNvPr id="727" name="Rectangle 19"/>
          <p:cNvSpPr/>
          <p:nvPr/>
        </p:nvSpPr>
        <p:spPr>
          <a:xfrm>
            <a:off x="6822000" y="4390200"/>
            <a:ext cx="5081400" cy="170532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28" name="TextBox 20"/>
          <p:cNvSpPr/>
          <p:nvPr/>
        </p:nvSpPr>
        <p:spPr>
          <a:xfrm>
            <a:off x="6868080" y="4447080"/>
            <a:ext cx="138528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Skills &amp; Capabilities</a:t>
            </a:r>
            <a:endParaRPr lang="en-US" sz="1200" b="0" u="none" strike="noStrike">
              <a:solidFill>
                <a:srgbClr val="000000"/>
              </a:solidFill>
              <a:effectLst/>
              <a:uFillTx/>
              <a:latin typeface="Arial"/>
            </a:endParaRPr>
          </a:p>
        </p:txBody>
      </p:sp>
      <p:sp>
        <p:nvSpPr>
          <p:cNvPr id="729" name="TextBox 21"/>
          <p:cNvSpPr/>
          <p:nvPr/>
        </p:nvSpPr>
        <p:spPr>
          <a:xfrm>
            <a:off x="6868080" y="4811760"/>
            <a:ext cx="5142240" cy="29340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i="1" u="none" strike="noStrike">
                <a:solidFill>
                  <a:srgbClr val="000000"/>
                </a:solidFill>
                <a:effectLst/>
                <a:uFillTx/>
                <a:latin typeface="Arial"/>
              </a:rPr>
              <a:t>List the industry and AI technical capabilities that your core user has – including potential gaps that your solution will have to consider.    </a:t>
            </a:r>
            <a:endParaRPr lang="en-US" sz="1000" b="0" u="none" strike="noStrike">
              <a:solidFill>
                <a:srgbClr val="000000"/>
              </a:solidFill>
              <a:effectLst/>
              <a:uFillTx/>
              <a:latin typeface="Arial"/>
            </a:endParaRPr>
          </a:p>
        </p:txBody>
      </p:sp>
      <p:sp>
        <p:nvSpPr>
          <p:cNvPr id="730" name="Rectangle 22"/>
          <p:cNvSpPr/>
          <p:nvPr/>
        </p:nvSpPr>
        <p:spPr>
          <a:xfrm>
            <a:off x="6822000" y="2147040"/>
            <a:ext cx="2540520" cy="203040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31" name="TextBox 23"/>
          <p:cNvSpPr/>
          <p:nvPr/>
        </p:nvSpPr>
        <p:spPr>
          <a:xfrm>
            <a:off x="6868080" y="2203920"/>
            <a:ext cx="141300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Goals &amp; Motivations</a:t>
            </a:r>
            <a:endParaRPr lang="en-US" sz="1200" b="0" u="none" strike="noStrike">
              <a:solidFill>
                <a:srgbClr val="000000"/>
              </a:solidFill>
              <a:effectLst/>
              <a:uFillTx/>
              <a:latin typeface="Arial"/>
            </a:endParaRPr>
          </a:p>
        </p:txBody>
      </p:sp>
      <p:sp>
        <p:nvSpPr>
          <p:cNvPr id="732" name="TextBox 24"/>
          <p:cNvSpPr/>
          <p:nvPr/>
        </p:nvSpPr>
        <p:spPr>
          <a:xfrm>
            <a:off x="6868080" y="2568600"/>
            <a:ext cx="2423880" cy="59796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i="1" u="none" strike="noStrike">
                <a:solidFill>
                  <a:srgbClr val="000000"/>
                </a:solidFill>
                <a:effectLst/>
                <a:uFillTx/>
                <a:latin typeface="Arial"/>
              </a:rPr>
              <a:t>What your audience wants to get or to do with your product. List all possible goals and motivations that you've found from your user research.</a:t>
            </a:r>
            <a:endParaRPr lang="en-US" sz="1000" b="0" u="none" strike="noStrike">
              <a:solidFill>
                <a:srgbClr val="000000"/>
              </a:solidFill>
              <a:effectLst/>
              <a:uFillTx/>
              <a:latin typeface="Arial"/>
            </a:endParaRPr>
          </a:p>
        </p:txBody>
      </p:sp>
      <p:sp>
        <p:nvSpPr>
          <p:cNvPr id="733" name="Rectangle 25"/>
          <p:cNvSpPr/>
          <p:nvPr/>
        </p:nvSpPr>
        <p:spPr>
          <a:xfrm>
            <a:off x="9362880" y="2147040"/>
            <a:ext cx="2540520" cy="203040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34" name="TextBox 26"/>
          <p:cNvSpPr/>
          <p:nvPr/>
        </p:nvSpPr>
        <p:spPr>
          <a:xfrm>
            <a:off x="9409320" y="2203920"/>
            <a:ext cx="182628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Frustrations &amp; Pain Points</a:t>
            </a:r>
            <a:endParaRPr lang="en-US" sz="1200" b="0" u="none" strike="noStrike">
              <a:solidFill>
                <a:srgbClr val="000000"/>
              </a:solidFill>
              <a:effectLst/>
              <a:uFillTx/>
              <a:latin typeface="Arial"/>
            </a:endParaRPr>
          </a:p>
        </p:txBody>
      </p:sp>
      <p:sp>
        <p:nvSpPr>
          <p:cNvPr id="735" name="TextBox 27"/>
          <p:cNvSpPr/>
          <p:nvPr/>
        </p:nvSpPr>
        <p:spPr>
          <a:xfrm>
            <a:off x="9409320" y="2568600"/>
            <a:ext cx="2457360" cy="90288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i="1" u="none" strike="noStrike">
                <a:solidFill>
                  <a:srgbClr val="000000"/>
                </a:solidFill>
                <a:effectLst/>
                <a:uFillTx/>
                <a:latin typeface="Arial"/>
              </a:rPr>
              <a:t>List out all possible problems, challenges, and even fears that your audience may encounter while interacting with your products. This information can help you create a product that really meets the needs of your users.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TextBox 1"/>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37</a:t>
            </a:r>
            <a:endParaRPr lang="en-US" sz="800" b="0" u="none" strike="noStrike">
              <a:solidFill>
                <a:srgbClr val="000000"/>
              </a:solidFill>
              <a:effectLst/>
              <a:uFillTx/>
              <a:latin typeface="Arial"/>
            </a:endParaRPr>
          </a:p>
        </p:txBody>
      </p:sp>
      <p:sp>
        <p:nvSpPr>
          <p:cNvPr id="737" name="TextBox 2"/>
          <p:cNvSpPr/>
          <p:nvPr/>
        </p:nvSpPr>
        <p:spPr>
          <a:xfrm>
            <a:off x="288000" y="300240"/>
            <a:ext cx="22082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Solution Concept (Part 2)</a:t>
            </a:r>
            <a:endParaRPr lang="en-US" sz="1400" b="0" u="none" strike="noStrike">
              <a:solidFill>
                <a:srgbClr val="000000"/>
              </a:solidFill>
              <a:effectLst/>
              <a:uFillTx/>
              <a:latin typeface="Arial"/>
            </a:endParaRPr>
          </a:p>
        </p:txBody>
      </p:sp>
      <p:sp>
        <p:nvSpPr>
          <p:cNvPr id="738" name="TextBox 3"/>
          <p:cNvSpPr/>
          <p:nvPr/>
        </p:nvSpPr>
        <p:spPr>
          <a:xfrm>
            <a:off x="288000" y="727200"/>
            <a:ext cx="3675240" cy="623880"/>
          </a:xfrm>
          <a:prstGeom prst="rect">
            <a:avLst/>
          </a:prstGeom>
          <a:noFill/>
          <a:ln w="0">
            <a:noFill/>
          </a:ln>
        </p:spPr>
        <p:style>
          <a:lnRef idx="0"/>
          <a:fillRef idx="0"/>
          <a:effectRef idx="0"/>
          <a:fontRef idx="minor"/>
        </p:style>
        <p:txBody>
          <a:bodyPr lIns="0" tIns="0" rIns="0" bIns="0" anchor="t">
            <a:noAutofit/>
          </a:bodyPr>
          <a:p>
            <a:pPr defTabSz="457200">
              <a:lnSpc>
                <a:spcPts val="1678"/>
              </a:lnSpc>
            </a:pPr>
            <a:r>
              <a:rPr lang="en-US" sz="1400" b="1" u="none" strike="noStrike">
                <a:solidFill>
                  <a:srgbClr val="000000"/>
                </a:solidFill>
                <a:effectLst/>
                <a:uFillTx/>
                <a:latin typeface="Arial"/>
              </a:rPr>
              <a:t>Purpose:</a:t>
            </a:r>
            <a:r>
              <a:rPr lang="en-US" sz="1400" b="0" u="none" strike="noStrike">
                <a:solidFill>
                  <a:srgbClr val="000000"/>
                </a:solidFill>
                <a:effectLst/>
                <a:uFillTx/>
                <a:latin typeface="Arial"/>
              </a:rPr>
              <a:t> Understand what your solution will do and how it will solve the user pain-points</a:t>
            </a:r>
            <a:endParaRPr lang="en-US" sz="1400" b="0" u="none" strike="noStrike">
              <a:solidFill>
                <a:srgbClr val="000000"/>
              </a:solidFill>
              <a:effectLst/>
              <a:uFillTx/>
              <a:latin typeface="Arial"/>
            </a:endParaRPr>
          </a:p>
          <a:p>
            <a:pPr defTabSz="457200">
              <a:lnSpc>
                <a:spcPts val="1607"/>
              </a:lnSpc>
              <a:spcBef>
                <a:spcPts val="71"/>
              </a:spcBef>
            </a:pPr>
            <a:r>
              <a:rPr lang="en-US" sz="1400" b="1" u="none" strike="noStrike">
                <a:solidFill>
                  <a:srgbClr val="000000"/>
                </a:solidFill>
                <a:effectLst/>
                <a:uFillTx/>
                <a:latin typeface="Arial"/>
              </a:rPr>
              <a:t>When:</a:t>
            </a:r>
            <a:r>
              <a:rPr lang="en-US" sz="1400" b="0" u="none" strike="noStrike">
                <a:solidFill>
                  <a:srgbClr val="000000"/>
                </a:solidFill>
                <a:effectLst/>
                <a:uFillTx/>
                <a:latin typeface="Arial"/>
              </a:rPr>
              <a:t> By Week 3</a:t>
            </a:r>
            <a:endParaRPr lang="en-US" sz="1400" b="0" u="none" strike="noStrike">
              <a:solidFill>
                <a:srgbClr val="000000"/>
              </a:solidFill>
              <a:effectLst/>
              <a:uFillTx/>
              <a:latin typeface="Arial"/>
            </a:endParaRPr>
          </a:p>
        </p:txBody>
      </p:sp>
      <p:sp>
        <p:nvSpPr>
          <p:cNvPr id="739" name="TextBox 4"/>
          <p:cNvSpPr/>
          <p:nvPr/>
        </p:nvSpPr>
        <p:spPr>
          <a:xfrm>
            <a:off x="287280" y="1996200"/>
            <a:ext cx="160272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Idea Cluster Play Back</a:t>
            </a:r>
            <a:endParaRPr lang="en-US" sz="1200" b="0" u="none" strike="noStrike">
              <a:solidFill>
                <a:srgbClr val="000000"/>
              </a:solidFill>
              <a:effectLst/>
              <a:uFillTx/>
              <a:latin typeface="Arial"/>
            </a:endParaRPr>
          </a:p>
        </p:txBody>
      </p:sp>
      <p:sp>
        <p:nvSpPr>
          <p:cNvPr id="740" name="TextBox 5"/>
          <p:cNvSpPr/>
          <p:nvPr/>
        </p:nvSpPr>
        <p:spPr>
          <a:xfrm>
            <a:off x="287280" y="2362320"/>
            <a:ext cx="2498400" cy="64404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i="1" u="none" strike="noStrike">
                <a:solidFill>
                  <a:srgbClr val="000000"/>
                </a:solidFill>
                <a:effectLst/>
                <a:uFillTx/>
                <a:latin typeface="Arial"/>
              </a:rPr>
              <a:t>List the top ideas the team wants to pursue</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3… </a:t>
            </a:r>
            <a:endParaRPr lang="en-US" sz="1000" b="0" u="none" strike="noStrike">
              <a:solidFill>
                <a:srgbClr val="000000"/>
              </a:solidFill>
              <a:effectLst/>
              <a:uFillTx/>
              <a:latin typeface="Arial"/>
            </a:endParaRPr>
          </a:p>
        </p:txBody>
      </p:sp>
      <p:sp>
        <p:nvSpPr>
          <p:cNvPr id="741" name="TextBox 6"/>
          <p:cNvSpPr/>
          <p:nvPr/>
        </p:nvSpPr>
        <p:spPr>
          <a:xfrm>
            <a:off x="287280" y="3437640"/>
            <a:ext cx="244080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Value Proposition &amp; AI Justification</a:t>
            </a:r>
            <a:endParaRPr lang="en-US" sz="1200" b="0" u="none" strike="noStrike">
              <a:solidFill>
                <a:srgbClr val="000000"/>
              </a:solidFill>
              <a:effectLst/>
              <a:uFillTx/>
              <a:latin typeface="Arial"/>
            </a:endParaRPr>
          </a:p>
        </p:txBody>
      </p:sp>
      <p:sp>
        <p:nvSpPr>
          <p:cNvPr id="742" name="TextBox 7"/>
          <p:cNvSpPr/>
          <p:nvPr/>
        </p:nvSpPr>
        <p:spPr>
          <a:xfrm>
            <a:off x="287280" y="3786840"/>
            <a:ext cx="3533760" cy="277200"/>
          </a:xfrm>
          <a:prstGeom prst="rect">
            <a:avLst/>
          </a:prstGeom>
          <a:noFill/>
          <a:ln w="0">
            <a:noFill/>
          </a:ln>
        </p:spPr>
        <p:style>
          <a:lnRef idx="0"/>
          <a:fillRef idx="0"/>
          <a:effectRef idx="0"/>
          <a:fontRef idx="minor"/>
        </p:style>
        <p:txBody>
          <a:bodyPr lIns="0" tIns="0" rIns="0" bIns="0" anchor="t">
            <a:noAutofit/>
          </a:bodyPr>
          <a:p>
            <a:pPr defTabSz="457200">
              <a:lnSpc>
                <a:spcPts val="1188"/>
              </a:lnSpc>
            </a:pPr>
            <a:r>
              <a:rPr lang="en-US" sz="900" b="0" i="1" u="none" strike="noStrike">
                <a:solidFill>
                  <a:srgbClr val="000000"/>
                </a:solidFill>
                <a:effectLst/>
                <a:uFillTx/>
                <a:latin typeface="Arial"/>
              </a:rPr>
              <a:t>Explain why these ideas will solve user pain-points and deliver user value through agentic AI.</a:t>
            </a:r>
            <a:endParaRPr lang="en-US" sz="900" b="0" u="none" strike="noStrike">
              <a:solidFill>
                <a:srgbClr val="000000"/>
              </a:solidFill>
              <a:effectLst/>
              <a:uFillTx/>
              <a:latin typeface="Arial"/>
            </a:endParaRPr>
          </a:p>
        </p:txBody>
      </p:sp>
      <p:sp>
        <p:nvSpPr>
          <p:cNvPr id="743" name="TextBox 8"/>
          <p:cNvSpPr/>
          <p:nvPr/>
        </p:nvSpPr>
        <p:spPr>
          <a:xfrm>
            <a:off x="287280" y="4239720"/>
            <a:ext cx="3319560" cy="277200"/>
          </a:xfrm>
          <a:prstGeom prst="rect">
            <a:avLst/>
          </a:prstGeom>
          <a:noFill/>
          <a:ln w="0">
            <a:noFill/>
          </a:ln>
        </p:spPr>
        <p:style>
          <a:lnRef idx="0"/>
          <a:fillRef idx="0"/>
          <a:effectRef idx="0"/>
          <a:fontRef idx="minor"/>
        </p:style>
        <p:txBody>
          <a:bodyPr lIns="0" tIns="0" rIns="0" bIns="0" anchor="t">
            <a:noAutofit/>
          </a:bodyPr>
          <a:p>
            <a:pPr defTabSz="457200">
              <a:lnSpc>
                <a:spcPts val="1188"/>
              </a:lnSpc>
            </a:pPr>
            <a:r>
              <a:rPr lang="en-US" sz="900" b="0" i="1" u="none" strike="noStrike">
                <a:solidFill>
                  <a:srgbClr val="000000"/>
                </a:solidFill>
                <a:effectLst/>
                <a:uFillTx/>
                <a:latin typeface="Arial"/>
              </a:rPr>
              <a:t>Why would this solution be interesting even if the AI technology improves tomorrow?</a:t>
            </a:r>
            <a:endParaRPr lang="en-US" sz="900" b="0" u="none" strike="noStrike">
              <a:solidFill>
                <a:srgbClr val="000000"/>
              </a:solidFill>
              <a:effectLst/>
              <a:uFillTx/>
              <a:latin typeface="Arial"/>
            </a:endParaRPr>
          </a:p>
        </p:txBody>
      </p:sp>
      <p:sp>
        <p:nvSpPr>
          <p:cNvPr id="744" name="Rectangle 9"/>
          <p:cNvSpPr/>
          <p:nvPr/>
        </p:nvSpPr>
        <p:spPr>
          <a:xfrm>
            <a:off x="5849640" y="288000"/>
            <a:ext cx="17449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45" name="TextBox 10"/>
          <p:cNvSpPr/>
          <p:nvPr/>
        </p:nvSpPr>
        <p:spPr>
          <a:xfrm>
            <a:off x="5895360" y="342000"/>
            <a:ext cx="1254600" cy="44604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Key tools:</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Big Idea Vignettes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To-Be-Scenario</a:t>
            </a:r>
            <a:endParaRPr lang="en-US" sz="1000" b="0" u="none" strike="noStrike">
              <a:solidFill>
                <a:srgbClr val="000000"/>
              </a:solidFill>
              <a:effectLst/>
              <a:uFillTx/>
              <a:latin typeface="Arial"/>
            </a:endParaRPr>
          </a:p>
        </p:txBody>
      </p:sp>
      <p:sp>
        <p:nvSpPr>
          <p:cNvPr id="746" name="Rectangle 11"/>
          <p:cNvSpPr/>
          <p:nvPr/>
        </p:nvSpPr>
        <p:spPr>
          <a:xfrm>
            <a:off x="7595280" y="288000"/>
            <a:ext cx="43081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47" name="TextBox 12"/>
          <p:cNvSpPr/>
          <p:nvPr/>
        </p:nvSpPr>
        <p:spPr>
          <a:xfrm>
            <a:off x="7641360" y="342000"/>
            <a:ext cx="431280" cy="1414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748" name="Rectangle 13"/>
          <p:cNvSpPr/>
          <p:nvPr/>
        </p:nvSpPr>
        <p:spPr>
          <a:xfrm>
            <a:off x="4158720" y="1982880"/>
            <a:ext cx="7744320" cy="440532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49" name="TextBox 14"/>
          <p:cNvSpPr/>
          <p:nvPr/>
        </p:nvSpPr>
        <p:spPr>
          <a:xfrm>
            <a:off x="4204800" y="2039400"/>
            <a:ext cx="263196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Ealy Concept (Low Fidelity Prototype)</a:t>
            </a:r>
            <a:endParaRPr lang="en-US" sz="1200" b="0" u="none" strike="noStrike">
              <a:solidFill>
                <a:srgbClr val="000000"/>
              </a:solidFill>
              <a:effectLst/>
              <a:uFillTx/>
              <a:latin typeface="Arial"/>
            </a:endParaRPr>
          </a:p>
        </p:txBody>
      </p:sp>
      <p:sp>
        <p:nvSpPr>
          <p:cNvPr id="750" name="TextBox 15"/>
          <p:cNvSpPr/>
          <p:nvPr/>
        </p:nvSpPr>
        <p:spPr>
          <a:xfrm>
            <a:off x="4204800" y="2404080"/>
            <a:ext cx="6528960" cy="14112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i="1" u="none" strike="noStrike">
                <a:solidFill>
                  <a:srgbClr val="000000"/>
                </a:solidFill>
                <a:effectLst/>
                <a:uFillTx/>
                <a:latin typeface="Arial"/>
              </a:rPr>
              <a:t>Summarize/Illustrate here how your ideas would come together as a powerful and innovation agentic AI solution.  </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1" name="TextBox 1"/>
          <p:cNvSpPr/>
          <p:nvPr/>
        </p:nvSpPr>
        <p:spPr>
          <a:xfrm>
            <a:off x="10321560" y="2240640"/>
            <a:ext cx="911160" cy="4798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Stage</a:t>
            </a:r>
            <a:endParaRPr lang="en-US" sz="1000" b="0" u="none" strike="noStrike">
              <a:solidFill>
                <a:srgbClr val="000000"/>
              </a:solidFill>
              <a:effectLst/>
              <a:uFillTx/>
              <a:latin typeface="Arial"/>
            </a:endParaRPr>
          </a:p>
          <a:p>
            <a:pPr defTabSz="457200">
              <a:lnSpc>
                <a:spcPts val="1318"/>
              </a:lnSpc>
              <a:spcBef>
                <a:spcPts val="28"/>
              </a:spcBef>
            </a:pPr>
            <a:r>
              <a:rPr lang="en-US" sz="1000" b="0" i="1" u="none" strike="noStrike">
                <a:solidFill>
                  <a:srgbClr val="000000"/>
                </a:solidFill>
                <a:effectLst/>
                <a:uFillTx/>
                <a:latin typeface="Arial"/>
              </a:rPr>
              <a:t>What ends the user’s journey?</a:t>
            </a:r>
            <a:endParaRPr lang="en-US" sz="1000" b="0" u="none" strike="noStrike">
              <a:solidFill>
                <a:srgbClr val="000000"/>
              </a:solidFill>
              <a:effectLst/>
              <a:uFillTx/>
              <a:latin typeface="Arial"/>
            </a:endParaRPr>
          </a:p>
        </p:txBody>
      </p:sp>
      <p:sp>
        <p:nvSpPr>
          <p:cNvPr id="752" name="TextBox 2"/>
          <p:cNvSpPr/>
          <p:nvPr/>
        </p:nvSpPr>
        <p:spPr>
          <a:xfrm>
            <a:off x="5013360" y="224136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Stage</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sp>
        <p:nvSpPr>
          <p:cNvPr id="753" name="TextBox 3"/>
          <p:cNvSpPr/>
          <p:nvPr/>
        </p:nvSpPr>
        <p:spPr>
          <a:xfrm>
            <a:off x="7696080" y="224136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Stage</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sp>
        <p:nvSpPr>
          <p:cNvPr id="754" name="TextBox 4"/>
          <p:cNvSpPr/>
          <p:nvPr/>
        </p:nvSpPr>
        <p:spPr>
          <a:xfrm>
            <a:off x="288000" y="303120"/>
            <a:ext cx="149256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Innovation Intent</a:t>
            </a:r>
            <a:endParaRPr lang="en-US" sz="1400" b="0" u="none" strike="noStrike">
              <a:solidFill>
                <a:srgbClr val="000000"/>
              </a:solidFill>
              <a:effectLst/>
              <a:uFillTx/>
              <a:latin typeface="Arial"/>
            </a:endParaRPr>
          </a:p>
        </p:txBody>
      </p:sp>
      <p:sp>
        <p:nvSpPr>
          <p:cNvPr id="755" name="TextBox 5"/>
          <p:cNvSpPr/>
          <p:nvPr/>
        </p:nvSpPr>
        <p:spPr>
          <a:xfrm>
            <a:off x="288000" y="772920"/>
            <a:ext cx="3785400" cy="43200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Purpose:</a:t>
            </a:r>
            <a:r>
              <a:rPr lang="en-US" sz="1400" b="0" u="none" strike="noStrike">
                <a:solidFill>
                  <a:srgbClr val="000000"/>
                </a:solidFill>
                <a:effectLst/>
                <a:uFillTx/>
                <a:latin typeface="Arial"/>
              </a:rPr>
              <a:t> Explain why this solution is different </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When:</a:t>
            </a:r>
            <a:r>
              <a:rPr lang="en-US" sz="1400" b="0" u="none" strike="noStrike">
                <a:solidFill>
                  <a:srgbClr val="000000"/>
                </a:solidFill>
                <a:effectLst/>
                <a:uFillTx/>
                <a:latin typeface="Arial"/>
              </a:rPr>
              <a:t> By Week 3</a:t>
            </a:r>
            <a:endParaRPr lang="en-US" sz="1400" b="0" u="none" strike="noStrike">
              <a:solidFill>
                <a:srgbClr val="000000"/>
              </a:solidFill>
              <a:effectLst/>
              <a:uFillTx/>
              <a:latin typeface="Arial"/>
            </a:endParaRPr>
          </a:p>
        </p:txBody>
      </p:sp>
      <p:sp>
        <p:nvSpPr>
          <p:cNvPr id="756" name="TextBox 6"/>
          <p:cNvSpPr/>
          <p:nvPr/>
        </p:nvSpPr>
        <p:spPr>
          <a:xfrm>
            <a:off x="3627000" y="2271600"/>
            <a:ext cx="936000" cy="4798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Trigger</a:t>
            </a:r>
            <a:endParaRPr lang="en-US" sz="1000" b="0" u="none" strike="noStrike">
              <a:solidFill>
                <a:srgbClr val="000000"/>
              </a:solidFill>
              <a:effectLst/>
              <a:uFillTx/>
              <a:latin typeface="Arial"/>
            </a:endParaRPr>
          </a:p>
          <a:p>
            <a:pPr defTabSz="457200">
              <a:lnSpc>
                <a:spcPts val="1318"/>
              </a:lnSpc>
              <a:spcBef>
                <a:spcPts val="28"/>
              </a:spcBef>
            </a:pPr>
            <a:r>
              <a:rPr lang="en-US" sz="1000" b="0" i="1" u="none" strike="noStrike">
                <a:solidFill>
                  <a:srgbClr val="000000"/>
                </a:solidFill>
                <a:effectLst/>
                <a:uFillTx/>
                <a:latin typeface="Arial"/>
              </a:rPr>
              <a:t>What starts the user’s journey?</a:t>
            </a:r>
            <a:endParaRPr lang="en-US" sz="1000" b="0" u="none" strike="noStrike">
              <a:solidFill>
                <a:srgbClr val="000000"/>
              </a:solidFill>
              <a:effectLst/>
              <a:uFillTx/>
              <a:latin typeface="Arial"/>
            </a:endParaRPr>
          </a:p>
        </p:txBody>
      </p:sp>
      <p:sp>
        <p:nvSpPr>
          <p:cNvPr id="757" name="TextBox 7"/>
          <p:cNvSpPr/>
          <p:nvPr/>
        </p:nvSpPr>
        <p:spPr>
          <a:xfrm>
            <a:off x="6327720" y="227160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Stage</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sp>
        <p:nvSpPr>
          <p:cNvPr id="758" name="TextBox 8"/>
          <p:cNvSpPr/>
          <p:nvPr/>
        </p:nvSpPr>
        <p:spPr>
          <a:xfrm>
            <a:off x="9010440" y="2271600"/>
            <a:ext cx="1139400" cy="6476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Stage</a:t>
            </a:r>
            <a:endParaRPr lang="en-US" sz="1000" b="0" u="none" strike="noStrike">
              <a:solidFill>
                <a:srgbClr val="000000"/>
              </a:solidFill>
              <a:effectLst/>
              <a:uFillTx/>
              <a:latin typeface="Arial"/>
            </a:endParaRPr>
          </a:p>
          <a:p>
            <a:pPr defTabSz="457200">
              <a:lnSpc>
                <a:spcPts val="1318"/>
              </a:lnSpc>
              <a:spcBef>
                <a:spcPts val="28"/>
              </a:spcBef>
            </a:pPr>
            <a:r>
              <a:rPr lang="en-US" sz="1000" b="0" u="none" strike="noStrike">
                <a:solidFill>
                  <a:srgbClr val="000000"/>
                </a:solidFill>
                <a:effectLst/>
                <a:uFillTx/>
                <a:latin typeface="Arial"/>
              </a:rPr>
              <a:t>Lorem ipsum dolor sit amet donec quam felis ultricies.</a:t>
            </a:r>
            <a:endParaRPr lang="en-US" sz="1000" b="0" u="none" strike="noStrike">
              <a:solidFill>
                <a:srgbClr val="000000"/>
              </a:solidFill>
              <a:effectLst/>
              <a:uFillTx/>
              <a:latin typeface="Arial"/>
            </a:endParaRPr>
          </a:p>
        </p:txBody>
      </p:sp>
      <p:cxnSp>
        <p:nvCxnSpPr>
          <p:cNvPr id="759" name="Connector 9"/>
          <p:cNvCxnSpPr/>
          <p:nvPr/>
        </p:nvCxnSpPr>
        <p:spPr>
          <a:xfrm>
            <a:off x="10237680" y="2249280"/>
            <a:ext cx="720" cy="1043280"/>
          </a:xfrm>
          <a:prstGeom prst="straightConnector1">
            <a:avLst/>
          </a:prstGeom>
          <a:ln w="6349">
            <a:solidFill>
              <a:srgbClr val="000000"/>
            </a:solidFill>
            <a:round/>
          </a:ln>
        </p:spPr>
      </p:cxnSp>
      <p:cxnSp>
        <p:nvCxnSpPr>
          <p:cNvPr id="760" name="Connector 10"/>
          <p:cNvCxnSpPr/>
          <p:nvPr/>
        </p:nvCxnSpPr>
        <p:spPr>
          <a:xfrm>
            <a:off x="4912200" y="2249640"/>
            <a:ext cx="720" cy="1043280"/>
          </a:xfrm>
          <a:prstGeom prst="straightConnector1">
            <a:avLst/>
          </a:prstGeom>
          <a:ln w="6349">
            <a:solidFill>
              <a:srgbClr val="000000"/>
            </a:solidFill>
            <a:round/>
          </a:ln>
        </p:spPr>
      </p:cxnSp>
      <p:cxnSp>
        <p:nvCxnSpPr>
          <p:cNvPr id="761" name="Connector 11"/>
          <p:cNvCxnSpPr/>
          <p:nvPr/>
        </p:nvCxnSpPr>
        <p:spPr>
          <a:xfrm>
            <a:off x="7594920" y="2249640"/>
            <a:ext cx="720" cy="1042920"/>
          </a:xfrm>
          <a:prstGeom prst="straightConnector1">
            <a:avLst/>
          </a:prstGeom>
          <a:ln w="6349">
            <a:solidFill>
              <a:srgbClr val="000000"/>
            </a:solidFill>
            <a:round/>
          </a:ln>
        </p:spPr>
      </p:cxnSp>
      <p:cxnSp>
        <p:nvCxnSpPr>
          <p:cNvPr id="762" name="Connector 12"/>
          <p:cNvCxnSpPr/>
          <p:nvPr/>
        </p:nvCxnSpPr>
        <p:spPr>
          <a:xfrm>
            <a:off x="3543480" y="2265480"/>
            <a:ext cx="720" cy="1043640"/>
          </a:xfrm>
          <a:prstGeom prst="straightConnector1">
            <a:avLst/>
          </a:prstGeom>
          <a:ln w="6349">
            <a:solidFill>
              <a:srgbClr val="000000"/>
            </a:solidFill>
            <a:round/>
          </a:ln>
        </p:spPr>
      </p:cxnSp>
      <p:cxnSp>
        <p:nvCxnSpPr>
          <p:cNvPr id="763" name="Connector 13"/>
          <p:cNvCxnSpPr/>
          <p:nvPr/>
        </p:nvCxnSpPr>
        <p:spPr>
          <a:xfrm>
            <a:off x="6226560" y="2265480"/>
            <a:ext cx="720" cy="1043640"/>
          </a:xfrm>
          <a:prstGeom prst="straightConnector1">
            <a:avLst/>
          </a:prstGeom>
          <a:ln w="6349">
            <a:solidFill>
              <a:srgbClr val="000000"/>
            </a:solidFill>
            <a:round/>
          </a:ln>
        </p:spPr>
      </p:cxnSp>
      <p:cxnSp>
        <p:nvCxnSpPr>
          <p:cNvPr id="764" name="Connector 14"/>
          <p:cNvCxnSpPr/>
          <p:nvPr/>
        </p:nvCxnSpPr>
        <p:spPr>
          <a:xfrm>
            <a:off x="8909280" y="2265480"/>
            <a:ext cx="720" cy="1043280"/>
          </a:xfrm>
          <a:prstGeom prst="straightConnector1">
            <a:avLst/>
          </a:prstGeom>
          <a:ln w="6349">
            <a:solidFill>
              <a:srgbClr val="000000"/>
            </a:solidFill>
            <a:round/>
          </a:ln>
        </p:spPr>
      </p:cxnSp>
      <p:pic>
        <p:nvPicPr>
          <p:cNvPr id="765" name="Picture 15" descr="image.png"/>
          <p:cNvPicPr/>
          <p:nvPr/>
        </p:nvPicPr>
        <p:blipFill>
          <a:blip r:embed="rId1"/>
          <a:stretch/>
        </p:blipFill>
        <p:spPr>
          <a:xfrm>
            <a:off x="3519720" y="3376440"/>
            <a:ext cx="7957440" cy="95400"/>
          </a:xfrm>
          <a:prstGeom prst="rect">
            <a:avLst/>
          </a:prstGeom>
          <a:noFill/>
          <a:ln w="0">
            <a:noFill/>
          </a:ln>
        </p:spPr>
      </p:pic>
      <p:sp>
        <p:nvSpPr>
          <p:cNvPr id="766" name="Oval 16"/>
          <p:cNvSpPr/>
          <p:nvPr/>
        </p:nvSpPr>
        <p:spPr>
          <a:xfrm>
            <a:off x="339012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67" name="Oval 17"/>
          <p:cNvSpPr/>
          <p:nvPr/>
        </p:nvSpPr>
        <p:spPr>
          <a:xfrm>
            <a:off x="4714200" y="3251520"/>
            <a:ext cx="337320" cy="337320"/>
          </a:xfrm>
          <a:prstGeom prst="ellipse">
            <a:avLst/>
          </a:prstGeom>
          <a:solidFill>
            <a:srgbClr val="CFE0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68" name="Oval 18"/>
          <p:cNvSpPr/>
          <p:nvPr/>
        </p:nvSpPr>
        <p:spPr>
          <a:xfrm>
            <a:off x="607428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69" name="Oval 19"/>
          <p:cNvSpPr/>
          <p:nvPr/>
        </p:nvSpPr>
        <p:spPr>
          <a:xfrm>
            <a:off x="7398360" y="3251520"/>
            <a:ext cx="337320" cy="337320"/>
          </a:xfrm>
          <a:prstGeom prst="ellipse">
            <a:avLst/>
          </a:prstGeom>
          <a:solidFill>
            <a:srgbClr val="CFE0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70" name="Oval 20"/>
          <p:cNvSpPr/>
          <p:nvPr/>
        </p:nvSpPr>
        <p:spPr>
          <a:xfrm>
            <a:off x="875052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71" name="Oval 21"/>
          <p:cNvSpPr/>
          <p:nvPr/>
        </p:nvSpPr>
        <p:spPr>
          <a:xfrm>
            <a:off x="10078560" y="3251520"/>
            <a:ext cx="337320" cy="337320"/>
          </a:xfrm>
          <a:prstGeom prst="ellipse">
            <a:avLst/>
          </a:prstGeom>
          <a:solidFill>
            <a:srgbClr val="E5F6FF"/>
          </a:solidFill>
          <a:ln w="6349">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72" name="TextBox 22"/>
          <p:cNvSpPr/>
          <p:nvPr/>
        </p:nvSpPr>
        <p:spPr>
          <a:xfrm>
            <a:off x="288000" y="6476760"/>
            <a:ext cx="203940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Source: If applicable, describe source origin</a:t>
            </a:r>
            <a:endParaRPr lang="en-US" sz="800" b="0" u="none" strike="noStrike">
              <a:solidFill>
                <a:srgbClr val="000000"/>
              </a:solidFill>
              <a:effectLst/>
              <a:uFillTx/>
              <a:latin typeface="Arial"/>
            </a:endParaRPr>
          </a:p>
        </p:txBody>
      </p:sp>
      <p:sp>
        <p:nvSpPr>
          <p:cNvPr id="773" name="TextBox 23"/>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38</a:t>
            </a:r>
            <a:endParaRPr lang="en-US" sz="800" b="0" u="none" strike="noStrike">
              <a:solidFill>
                <a:srgbClr val="000000"/>
              </a:solidFill>
              <a:effectLst/>
              <a:uFillTx/>
              <a:latin typeface="Arial"/>
            </a:endParaRPr>
          </a:p>
        </p:txBody>
      </p:sp>
      <p:sp>
        <p:nvSpPr>
          <p:cNvPr id="774" name="TextBox 24"/>
          <p:cNvSpPr/>
          <p:nvPr/>
        </p:nvSpPr>
        <p:spPr>
          <a:xfrm>
            <a:off x="288000" y="2261880"/>
            <a:ext cx="2262240" cy="50724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Proposed transformation </a:t>
            </a:r>
            <a:endParaRPr lang="en-US" sz="1200" b="0" u="none" strike="noStrike">
              <a:solidFill>
                <a:srgbClr val="000000"/>
              </a:solidFill>
              <a:effectLst/>
              <a:uFillTx/>
              <a:latin typeface="Arial"/>
            </a:endParaRPr>
          </a:p>
          <a:p>
            <a:pPr defTabSz="457200">
              <a:lnSpc>
                <a:spcPts val="1318"/>
              </a:lnSpc>
              <a:spcBef>
                <a:spcPts val="65"/>
              </a:spcBef>
            </a:pPr>
            <a:r>
              <a:rPr lang="en-US" sz="1000" b="0" i="1" u="none" strike="noStrike">
                <a:solidFill>
                  <a:srgbClr val="000000"/>
                </a:solidFill>
                <a:effectLst/>
                <a:uFillTx/>
                <a:latin typeface="Arial"/>
              </a:rPr>
              <a:t>In one paragraph, describe how the experience changes with your solution </a:t>
            </a:r>
            <a:endParaRPr lang="en-US" sz="1000" b="0" u="none" strike="noStrike">
              <a:solidFill>
                <a:srgbClr val="000000"/>
              </a:solidFill>
              <a:effectLst/>
              <a:uFillTx/>
              <a:latin typeface="Arial"/>
            </a:endParaRPr>
          </a:p>
        </p:txBody>
      </p:sp>
      <p:sp>
        <p:nvSpPr>
          <p:cNvPr id="775" name="TextBox 25"/>
          <p:cNvSpPr/>
          <p:nvPr/>
        </p:nvSpPr>
        <p:spPr>
          <a:xfrm>
            <a:off x="333720" y="3633840"/>
            <a:ext cx="2234160" cy="50724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Why this solution</a:t>
            </a:r>
            <a:endParaRPr lang="en-US" sz="1200" b="0" u="none" strike="noStrike">
              <a:solidFill>
                <a:srgbClr val="000000"/>
              </a:solidFill>
              <a:effectLst/>
              <a:uFillTx/>
              <a:latin typeface="Arial"/>
            </a:endParaRPr>
          </a:p>
          <a:p>
            <a:pPr defTabSz="457200">
              <a:lnSpc>
                <a:spcPts val="1321"/>
              </a:lnSpc>
              <a:spcBef>
                <a:spcPts val="65"/>
              </a:spcBef>
            </a:pPr>
            <a:r>
              <a:rPr lang="en-US" sz="1000" b="0" i="1" u="none" strike="noStrike">
                <a:solidFill>
                  <a:srgbClr val="000000"/>
                </a:solidFill>
                <a:effectLst/>
                <a:uFillTx/>
                <a:latin typeface="Arial"/>
              </a:rPr>
              <a:t>Explain why this Agentic AI solution is better than existing solutions. </a:t>
            </a:r>
            <a:endParaRPr lang="en-US" sz="1000" b="0" u="none" strike="noStrike">
              <a:solidFill>
                <a:srgbClr val="000000"/>
              </a:solidFill>
              <a:effectLst/>
              <a:uFillTx/>
              <a:latin typeface="Arial"/>
            </a:endParaRPr>
          </a:p>
        </p:txBody>
      </p:sp>
      <p:sp>
        <p:nvSpPr>
          <p:cNvPr id="776" name="TextBox 26"/>
          <p:cNvSpPr/>
          <p:nvPr/>
        </p:nvSpPr>
        <p:spPr>
          <a:xfrm>
            <a:off x="333720" y="4335480"/>
            <a:ext cx="2431440" cy="476280"/>
          </a:xfrm>
          <a:prstGeom prst="rect">
            <a:avLst/>
          </a:prstGeom>
          <a:noFill/>
          <a:ln w="0">
            <a:noFill/>
          </a:ln>
        </p:spPr>
        <p:style>
          <a:lnRef idx="0"/>
          <a:fillRef idx="0"/>
          <a:effectRef idx="0"/>
          <a:fontRef idx="minor"/>
        </p:style>
        <p:txBody>
          <a:bodyPr lIns="0" tIns="0" rIns="0" bIns="0" anchor="t">
            <a:noAutofit/>
          </a:bodyPr>
          <a:p>
            <a:pPr defTabSz="457200">
              <a:lnSpc>
                <a:spcPts val="1318"/>
              </a:lnSpc>
            </a:pPr>
            <a:r>
              <a:rPr lang="en-US" sz="1000" b="0" i="1" u="none" strike="noStrike">
                <a:solidFill>
                  <a:srgbClr val="000000"/>
                </a:solidFill>
                <a:effectLst/>
                <a:uFillTx/>
                <a:latin typeface="Arial"/>
              </a:rPr>
              <a:t>What is the core value of AI? How does it go beyond simple prompting or automation?</a:t>
            </a:r>
            <a:endParaRPr lang="en-US" sz="1000" b="0" u="none" strike="noStrike">
              <a:solidFill>
                <a:srgbClr val="000000"/>
              </a:solidFill>
              <a:effectLst/>
              <a:uFillTx/>
              <a:latin typeface="Arial"/>
            </a:endParaRPr>
          </a:p>
        </p:txBody>
      </p:sp>
      <p:pic>
        <p:nvPicPr>
          <p:cNvPr id="777" name="Picture 27" descr="image.png"/>
          <p:cNvPicPr/>
          <p:nvPr/>
        </p:nvPicPr>
        <p:blipFill>
          <a:blip r:embed="rId2"/>
          <a:stretch/>
        </p:blipFill>
        <p:spPr>
          <a:xfrm>
            <a:off x="3531240" y="3890160"/>
            <a:ext cx="6718680" cy="123120"/>
          </a:xfrm>
          <a:prstGeom prst="rect">
            <a:avLst/>
          </a:prstGeom>
          <a:noFill/>
          <a:ln w="0">
            <a:noFill/>
          </a:ln>
        </p:spPr>
      </p:pic>
      <p:sp>
        <p:nvSpPr>
          <p:cNvPr id="778" name="TextBox 28"/>
          <p:cNvSpPr/>
          <p:nvPr/>
        </p:nvSpPr>
        <p:spPr>
          <a:xfrm>
            <a:off x="5930640" y="4145040"/>
            <a:ext cx="205092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What makes this innovative? </a:t>
            </a:r>
            <a:endParaRPr lang="en-US" sz="1200" b="0" u="none" strike="noStrike">
              <a:solidFill>
                <a:srgbClr val="000000"/>
              </a:solidFill>
              <a:effectLst/>
              <a:uFillTx/>
              <a:latin typeface="Arial"/>
            </a:endParaRPr>
          </a:p>
        </p:txBody>
      </p:sp>
      <p:sp>
        <p:nvSpPr>
          <p:cNvPr id="779" name="TextBox 29"/>
          <p:cNvSpPr/>
          <p:nvPr/>
        </p:nvSpPr>
        <p:spPr>
          <a:xfrm>
            <a:off x="6129720" y="4343760"/>
            <a:ext cx="1565280" cy="308520"/>
          </a:xfrm>
          <a:prstGeom prst="rect">
            <a:avLst/>
          </a:prstGeom>
          <a:noFill/>
          <a:ln w="0">
            <a:noFill/>
          </a:ln>
        </p:spPr>
        <p:style>
          <a:lnRef idx="0"/>
          <a:fillRef idx="0"/>
          <a:effectRef idx="0"/>
          <a:fontRef idx="minor"/>
        </p:style>
        <p:txBody>
          <a:bodyPr lIns="0" tIns="0" rIns="0" bIns="0" anchor="t">
            <a:noAutofit/>
          </a:bodyPr>
          <a:p>
            <a:pPr marL="360360" defTabSz="457200">
              <a:lnSpc>
                <a:spcPts val="1151"/>
              </a:lnSpc>
              <a:tabLst>
                <a:tab pos="0" algn="l"/>
              </a:tabLst>
            </a:pPr>
            <a:r>
              <a:rPr lang="en-US" sz="1000" b="0" i="1" u="none" strike="noStrike">
                <a:solidFill>
                  <a:srgbClr val="000000"/>
                </a:solidFill>
                <a:effectLst/>
                <a:uFillTx/>
                <a:latin typeface="Arial"/>
              </a:rPr>
              <a:t>New workflow</a:t>
            </a:r>
            <a:endParaRPr lang="en-US" sz="1000" b="0" u="none" strike="noStrike">
              <a:solidFill>
                <a:srgbClr val="000000"/>
              </a:solidFill>
              <a:effectLst/>
              <a:uFillTx/>
              <a:latin typeface="Arial"/>
            </a:endParaRPr>
          </a:p>
          <a:p>
            <a:pPr defTabSz="457200">
              <a:lnSpc>
                <a:spcPts val="1151"/>
              </a:lnSpc>
              <a:spcBef>
                <a:spcPts val="167"/>
              </a:spcBef>
              <a:tabLst>
                <a:tab pos="0" algn="l"/>
              </a:tabLst>
            </a:pPr>
            <a:r>
              <a:rPr lang="en-US" sz="1000" b="0" i="1" u="none" strike="noStrike">
                <a:solidFill>
                  <a:srgbClr val="000000"/>
                </a:solidFill>
                <a:effectLst/>
                <a:uFillTx/>
                <a:latin typeface="Arial"/>
              </a:rPr>
              <a:t>New decision-making logic</a:t>
            </a:r>
            <a:endParaRPr lang="en-US" sz="1000" b="0" u="none" strike="noStrike">
              <a:solidFill>
                <a:srgbClr val="000000"/>
              </a:solidFill>
              <a:effectLst/>
              <a:uFillTx/>
              <a:latin typeface="Arial"/>
            </a:endParaRPr>
          </a:p>
        </p:txBody>
      </p:sp>
      <p:sp>
        <p:nvSpPr>
          <p:cNvPr id="780" name="TextBox 30"/>
          <p:cNvSpPr/>
          <p:nvPr/>
        </p:nvSpPr>
        <p:spPr>
          <a:xfrm>
            <a:off x="6102360" y="4678920"/>
            <a:ext cx="1623240" cy="308880"/>
          </a:xfrm>
          <a:prstGeom prst="rect">
            <a:avLst/>
          </a:prstGeom>
          <a:noFill/>
          <a:ln w="0">
            <a:noFill/>
          </a:ln>
        </p:spPr>
        <p:style>
          <a:lnRef idx="0"/>
          <a:fillRef idx="0"/>
          <a:effectRef idx="0"/>
          <a:fontRef idx="minor"/>
        </p:style>
        <p:txBody>
          <a:bodyPr lIns="0" tIns="0" rIns="0" bIns="0" anchor="t">
            <a:noAutofit/>
          </a:bodyPr>
          <a:p>
            <a:pPr marL="98280" defTabSz="457200">
              <a:lnSpc>
                <a:spcPts val="1154"/>
              </a:lnSpc>
              <a:tabLst>
                <a:tab pos="0" algn="l"/>
              </a:tabLst>
            </a:pPr>
            <a:r>
              <a:rPr lang="en-US" sz="1000" b="0" i="1" u="none" strike="noStrike">
                <a:solidFill>
                  <a:srgbClr val="000000"/>
                </a:solidFill>
                <a:effectLst/>
                <a:uFillTx/>
                <a:latin typeface="Arial"/>
              </a:rPr>
              <a:t>New coordination model</a:t>
            </a:r>
            <a:endParaRPr lang="en-US" sz="1000" b="0" u="none" strike="noStrike">
              <a:solidFill>
                <a:srgbClr val="000000"/>
              </a:solidFill>
              <a:effectLst/>
              <a:uFillTx/>
              <a:latin typeface="Arial"/>
            </a:endParaRPr>
          </a:p>
          <a:p>
            <a:pPr defTabSz="457200">
              <a:lnSpc>
                <a:spcPts val="1151"/>
              </a:lnSpc>
              <a:spcBef>
                <a:spcPts val="167"/>
              </a:spcBef>
              <a:tabLst>
                <a:tab pos="0" algn="l"/>
              </a:tabLst>
            </a:pPr>
            <a:r>
              <a:rPr lang="en-US" sz="1000" b="0" i="1" u="none" strike="noStrike">
                <a:solidFill>
                  <a:srgbClr val="000000"/>
                </a:solidFill>
                <a:effectLst/>
                <a:uFillTx/>
                <a:latin typeface="Arial"/>
              </a:rPr>
              <a:t>New use of data/knowledge</a:t>
            </a:r>
            <a:endParaRPr lang="en-US" sz="1000" b="0" u="none" strike="noStrike">
              <a:solidFill>
                <a:srgbClr val="000000"/>
              </a:solidFill>
              <a:effectLst/>
              <a:uFillTx/>
              <a:latin typeface="Arial"/>
            </a:endParaRPr>
          </a:p>
        </p:txBody>
      </p:sp>
      <p:sp>
        <p:nvSpPr>
          <p:cNvPr id="781" name="TextBox 31"/>
          <p:cNvSpPr/>
          <p:nvPr/>
        </p:nvSpPr>
        <p:spPr>
          <a:xfrm>
            <a:off x="6240240" y="5014440"/>
            <a:ext cx="134136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New level of autonomy</a:t>
            </a:r>
            <a:endParaRPr lang="en-US" sz="1000" b="0" u="none" strike="noStrike">
              <a:solidFill>
                <a:srgbClr val="000000"/>
              </a:solidFill>
              <a:effectLst/>
              <a:uFillTx/>
              <a:latin typeface="Arial"/>
            </a:endParaRPr>
          </a:p>
        </p:txBody>
      </p:sp>
      <p:sp>
        <p:nvSpPr>
          <p:cNvPr id="782" name="TextBox 32"/>
          <p:cNvSpPr/>
          <p:nvPr/>
        </p:nvSpPr>
        <p:spPr>
          <a:xfrm>
            <a:off x="6881760" y="5182200"/>
            <a:ext cx="6696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783" name="TextBox 33"/>
          <p:cNvSpPr/>
          <p:nvPr/>
        </p:nvSpPr>
        <p:spPr>
          <a:xfrm>
            <a:off x="333720" y="1538280"/>
            <a:ext cx="4129920" cy="33984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User goal</a:t>
            </a:r>
            <a:endParaRPr lang="en-US" sz="1200" b="0" u="none" strike="noStrike">
              <a:solidFill>
                <a:srgbClr val="000000"/>
              </a:solidFill>
              <a:effectLst/>
              <a:uFillTx/>
              <a:latin typeface="Arial"/>
            </a:endParaRPr>
          </a:p>
          <a:p>
            <a:pPr defTabSz="457200">
              <a:lnSpc>
                <a:spcPts val="1151"/>
              </a:lnSpc>
              <a:spcBef>
                <a:spcPts val="232"/>
              </a:spcBef>
            </a:pPr>
            <a:r>
              <a:rPr lang="en-US" sz="1000" b="1" i="1" u="none" strike="noStrike">
                <a:solidFill>
                  <a:srgbClr val="000000"/>
                </a:solidFill>
                <a:effectLst/>
                <a:uFillTx/>
                <a:latin typeface="Arial"/>
              </a:rPr>
              <a:t>1 sentence: </a:t>
            </a:r>
            <a:r>
              <a:rPr lang="en-US" sz="1000" b="0" i="1" u="none" strike="noStrike">
                <a:solidFill>
                  <a:srgbClr val="000000"/>
                </a:solidFill>
                <a:effectLst/>
                <a:uFillTx/>
                <a:latin typeface="Arial"/>
              </a:rPr>
              <a:t>What is the user trying to achieve? Keep it short and clear.</a:t>
            </a:r>
            <a:endParaRPr lang="en-US" sz="1000" b="0" u="none" strike="noStrike">
              <a:solidFill>
                <a:srgbClr val="000000"/>
              </a:solidFill>
              <a:effectLst/>
              <a:uFillTx/>
              <a:latin typeface="Arial"/>
            </a:endParaRPr>
          </a:p>
        </p:txBody>
      </p:sp>
      <p:sp>
        <p:nvSpPr>
          <p:cNvPr id="784" name="Rectangle 34"/>
          <p:cNvSpPr/>
          <p:nvPr/>
        </p:nvSpPr>
        <p:spPr>
          <a:xfrm>
            <a:off x="5849640" y="288000"/>
            <a:ext cx="17449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85" name="TextBox 35"/>
          <p:cNvSpPr/>
          <p:nvPr/>
        </p:nvSpPr>
        <p:spPr>
          <a:xfrm>
            <a:off x="5895360" y="342000"/>
            <a:ext cx="1254600" cy="44604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Key tools:</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Big Idea Vignettes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To-Be-Scenario</a:t>
            </a:r>
            <a:endParaRPr lang="en-US" sz="1000" b="0" u="none" strike="noStrike">
              <a:solidFill>
                <a:srgbClr val="000000"/>
              </a:solidFill>
              <a:effectLst/>
              <a:uFillTx/>
              <a:latin typeface="Arial"/>
            </a:endParaRPr>
          </a:p>
        </p:txBody>
      </p:sp>
      <p:sp>
        <p:nvSpPr>
          <p:cNvPr id="786" name="Rectangle 36"/>
          <p:cNvSpPr/>
          <p:nvPr/>
        </p:nvSpPr>
        <p:spPr>
          <a:xfrm>
            <a:off x="7595280" y="288000"/>
            <a:ext cx="386928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787" name="TextBox 37"/>
          <p:cNvSpPr/>
          <p:nvPr/>
        </p:nvSpPr>
        <p:spPr>
          <a:xfrm>
            <a:off x="7641360" y="342000"/>
            <a:ext cx="431280" cy="1414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88" name="Picture 1" descr="image.png"/>
          <p:cNvPicPr/>
          <p:nvPr/>
        </p:nvPicPr>
        <p:blipFill>
          <a:blip r:embed="rId1"/>
          <a:stretch/>
        </p:blipFill>
        <p:spPr>
          <a:xfrm>
            <a:off x="44280" y="70200"/>
            <a:ext cx="1044360" cy="852840"/>
          </a:xfrm>
          <a:prstGeom prst="rect">
            <a:avLst/>
          </a:prstGeom>
          <a:noFill/>
          <a:ln w="0">
            <a:noFill/>
          </a:ln>
        </p:spPr>
      </p:pic>
      <p:sp>
        <p:nvSpPr>
          <p:cNvPr id="789" name="TextBox 2"/>
          <p:cNvSpPr/>
          <p:nvPr/>
        </p:nvSpPr>
        <p:spPr>
          <a:xfrm>
            <a:off x="845640" y="219600"/>
            <a:ext cx="3855600" cy="452160"/>
          </a:xfrm>
          <a:prstGeom prst="rect">
            <a:avLst/>
          </a:prstGeom>
          <a:noFill/>
          <a:ln w="0">
            <a:noFill/>
          </a:ln>
        </p:spPr>
        <p:style>
          <a:lnRef idx="0"/>
          <a:fillRef idx="0"/>
          <a:effectRef idx="0"/>
          <a:fontRef idx="minor"/>
        </p:style>
        <p:txBody>
          <a:bodyPr lIns="0" tIns="0" rIns="0" bIns="0" anchor="t">
            <a:noAutofit/>
          </a:bodyPr>
          <a:p>
            <a:pPr defTabSz="457200">
              <a:lnSpc>
                <a:spcPts val="3679"/>
              </a:lnSpc>
            </a:pPr>
            <a:r>
              <a:rPr lang="en-US" sz="3200" b="0" u="none" strike="noStrike">
                <a:solidFill>
                  <a:srgbClr val="000000"/>
                </a:solidFill>
                <a:effectLst/>
                <a:uFillTx/>
                <a:latin typeface="Arial"/>
              </a:rPr>
              <a:t> Checkpoint: Week 3</a:t>
            </a:r>
            <a:endParaRPr lang="en-US" sz="3200" b="0" u="none" strike="noStrike">
              <a:solidFill>
                <a:srgbClr val="000000"/>
              </a:solidFill>
              <a:effectLst/>
              <a:uFillTx/>
              <a:latin typeface="Arial"/>
            </a:endParaRPr>
          </a:p>
        </p:txBody>
      </p:sp>
      <p:sp>
        <p:nvSpPr>
          <p:cNvPr id="790" name="TextBox 3"/>
          <p:cNvSpPr/>
          <p:nvPr/>
        </p:nvSpPr>
        <p:spPr>
          <a:xfrm>
            <a:off x="288000" y="990360"/>
            <a:ext cx="5506200" cy="308880"/>
          </a:xfrm>
          <a:prstGeom prst="rect">
            <a:avLst/>
          </a:prstGeom>
          <a:noFill/>
          <a:ln w="0">
            <a:noFill/>
          </a:ln>
        </p:spPr>
        <p:style>
          <a:lnRef idx="0"/>
          <a:fillRef idx="0"/>
          <a:effectRef idx="0"/>
          <a:fontRef idx="minor"/>
        </p:style>
        <p:txBody>
          <a:bodyPr lIns="0" tIns="0" rIns="0" bIns="0" anchor="t">
            <a:noAutofit/>
          </a:bodyPr>
          <a:p>
            <a:pPr defTabSz="457200">
              <a:lnSpc>
                <a:spcPts val="1318"/>
              </a:lnSpc>
            </a:pPr>
            <a:r>
              <a:rPr lang="en-US" sz="1000" b="1" u="none" strike="noStrike">
                <a:solidFill>
                  <a:srgbClr val="000000"/>
                </a:solidFill>
                <a:effectLst/>
                <a:uFillTx/>
                <a:latin typeface="Arial"/>
              </a:rPr>
              <a:t>At this stage, you should have a clear picture of what your solution will look like – this is your first solution design.</a:t>
            </a:r>
            <a:endParaRPr lang="en-US" sz="1000" b="0" u="none" strike="noStrike">
              <a:solidFill>
                <a:srgbClr val="000000"/>
              </a:solidFill>
              <a:effectLst/>
              <a:uFillTx/>
              <a:latin typeface="Arial"/>
            </a:endParaRPr>
          </a:p>
        </p:txBody>
      </p:sp>
      <p:sp>
        <p:nvSpPr>
          <p:cNvPr id="791" name="TextBox 4"/>
          <p:cNvSpPr/>
          <p:nvPr/>
        </p:nvSpPr>
        <p:spPr>
          <a:xfrm>
            <a:off x="288000" y="1494000"/>
            <a:ext cx="4716360" cy="307440"/>
          </a:xfrm>
          <a:prstGeom prst="rect">
            <a:avLst/>
          </a:prstGeom>
          <a:noFill/>
          <a:ln w="0">
            <a:noFill/>
          </a:ln>
        </p:spPr>
        <p:style>
          <a:lnRef idx="0"/>
          <a:fillRef idx="0"/>
          <a:effectRef idx="0"/>
          <a:fontRef idx="minor"/>
        </p:style>
        <p:txBody>
          <a:bodyPr lIns="0" tIns="0" rIns="0" bIns="0" anchor="t">
            <a:noAutofit/>
          </a:bodyPr>
          <a:p>
            <a:pPr marL="228600" indent="-228600" defTabSz="457200">
              <a:lnSpc>
                <a:spcPts val="115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Is the concept clear?</a:t>
            </a:r>
            <a:endParaRPr lang="en-US" sz="1000" b="0" u="none" strike="noStrike">
              <a:solidFill>
                <a:srgbClr val="000000"/>
              </a:solidFill>
              <a:effectLst/>
              <a:uFillTx/>
              <a:latin typeface="Arial"/>
            </a:endParaRPr>
          </a:p>
          <a:p>
            <a:pPr marL="228600" indent="-22860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Is this solution different/innovative compared to what is already in the market?</a:t>
            </a:r>
            <a:endParaRPr lang="en-US" sz="1000" b="0" u="none" strike="noStrike">
              <a:solidFill>
                <a:srgbClr val="000000"/>
              </a:solidFill>
              <a:effectLst/>
              <a:uFillTx/>
              <a:latin typeface="Arial"/>
            </a:endParaRPr>
          </a:p>
        </p:txBody>
      </p:sp>
      <p:sp>
        <p:nvSpPr>
          <p:cNvPr id="792" name="TextBox 5"/>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39</a:t>
            </a:r>
            <a:endParaRPr lang="en-US" sz="800" b="0" u="none" strike="noStrike">
              <a:solidFill>
                <a:srgbClr val="000000"/>
              </a:solidFill>
              <a:effectLst/>
              <a:uFillTx/>
              <a:latin typeface="Arial"/>
            </a:endParaRPr>
          </a:p>
        </p:txBody>
      </p:sp>
      <p:sp>
        <p:nvSpPr>
          <p:cNvPr id="793" name="TextBox 6"/>
          <p:cNvSpPr/>
          <p:nvPr/>
        </p:nvSpPr>
        <p:spPr>
          <a:xfrm>
            <a:off x="288000" y="2854440"/>
            <a:ext cx="2412000" cy="16920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1" u="none" strike="noStrike">
                <a:solidFill>
                  <a:srgbClr val="000000"/>
                </a:solidFill>
                <a:effectLst/>
                <a:uFillTx/>
                <a:latin typeface="Arial"/>
              </a:rPr>
              <a:t>Open Questions &amp; Assumptions</a:t>
            </a:r>
            <a:endParaRPr lang="en-US" sz="1200" b="0" u="none" strike="noStrike">
              <a:solidFill>
                <a:srgbClr val="000000"/>
              </a:solidFill>
              <a:effectLst/>
              <a:uFillTx/>
              <a:latin typeface="Arial"/>
            </a:endParaRPr>
          </a:p>
        </p:txBody>
      </p:sp>
      <p:sp>
        <p:nvSpPr>
          <p:cNvPr id="794" name="TextBox 7"/>
          <p:cNvSpPr/>
          <p:nvPr/>
        </p:nvSpPr>
        <p:spPr>
          <a:xfrm>
            <a:off x="288000" y="3256920"/>
            <a:ext cx="2535840" cy="33948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What we don’t know yet</a:t>
            </a:r>
            <a:endParaRPr lang="en-US" sz="1200" b="0" u="none" strike="noStrike">
              <a:solidFill>
                <a:srgbClr val="000000"/>
              </a:solidFill>
              <a:effectLst/>
              <a:uFillTx/>
              <a:latin typeface="Arial"/>
            </a:endParaRPr>
          </a:p>
          <a:p>
            <a:pPr defTabSz="457200">
              <a:lnSpc>
                <a:spcPts val="1151"/>
              </a:lnSpc>
              <a:spcBef>
                <a:spcPts val="232"/>
              </a:spcBef>
            </a:pPr>
            <a:r>
              <a:rPr lang="en-US" sz="1000" b="0" i="1" u="none" strike="noStrike">
                <a:solidFill>
                  <a:srgbClr val="000000"/>
                </a:solidFill>
                <a:effectLst/>
                <a:uFillTx/>
                <a:latin typeface="Arial"/>
              </a:rPr>
              <a:t>List gaps in knowledge that need validation.</a:t>
            </a:r>
            <a:endParaRPr lang="en-US" sz="1000" b="0" u="none" strike="noStrike">
              <a:solidFill>
                <a:srgbClr val="000000"/>
              </a:solidFill>
              <a:effectLst/>
              <a:uFillTx/>
              <a:latin typeface="Arial"/>
            </a:endParaRPr>
          </a:p>
        </p:txBody>
      </p:sp>
      <p:sp>
        <p:nvSpPr>
          <p:cNvPr id="795" name="TextBox 8"/>
          <p:cNvSpPr/>
          <p:nvPr/>
        </p:nvSpPr>
        <p:spPr>
          <a:xfrm>
            <a:off x="288000" y="3791160"/>
            <a:ext cx="139320" cy="4762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defTabSz="457200">
              <a:lnSpc>
                <a:spcPts val="1154"/>
              </a:lnSpc>
              <a:spcBef>
                <a:spcPts val="167"/>
              </a:spcBef>
            </a:pPr>
            <a:r>
              <a:rPr lang="en-US" sz="1000" b="0" i="1" u="none" strike="noStrike">
                <a:solidFill>
                  <a:srgbClr val="000000"/>
                </a:solidFill>
                <a:effectLst/>
                <a:uFillTx/>
                <a:latin typeface="Arial"/>
              </a:rPr>
              <a:t>3.</a:t>
            </a:r>
            <a:endParaRPr lang="en-US" sz="1000" b="0" u="none" strike="noStrike">
              <a:solidFill>
                <a:srgbClr val="000000"/>
              </a:solidFill>
              <a:effectLst/>
              <a:uFillTx/>
              <a:latin typeface="Arial"/>
            </a:endParaRPr>
          </a:p>
        </p:txBody>
      </p:sp>
      <p:sp>
        <p:nvSpPr>
          <p:cNvPr id="796" name="TextBox 9"/>
          <p:cNvSpPr/>
          <p:nvPr/>
        </p:nvSpPr>
        <p:spPr>
          <a:xfrm>
            <a:off x="3926160" y="3254760"/>
            <a:ext cx="3074400" cy="47412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Assumptions we are making</a:t>
            </a:r>
            <a:endParaRPr lang="en-US" sz="1200" b="0" u="none" strike="noStrike">
              <a:solidFill>
                <a:srgbClr val="000000"/>
              </a:solidFill>
              <a:effectLst/>
              <a:uFillTx/>
              <a:latin typeface="Arial"/>
            </a:endParaRPr>
          </a:p>
          <a:p>
            <a:pPr defTabSz="457200">
              <a:lnSpc>
                <a:spcPts val="1199"/>
              </a:lnSpc>
              <a:spcBef>
                <a:spcPts val="43"/>
              </a:spcBef>
            </a:pPr>
            <a:r>
              <a:rPr lang="en-US" sz="1000" b="0" i="1" u="none" strike="noStrike">
                <a:solidFill>
                  <a:srgbClr val="000000"/>
                </a:solidFill>
                <a:effectLst/>
                <a:uFillTx/>
                <a:latin typeface="Arial"/>
              </a:rPr>
              <a:t>Document any assumptions about users, processes, or technology.</a:t>
            </a:r>
            <a:endParaRPr lang="en-US" sz="1000" b="0" u="none" strike="noStrike">
              <a:solidFill>
                <a:srgbClr val="000000"/>
              </a:solidFill>
              <a:effectLst/>
              <a:uFillTx/>
              <a:latin typeface="Arial"/>
            </a:endParaRPr>
          </a:p>
        </p:txBody>
      </p:sp>
      <p:sp>
        <p:nvSpPr>
          <p:cNvPr id="797" name="TextBox 10"/>
          <p:cNvSpPr/>
          <p:nvPr/>
        </p:nvSpPr>
        <p:spPr>
          <a:xfrm>
            <a:off x="7650360" y="3254760"/>
            <a:ext cx="2935800" cy="47412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Validation research</a:t>
            </a:r>
            <a:endParaRPr lang="en-US" sz="1200" b="0" u="none" strike="noStrike">
              <a:solidFill>
                <a:srgbClr val="000000"/>
              </a:solidFill>
              <a:effectLst/>
              <a:uFillTx/>
              <a:latin typeface="Arial"/>
            </a:endParaRPr>
          </a:p>
          <a:p>
            <a:pPr defTabSz="457200">
              <a:lnSpc>
                <a:spcPts val="1199"/>
              </a:lnSpc>
              <a:spcBef>
                <a:spcPts val="43"/>
              </a:spcBef>
            </a:pPr>
            <a:r>
              <a:rPr lang="en-US" sz="1000" b="0" i="1" u="none" strike="noStrike">
                <a:solidFill>
                  <a:srgbClr val="000000"/>
                </a:solidFill>
                <a:effectLst/>
                <a:uFillTx/>
                <a:latin typeface="Arial"/>
              </a:rPr>
              <a:t>List what research is needed to gather information and/or validate assumptions</a:t>
            </a:r>
            <a:endParaRPr lang="en-US" sz="1000" b="0" u="none" strike="noStrike">
              <a:solidFill>
                <a:srgbClr val="000000"/>
              </a:solidFill>
              <a:effectLst/>
              <a:uFillTx/>
              <a:latin typeface="Arial"/>
            </a:endParaRPr>
          </a:p>
        </p:txBody>
      </p:sp>
      <p:sp>
        <p:nvSpPr>
          <p:cNvPr id="798" name="TextBox 11"/>
          <p:cNvSpPr/>
          <p:nvPr/>
        </p:nvSpPr>
        <p:spPr>
          <a:xfrm>
            <a:off x="7650360" y="3892320"/>
            <a:ext cx="335520" cy="59796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3.</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a:t>
            </a:r>
            <a:endParaRPr lang="en-US" sz="1000" b="0" u="none" strike="noStrike">
              <a:solidFill>
                <a:srgbClr val="000000"/>
              </a:solidFill>
              <a:effectLst/>
              <a:uFillTx/>
              <a:latin typeface="Arial"/>
            </a:endParaRPr>
          </a:p>
        </p:txBody>
      </p:sp>
      <p:cxnSp>
        <p:nvCxnSpPr>
          <p:cNvPr id="799" name="Connector 12"/>
          <p:cNvCxnSpPr/>
          <p:nvPr/>
        </p:nvCxnSpPr>
        <p:spPr>
          <a:xfrm>
            <a:off x="3656880" y="3276360"/>
            <a:ext cx="720" cy="3040920"/>
          </a:xfrm>
          <a:prstGeom prst="straightConnector1">
            <a:avLst/>
          </a:prstGeom>
          <a:ln w="6349">
            <a:solidFill>
              <a:srgbClr val="000000"/>
            </a:solidFill>
            <a:round/>
          </a:ln>
        </p:spPr>
      </p:cxnSp>
      <p:cxnSp>
        <p:nvCxnSpPr>
          <p:cNvPr id="800" name="Connector 13"/>
          <p:cNvCxnSpPr/>
          <p:nvPr/>
        </p:nvCxnSpPr>
        <p:spPr>
          <a:xfrm>
            <a:off x="7381080" y="3276360"/>
            <a:ext cx="720" cy="3040920"/>
          </a:xfrm>
          <a:prstGeom prst="straightConnector1">
            <a:avLst/>
          </a:prstGeom>
          <a:ln w="6349">
            <a:solidFill>
              <a:srgbClr val="000000"/>
            </a:solidFill>
            <a:round/>
          </a:ln>
        </p:spPr>
      </p:cxnSp>
      <p:sp>
        <p:nvSpPr>
          <p:cNvPr id="801" name="Rectangle 14"/>
          <p:cNvSpPr/>
          <p:nvPr/>
        </p:nvSpPr>
        <p:spPr>
          <a:xfrm>
            <a:off x="5968080" y="280800"/>
            <a:ext cx="5935320" cy="192600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02" name="TextBox 15"/>
          <p:cNvSpPr/>
          <p:nvPr/>
        </p:nvSpPr>
        <p:spPr>
          <a:xfrm>
            <a:off x="6014520" y="334800"/>
            <a:ext cx="136620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Key tools: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Ideation</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Concept prototyping</a:t>
            </a:r>
            <a:endParaRPr lang="en-US" sz="1000" b="0" u="none" strike="noStrike">
              <a:solidFill>
                <a:srgbClr val="000000"/>
              </a:solidFill>
              <a:effectLst/>
              <a:uFillTx/>
              <a:latin typeface="Arial"/>
            </a:endParaRPr>
          </a:p>
        </p:txBody>
      </p:sp>
      <p:sp>
        <p:nvSpPr>
          <p:cNvPr id="803" name="TextBox 16"/>
          <p:cNvSpPr/>
          <p:nvPr/>
        </p:nvSpPr>
        <p:spPr>
          <a:xfrm>
            <a:off x="6014520" y="944640"/>
            <a:ext cx="5595840" cy="29340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Early testing &amp; validation …. Start getting use and expert feedback by showing your solution concept.</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Rectangle 1"/>
          <p:cNvSpPr/>
          <p:nvPr/>
        </p:nvSpPr>
        <p:spPr>
          <a:xfrm>
            <a:off x="0" y="0"/>
            <a:ext cx="12191400" cy="5999400"/>
          </a:xfrm>
          <a:prstGeom prst="rect">
            <a:avLst/>
          </a:prstGeom>
          <a:solidFill>
            <a:srgbClr val="E5F6FF"/>
          </a:solidFill>
          <a:ln w="9523">
            <a:solidFill>
              <a:srgbClr val="E5F6FF"/>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pic>
        <p:nvPicPr>
          <p:cNvPr id="805" name="Picture 2" descr="image.png"/>
          <p:cNvPicPr/>
          <p:nvPr/>
        </p:nvPicPr>
        <p:blipFill>
          <a:blip r:embed="rId1"/>
          <a:stretch/>
        </p:blipFill>
        <p:spPr>
          <a:xfrm>
            <a:off x="11125800" y="6246720"/>
            <a:ext cx="847440" cy="332280"/>
          </a:xfrm>
          <a:prstGeom prst="rect">
            <a:avLst/>
          </a:prstGeom>
          <a:noFill/>
          <a:ln w="0">
            <a:noFill/>
          </a:ln>
        </p:spPr>
      </p:pic>
      <p:sp>
        <p:nvSpPr>
          <p:cNvPr id="806" name="TextBox 3"/>
          <p:cNvSpPr/>
          <p:nvPr/>
        </p:nvSpPr>
        <p:spPr>
          <a:xfrm>
            <a:off x="288000" y="228960"/>
            <a:ext cx="5261400" cy="1616400"/>
          </a:xfrm>
          <a:prstGeom prst="rect">
            <a:avLst/>
          </a:prstGeom>
          <a:noFill/>
          <a:ln w="0">
            <a:noFill/>
          </a:ln>
        </p:spPr>
        <p:style>
          <a:lnRef idx="0"/>
          <a:fillRef idx="0"/>
          <a:effectRef idx="0"/>
          <a:fontRef idx="minor"/>
        </p:style>
        <p:txBody>
          <a:bodyPr lIns="0" tIns="0" rIns="0" bIns="0" anchor="t">
            <a:noAutofit/>
          </a:bodyPr>
          <a:p>
            <a:pPr defTabSz="457200">
              <a:lnSpc>
                <a:spcPts val="4946"/>
              </a:lnSpc>
            </a:pPr>
            <a:r>
              <a:rPr lang="en-US" sz="4300" b="0" u="none" strike="noStrike">
                <a:solidFill>
                  <a:srgbClr val="000000"/>
                </a:solidFill>
                <a:effectLst/>
                <a:uFillTx/>
                <a:latin typeface="Arial"/>
              </a:rPr>
              <a:t>Solution Blueprint</a:t>
            </a:r>
            <a:endParaRPr lang="en-US" sz="4300" b="0" u="none" strike="noStrike">
              <a:solidFill>
                <a:srgbClr val="000000"/>
              </a:solidFill>
              <a:effectLst/>
              <a:uFillTx/>
              <a:latin typeface="Arial"/>
            </a:endParaRPr>
          </a:p>
          <a:p>
            <a:pPr defTabSz="457200">
              <a:lnSpc>
                <a:spcPts val="3960"/>
              </a:lnSpc>
              <a:spcBef>
                <a:spcPts val="227"/>
              </a:spcBef>
            </a:pPr>
            <a:r>
              <a:rPr lang="en-US" sz="3300" b="0" i="1" u="none" strike="noStrike">
                <a:solidFill>
                  <a:srgbClr val="000000"/>
                </a:solidFill>
                <a:effectLst/>
                <a:uFillTx/>
                <a:latin typeface="Arial"/>
              </a:rPr>
              <a:t>From idea to reality – building strong AI solutions</a:t>
            </a:r>
            <a:r>
              <a:rPr lang="en-US" sz="3300" b="0" u="none" strike="noStrike">
                <a:solidFill>
                  <a:srgbClr val="000000"/>
                </a:solidFill>
                <a:effectLst/>
                <a:uFillTx/>
                <a:latin typeface="Arial"/>
              </a:rPr>
              <a:t> </a:t>
            </a:r>
            <a:endParaRPr lang="en-US" sz="3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TextBox 1"/>
          <p:cNvSpPr/>
          <p:nvPr/>
        </p:nvSpPr>
        <p:spPr>
          <a:xfrm>
            <a:off x="275400" y="303120"/>
            <a:ext cx="4754520" cy="90144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AI Agent Architecture</a:t>
            </a:r>
            <a:endParaRPr lang="en-US" sz="1400" b="0" u="none" strike="noStrike">
              <a:solidFill>
                <a:srgbClr val="000000"/>
              </a:solidFill>
              <a:effectLst/>
              <a:uFillTx/>
              <a:latin typeface="Arial"/>
            </a:endParaRPr>
          </a:p>
          <a:p>
            <a:pPr defTabSz="457200">
              <a:lnSpc>
                <a:spcPts val="1848"/>
              </a:lnSpc>
            </a:pPr>
            <a:r>
              <a:rPr lang="en-US" sz="1400" b="1" u="none" strike="noStrike">
                <a:solidFill>
                  <a:srgbClr val="000000"/>
                </a:solidFill>
                <a:effectLst/>
                <a:uFillTx/>
                <a:latin typeface="Arial"/>
              </a:rPr>
              <a:t>Purpose:</a:t>
            </a:r>
            <a:r>
              <a:rPr lang="en-US" sz="1400" b="0" u="none" strike="noStrike">
                <a:solidFill>
                  <a:srgbClr val="000000"/>
                </a:solidFill>
                <a:effectLst/>
                <a:uFillTx/>
                <a:latin typeface="Arial"/>
              </a:rPr>
              <a:t> Show the </a:t>
            </a:r>
            <a:r>
              <a:rPr lang="en-US" sz="1400" b="0" i="1" u="none" strike="noStrike">
                <a:solidFill>
                  <a:srgbClr val="000000"/>
                </a:solidFill>
                <a:effectLst/>
                <a:uFillTx/>
                <a:latin typeface="Arial"/>
              </a:rPr>
              <a:t>structural design</a:t>
            </a:r>
            <a:r>
              <a:rPr lang="en-US" sz="1400" b="0" u="none" strike="noStrike">
                <a:solidFill>
                  <a:srgbClr val="000000"/>
                </a:solidFill>
                <a:effectLst/>
                <a:uFillTx/>
                <a:latin typeface="Arial"/>
              </a:rPr>
              <a:t> of your agent – what major components it consists of and how they connect.</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When:</a:t>
            </a:r>
            <a:r>
              <a:rPr lang="en-US" sz="1400" b="0" u="none" strike="noStrike">
                <a:solidFill>
                  <a:srgbClr val="000000"/>
                </a:solidFill>
                <a:effectLst/>
                <a:uFillTx/>
                <a:latin typeface="Arial"/>
              </a:rPr>
              <a:t> By week 4-5</a:t>
            </a:r>
            <a:endParaRPr lang="en-US" sz="1400" b="0" u="none" strike="noStrike">
              <a:solidFill>
                <a:srgbClr val="000000"/>
              </a:solidFill>
              <a:effectLst/>
              <a:uFillTx/>
              <a:latin typeface="Arial"/>
            </a:endParaRPr>
          </a:p>
        </p:txBody>
      </p:sp>
      <p:sp>
        <p:nvSpPr>
          <p:cNvPr id="808" name="TextBox 2"/>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41</a:t>
            </a:r>
            <a:endParaRPr lang="en-US" sz="800" b="0" u="none" strike="noStrike">
              <a:solidFill>
                <a:srgbClr val="000000"/>
              </a:solidFill>
              <a:effectLst/>
              <a:uFillTx/>
              <a:latin typeface="Arial"/>
            </a:endParaRPr>
          </a:p>
        </p:txBody>
      </p:sp>
      <p:sp>
        <p:nvSpPr>
          <p:cNvPr id="809" name="Rectangle 3"/>
          <p:cNvSpPr/>
          <p:nvPr/>
        </p:nvSpPr>
        <p:spPr>
          <a:xfrm>
            <a:off x="5849640" y="288000"/>
            <a:ext cx="1744920" cy="1149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10" name="TextBox 4"/>
          <p:cNvSpPr/>
          <p:nvPr/>
        </p:nvSpPr>
        <p:spPr>
          <a:xfrm>
            <a:off x="5895360" y="342000"/>
            <a:ext cx="1149480" cy="29376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Key tools:</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IBM Orchestrate</a:t>
            </a:r>
            <a:endParaRPr lang="en-US" sz="1000" b="0" u="none" strike="noStrike">
              <a:solidFill>
                <a:srgbClr val="000000"/>
              </a:solidFill>
              <a:effectLst/>
              <a:uFillTx/>
              <a:latin typeface="Arial"/>
            </a:endParaRPr>
          </a:p>
        </p:txBody>
      </p:sp>
      <p:sp>
        <p:nvSpPr>
          <p:cNvPr id="811" name="Rectangle 5"/>
          <p:cNvSpPr/>
          <p:nvPr/>
        </p:nvSpPr>
        <p:spPr>
          <a:xfrm>
            <a:off x="7595280" y="288000"/>
            <a:ext cx="3869280" cy="1149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12" name="TextBox 6"/>
          <p:cNvSpPr/>
          <p:nvPr/>
        </p:nvSpPr>
        <p:spPr>
          <a:xfrm>
            <a:off x="7641360" y="342000"/>
            <a:ext cx="3709440" cy="29376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Architecture determines what your agent can do and how it does it.</a:t>
            </a:r>
            <a:endParaRPr lang="en-US" sz="1000" b="0" u="none" strike="noStrike">
              <a:solidFill>
                <a:srgbClr val="000000"/>
              </a:solidFill>
              <a:effectLst/>
              <a:uFillTx/>
              <a:latin typeface="Arial"/>
            </a:endParaRPr>
          </a:p>
        </p:txBody>
      </p:sp>
      <p:pic>
        <p:nvPicPr>
          <p:cNvPr id="813" name="Picture 7" descr="image.png"/>
          <p:cNvPicPr/>
          <p:nvPr/>
        </p:nvPicPr>
        <p:blipFill>
          <a:blip r:embed="rId1"/>
          <a:stretch/>
        </p:blipFill>
        <p:spPr>
          <a:xfrm>
            <a:off x="7564320" y="752040"/>
            <a:ext cx="254160" cy="570960"/>
          </a:xfrm>
          <a:prstGeom prst="rect">
            <a:avLst/>
          </a:prstGeom>
          <a:noFill/>
          <a:ln w="0">
            <a:noFill/>
          </a:ln>
        </p:spPr>
      </p:pic>
      <p:sp>
        <p:nvSpPr>
          <p:cNvPr id="814" name="TextBox 8"/>
          <p:cNvSpPr/>
          <p:nvPr/>
        </p:nvSpPr>
        <p:spPr>
          <a:xfrm>
            <a:off x="7743240" y="799200"/>
            <a:ext cx="301644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 Use clear diagrams (e.g., flowcharts for workflow).</a:t>
            </a:r>
            <a:endParaRPr lang="en-US" sz="1000" b="0" u="none" strike="noStrike">
              <a:solidFill>
                <a:srgbClr val="000000"/>
              </a:solidFill>
              <a:effectLst/>
              <a:uFillTx/>
              <a:latin typeface="Arial"/>
            </a:endParaRPr>
          </a:p>
          <a:p>
            <a:pPr defTabSz="457200">
              <a:lnSpc>
                <a:spcPts val="1151"/>
              </a:lnSpc>
              <a:spcBef>
                <a:spcPts val="48"/>
              </a:spcBef>
            </a:pPr>
            <a:r>
              <a:rPr lang="en-US" sz="1000" b="0" u="none" strike="noStrike">
                <a:solidFill>
                  <a:srgbClr val="000000"/>
                </a:solidFill>
                <a:effectLst/>
                <a:uFillTx/>
                <a:latin typeface="Arial"/>
              </a:rPr>
              <a:t> Keep text concise and diagrams labelled.</a:t>
            </a:r>
            <a:endParaRPr lang="en-US" sz="1000" b="0" u="none" strike="noStrike">
              <a:solidFill>
                <a:srgbClr val="000000"/>
              </a:solidFill>
              <a:effectLst/>
              <a:uFillTx/>
              <a:latin typeface="Arial"/>
            </a:endParaRPr>
          </a:p>
          <a:p>
            <a:pPr defTabSz="457200">
              <a:lnSpc>
                <a:spcPts val="1151"/>
              </a:lnSpc>
              <a:spcBef>
                <a:spcPts val="48"/>
              </a:spcBef>
            </a:pPr>
            <a:r>
              <a:rPr lang="en-US" sz="1000" b="0" u="none" strike="noStrike">
                <a:solidFill>
                  <a:srgbClr val="000000"/>
                </a:solidFill>
                <a:effectLst/>
                <a:uFillTx/>
                <a:latin typeface="Arial"/>
              </a:rPr>
              <a:t> Be ready to explain each component and transition.</a:t>
            </a:r>
            <a:endParaRPr lang="en-US" sz="1000" b="0" u="none" strike="noStrike">
              <a:solidFill>
                <a:srgbClr val="000000"/>
              </a:solidFill>
              <a:effectLst/>
              <a:uFillTx/>
              <a:latin typeface="Arial"/>
            </a:endParaRPr>
          </a:p>
        </p:txBody>
      </p:sp>
      <p:sp>
        <p:nvSpPr>
          <p:cNvPr id="815" name="TextBox 9"/>
          <p:cNvSpPr/>
          <p:nvPr/>
        </p:nvSpPr>
        <p:spPr>
          <a:xfrm>
            <a:off x="333720" y="1746000"/>
            <a:ext cx="2796840" cy="47376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Agent Overview</a:t>
            </a:r>
            <a:endParaRPr lang="en-US" sz="1200" b="0" u="none" strike="noStrike">
              <a:solidFill>
                <a:srgbClr val="000000"/>
              </a:solidFill>
              <a:effectLst/>
              <a:uFillTx/>
              <a:latin typeface="Arial"/>
            </a:endParaRPr>
          </a:p>
          <a:p>
            <a:pPr defTabSz="457200">
              <a:lnSpc>
                <a:spcPts val="1199"/>
              </a:lnSpc>
              <a:spcBef>
                <a:spcPts val="40"/>
              </a:spcBef>
            </a:pPr>
            <a:r>
              <a:rPr lang="en-US" sz="1000" b="0" i="1" u="none" strike="noStrike">
                <a:solidFill>
                  <a:srgbClr val="000000"/>
                </a:solidFill>
                <a:effectLst/>
                <a:uFillTx/>
                <a:latin typeface="Arial"/>
              </a:rPr>
              <a:t>One-sentence summary of your agent’s purpose Is this a single or multiple agents' solution?</a:t>
            </a:r>
            <a:endParaRPr lang="en-US" sz="1000" b="0" u="none" strike="noStrike">
              <a:solidFill>
                <a:srgbClr val="000000"/>
              </a:solidFill>
              <a:effectLst/>
              <a:uFillTx/>
              <a:latin typeface="Arial"/>
            </a:endParaRPr>
          </a:p>
        </p:txBody>
      </p:sp>
      <p:sp>
        <p:nvSpPr>
          <p:cNvPr id="816" name="TextBox 10"/>
          <p:cNvSpPr/>
          <p:nvPr/>
        </p:nvSpPr>
        <p:spPr>
          <a:xfrm>
            <a:off x="333720" y="2390040"/>
            <a:ext cx="2102400" cy="1854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Agent roles (single or multiple):</a:t>
            </a:r>
            <a:endParaRPr lang="en-US" sz="1200" b="0" u="none" strike="noStrike">
              <a:solidFill>
                <a:srgbClr val="000000"/>
              </a:solidFill>
              <a:effectLst/>
              <a:uFillTx/>
              <a:latin typeface="Arial"/>
            </a:endParaRPr>
          </a:p>
        </p:txBody>
      </p:sp>
      <p:sp>
        <p:nvSpPr>
          <p:cNvPr id="817" name="TextBox 11"/>
          <p:cNvSpPr/>
          <p:nvPr/>
        </p:nvSpPr>
        <p:spPr>
          <a:xfrm>
            <a:off x="333720" y="2645280"/>
            <a:ext cx="3671280" cy="29340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0" i="1" u="none" strike="noStrike">
                <a:solidFill>
                  <a:srgbClr val="000000"/>
                </a:solidFill>
                <a:effectLst/>
                <a:uFillTx/>
                <a:latin typeface="Arial"/>
              </a:rPr>
              <a:t>If your solution includes multiple agents, explain how they work together to generate the final output</a:t>
            </a:r>
            <a:endParaRPr lang="en-US" sz="1000" b="0" u="none" strike="noStrike">
              <a:solidFill>
                <a:srgbClr val="000000"/>
              </a:solidFill>
              <a:effectLst/>
              <a:uFillTx/>
              <a:latin typeface="Arial"/>
            </a:endParaRPr>
          </a:p>
        </p:txBody>
      </p:sp>
      <p:sp>
        <p:nvSpPr>
          <p:cNvPr id="818" name="Rectangle 12"/>
          <p:cNvSpPr/>
          <p:nvPr/>
        </p:nvSpPr>
        <p:spPr>
          <a:xfrm>
            <a:off x="4158720" y="1712160"/>
            <a:ext cx="7744320" cy="467568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19" name="TextBox 13"/>
          <p:cNvSpPr/>
          <p:nvPr/>
        </p:nvSpPr>
        <p:spPr>
          <a:xfrm>
            <a:off x="4204800" y="1768680"/>
            <a:ext cx="14900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Architecture Diagram</a:t>
            </a:r>
            <a:endParaRPr lang="en-US" sz="1200" b="0" u="none" strike="noStrike">
              <a:solidFill>
                <a:srgbClr val="000000"/>
              </a:solidFill>
              <a:effectLst/>
              <a:uFillTx/>
              <a:latin typeface="Arial"/>
            </a:endParaRPr>
          </a:p>
        </p:txBody>
      </p:sp>
      <p:sp>
        <p:nvSpPr>
          <p:cNvPr id="820" name="TextBox 14"/>
          <p:cNvSpPr/>
          <p:nvPr/>
        </p:nvSpPr>
        <p:spPr>
          <a:xfrm>
            <a:off x="4204800" y="2101680"/>
            <a:ext cx="1852200" cy="14112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0" i="1" u="none" strike="noStrike">
                <a:solidFill>
                  <a:srgbClr val="000000"/>
                </a:solidFill>
                <a:effectLst/>
                <a:uFillTx/>
                <a:latin typeface="Arial"/>
              </a:rPr>
              <a:t>Insert a block/diagram showing:</a:t>
            </a:r>
            <a:endParaRPr lang="en-US" sz="1000" b="0" u="none" strike="noStrike">
              <a:solidFill>
                <a:srgbClr val="000000"/>
              </a:solidFill>
              <a:effectLst/>
              <a:uFillTx/>
              <a:latin typeface="Arial"/>
            </a:endParaRPr>
          </a:p>
        </p:txBody>
      </p:sp>
      <p:sp>
        <p:nvSpPr>
          <p:cNvPr id="821" name="TextBox 15"/>
          <p:cNvSpPr/>
          <p:nvPr/>
        </p:nvSpPr>
        <p:spPr>
          <a:xfrm>
            <a:off x="4204800" y="2254320"/>
            <a:ext cx="763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822" name="TextBox 16"/>
          <p:cNvSpPr/>
          <p:nvPr/>
        </p:nvSpPr>
        <p:spPr>
          <a:xfrm>
            <a:off x="4433400" y="2254320"/>
            <a:ext cx="128988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Perception/Input layer</a:t>
            </a:r>
            <a:endParaRPr lang="en-US" sz="1000" b="0" u="none" strike="noStrike">
              <a:solidFill>
                <a:srgbClr val="000000"/>
              </a:solidFill>
              <a:effectLst/>
              <a:uFillTx/>
              <a:latin typeface="Arial"/>
            </a:endParaRPr>
          </a:p>
        </p:txBody>
      </p:sp>
      <p:sp>
        <p:nvSpPr>
          <p:cNvPr id="823" name="TextBox 17"/>
          <p:cNvSpPr/>
          <p:nvPr/>
        </p:nvSpPr>
        <p:spPr>
          <a:xfrm>
            <a:off x="4204800" y="2406600"/>
            <a:ext cx="763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824" name="TextBox 18"/>
          <p:cNvSpPr/>
          <p:nvPr/>
        </p:nvSpPr>
        <p:spPr>
          <a:xfrm>
            <a:off x="4433400" y="2406600"/>
            <a:ext cx="16171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Reasoning/Planning engine</a:t>
            </a:r>
            <a:endParaRPr lang="en-US" sz="1000" b="0" u="none" strike="noStrike">
              <a:solidFill>
                <a:srgbClr val="000000"/>
              </a:solidFill>
              <a:effectLst/>
              <a:uFillTx/>
              <a:latin typeface="Arial"/>
            </a:endParaRPr>
          </a:p>
        </p:txBody>
      </p:sp>
      <p:sp>
        <p:nvSpPr>
          <p:cNvPr id="825" name="TextBox 19"/>
          <p:cNvSpPr/>
          <p:nvPr/>
        </p:nvSpPr>
        <p:spPr>
          <a:xfrm>
            <a:off x="4204800" y="2558880"/>
            <a:ext cx="763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826" name="TextBox 20"/>
          <p:cNvSpPr/>
          <p:nvPr/>
        </p:nvSpPr>
        <p:spPr>
          <a:xfrm>
            <a:off x="4433400" y="2558880"/>
            <a:ext cx="15001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Memory/Knowledge store</a:t>
            </a:r>
            <a:endParaRPr lang="en-US" sz="1000" b="0" u="none" strike="noStrike">
              <a:solidFill>
                <a:srgbClr val="000000"/>
              </a:solidFill>
              <a:effectLst/>
              <a:uFillTx/>
              <a:latin typeface="Arial"/>
            </a:endParaRPr>
          </a:p>
        </p:txBody>
      </p:sp>
      <p:sp>
        <p:nvSpPr>
          <p:cNvPr id="827" name="TextBox 21"/>
          <p:cNvSpPr/>
          <p:nvPr/>
        </p:nvSpPr>
        <p:spPr>
          <a:xfrm>
            <a:off x="4204800" y="2711520"/>
            <a:ext cx="763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828" name="TextBox 22"/>
          <p:cNvSpPr/>
          <p:nvPr/>
        </p:nvSpPr>
        <p:spPr>
          <a:xfrm>
            <a:off x="4433400" y="2711520"/>
            <a:ext cx="144288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Tools/External interfaces</a:t>
            </a:r>
            <a:endParaRPr lang="en-US" sz="1000" b="0" u="none" strike="noStrike">
              <a:solidFill>
                <a:srgbClr val="000000"/>
              </a:solidFill>
              <a:effectLst/>
              <a:uFillTx/>
              <a:latin typeface="Arial"/>
            </a:endParaRPr>
          </a:p>
        </p:txBody>
      </p:sp>
      <p:sp>
        <p:nvSpPr>
          <p:cNvPr id="829" name="TextBox 23"/>
          <p:cNvSpPr/>
          <p:nvPr/>
        </p:nvSpPr>
        <p:spPr>
          <a:xfrm>
            <a:off x="4204800" y="2863800"/>
            <a:ext cx="763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830" name="TextBox 24"/>
          <p:cNvSpPr/>
          <p:nvPr/>
        </p:nvSpPr>
        <p:spPr>
          <a:xfrm>
            <a:off x="4433400" y="2863800"/>
            <a:ext cx="145764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Action/Execution module</a:t>
            </a:r>
            <a:endParaRPr lang="en-US" sz="1000" b="0" u="none" strike="noStrike">
              <a:solidFill>
                <a:srgbClr val="000000"/>
              </a:solidFill>
              <a:effectLst/>
              <a:uFillTx/>
              <a:latin typeface="Arial"/>
            </a:endParaRPr>
          </a:p>
        </p:txBody>
      </p:sp>
      <p:sp>
        <p:nvSpPr>
          <p:cNvPr id="831" name="TextBox 25"/>
          <p:cNvSpPr/>
          <p:nvPr/>
        </p:nvSpPr>
        <p:spPr>
          <a:xfrm>
            <a:off x="4204800" y="3168360"/>
            <a:ext cx="3013200" cy="5983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Bullets with short descriptions:</a:t>
            </a:r>
            <a:endParaRPr lang="en-US" sz="1000" b="0" u="none" strike="noStrike">
              <a:solidFill>
                <a:srgbClr val="000000"/>
              </a:solidFill>
              <a:effectLst/>
              <a:uFillTx/>
              <a:latin typeface="Arial"/>
            </a:endParaRPr>
          </a:p>
          <a:p>
            <a:pPr defTabSz="457200">
              <a:lnSpc>
                <a:spcPts val="1199"/>
              </a:lnSpc>
            </a:pPr>
            <a:r>
              <a:rPr lang="en-US" sz="1000" b="0" u="none" strike="noStrike">
                <a:solidFill>
                  <a:srgbClr val="000000"/>
                </a:solidFill>
                <a:effectLst/>
                <a:uFillTx/>
                <a:latin typeface="Arial"/>
              </a:rPr>
              <a:t>e.g., </a:t>
            </a:r>
            <a:r>
              <a:rPr lang="en-US" sz="1000" b="0" i="1" u="none" strike="noStrike">
                <a:solidFill>
                  <a:srgbClr val="000000"/>
                </a:solidFill>
                <a:effectLst/>
                <a:uFillTx/>
                <a:latin typeface="Arial"/>
              </a:rPr>
              <a:t>Input Processor – interprets user input Planning Module – decides next actions Tool Connectors – APIs, databases, third-party tools</a:t>
            </a:r>
            <a:endParaRPr lang="en-US" sz="1000" b="0" u="none" strike="noStrike">
              <a:solidFill>
                <a:srgbClr val="000000"/>
              </a:solidFill>
              <a:effectLst/>
              <a:uFillTx/>
              <a:latin typeface="Arial"/>
            </a:endParaRPr>
          </a:p>
        </p:txBody>
      </p:sp>
      <p:sp>
        <p:nvSpPr>
          <p:cNvPr id="832" name="Rectangle 26"/>
          <p:cNvSpPr/>
          <p:nvPr/>
        </p:nvSpPr>
        <p:spPr>
          <a:xfrm>
            <a:off x="288000" y="3180600"/>
            <a:ext cx="1208880" cy="16452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33" name="Rectangle 27"/>
          <p:cNvSpPr/>
          <p:nvPr/>
        </p:nvSpPr>
        <p:spPr>
          <a:xfrm>
            <a:off x="1497600" y="3180600"/>
            <a:ext cx="1218240" cy="16452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34" name="Rectangle 28"/>
          <p:cNvSpPr/>
          <p:nvPr/>
        </p:nvSpPr>
        <p:spPr>
          <a:xfrm>
            <a:off x="2716920" y="3180600"/>
            <a:ext cx="1218240" cy="16452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35" name="Rectangle 29"/>
          <p:cNvSpPr/>
          <p:nvPr/>
        </p:nvSpPr>
        <p:spPr>
          <a:xfrm>
            <a:off x="288000" y="3345840"/>
            <a:ext cx="1208880" cy="16452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36" name="Rectangle 30"/>
          <p:cNvSpPr/>
          <p:nvPr/>
        </p:nvSpPr>
        <p:spPr>
          <a:xfrm>
            <a:off x="1497600" y="3345840"/>
            <a:ext cx="1218240" cy="16452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37" name="Rectangle 31"/>
          <p:cNvSpPr/>
          <p:nvPr/>
        </p:nvSpPr>
        <p:spPr>
          <a:xfrm>
            <a:off x="2716920" y="3345840"/>
            <a:ext cx="1218240" cy="16452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38" name="Rectangle 32"/>
          <p:cNvSpPr/>
          <p:nvPr/>
        </p:nvSpPr>
        <p:spPr>
          <a:xfrm>
            <a:off x="288000" y="3511080"/>
            <a:ext cx="1208880" cy="16452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39" name="Rectangle 33"/>
          <p:cNvSpPr/>
          <p:nvPr/>
        </p:nvSpPr>
        <p:spPr>
          <a:xfrm>
            <a:off x="1497600" y="3511080"/>
            <a:ext cx="1218240" cy="16452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40" name="Rectangle 34"/>
          <p:cNvSpPr/>
          <p:nvPr/>
        </p:nvSpPr>
        <p:spPr>
          <a:xfrm>
            <a:off x="2716920" y="3511080"/>
            <a:ext cx="1218240" cy="16452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cxnSp>
        <p:nvCxnSpPr>
          <p:cNvPr id="841" name="Connector 35"/>
          <p:cNvCxnSpPr/>
          <p:nvPr/>
        </p:nvCxnSpPr>
        <p:spPr>
          <a:xfrm>
            <a:off x="1497600" y="3177360"/>
            <a:ext cx="720" cy="502560"/>
          </a:xfrm>
          <a:prstGeom prst="straightConnector1">
            <a:avLst/>
          </a:prstGeom>
          <a:ln w="6349">
            <a:solidFill>
              <a:srgbClr val="000000"/>
            </a:solidFill>
            <a:round/>
          </a:ln>
        </p:spPr>
      </p:cxnSp>
      <p:cxnSp>
        <p:nvCxnSpPr>
          <p:cNvPr id="842" name="Connector 36"/>
          <p:cNvCxnSpPr/>
          <p:nvPr/>
        </p:nvCxnSpPr>
        <p:spPr>
          <a:xfrm>
            <a:off x="2716560" y="3177360"/>
            <a:ext cx="720" cy="502560"/>
          </a:xfrm>
          <a:prstGeom prst="straightConnector1">
            <a:avLst/>
          </a:prstGeom>
          <a:ln w="6349">
            <a:solidFill>
              <a:srgbClr val="000000"/>
            </a:solidFill>
            <a:round/>
          </a:ln>
        </p:spPr>
      </p:cxnSp>
      <p:cxnSp>
        <p:nvCxnSpPr>
          <p:cNvPr id="843" name="Connector 37"/>
          <p:cNvCxnSpPr/>
          <p:nvPr/>
        </p:nvCxnSpPr>
        <p:spPr>
          <a:xfrm>
            <a:off x="284760" y="3345840"/>
            <a:ext cx="3654720" cy="720"/>
          </a:xfrm>
          <a:prstGeom prst="straightConnector1">
            <a:avLst/>
          </a:prstGeom>
          <a:ln w="19047">
            <a:solidFill>
              <a:srgbClr val="000000"/>
            </a:solidFill>
            <a:round/>
          </a:ln>
        </p:spPr>
      </p:cxnSp>
      <p:cxnSp>
        <p:nvCxnSpPr>
          <p:cNvPr id="844" name="Connector 38"/>
          <p:cNvCxnSpPr/>
          <p:nvPr/>
        </p:nvCxnSpPr>
        <p:spPr>
          <a:xfrm>
            <a:off x="284760" y="3511080"/>
            <a:ext cx="3654720" cy="720"/>
          </a:xfrm>
          <a:prstGeom prst="straightConnector1">
            <a:avLst/>
          </a:prstGeom>
          <a:ln w="6349">
            <a:solidFill>
              <a:srgbClr val="000000"/>
            </a:solidFill>
            <a:round/>
          </a:ln>
        </p:spPr>
      </p:cxnSp>
      <p:cxnSp>
        <p:nvCxnSpPr>
          <p:cNvPr id="845" name="Connector 39"/>
          <p:cNvCxnSpPr/>
          <p:nvPr/>
        </p:nvCxnSpPr>
        <p:spPr>
          <a:xfrm>
            <a:off x="288000" y="3177360"/>
            <a:ext cx="720" cy="502560"/>
          </a:xfrm>
          <a:prstGeom prst="straightConnector1">
            <a:avLst/>
          </a:prstGeom>
          <a:ln w="6349">
            <a:solidFill>
              <a:srgbClr val="000000"/>
            </a:solidFill>
            <a:round/>
          </a:ln>
        </p:spPr>
      </p:cxnSp>
      <p:cxnSp>
        <p:nvCxnSpPr>
          <p:cNvPr id="846" name="Connector 40"/>
          <p:cNvCxnSpPr/>
          <p:nvPr/>
        </p:nvCxnSpPr>
        <p:spPr>
          <a:xfrm>
            <a:off x="3935520" y="3177360"/>
            <a:ext cx="720" cy="502560"/>
          </a:xfrm>
          <a:prstGeom prst="straightConnector1">
            <a:avLst/>
          </a:prstGeom>
          <a:ln w="6349">
            <a:solidFill>
              <a:srgbClr val="000000"/>
            </a:solidFill>
            <a:round/>
          </a:ln>
        </p:spPr>
      </p:cxnSp>
      <p:cxnSp>
        <p:nvCxnSpPr>
          <p:cNvPr id="847" name="Connector 41"/>
          <p:cNvCxnSpPr/>
          <p:nvPr/>
        </p:nvCxnSpPr>
        <p:spPr>
          <a:xfrm>
            <a:off x="284760" y="3180600"/>
            <a:ext cx="3654720" cy="720"/>
          </a:xfrm>
          <a:prstGeom prst="straightConnector1">
            <a:avLst/>
          </a:prstGeom>
          <a:ln w="6349">
            <a:solidFill>
              <a:srgbClr val="000000"/>
            </a:solidFill>
            <a:round/>
          </a:ln>
        </p:spPr>
      </p:cxnSp>
      <p:cxnSp>
        <p:nvCxnSpPr>
          <p:cNvPr id="848" name="Connector 42"/>
          <p:cNvCxnSpPr/>
          <p:nvPr/>
        </p:nvCxnSpPr>
        <p:spPr>
          <a:xfrm>
            <a:off x="284760" y="3676320"/>
            <a:ext cx="3654720" cy="720"/>
          </a:xfrm>
          <a:prstGeom prst="straightConnector1">
            <a:avLst/>
          </a:prstGeom>
          <a:ln w="6349">
            <a:solidFill>
              <a:srgbClr val="000000"/>
            </a:solidFill>
            <a:round/>
          </a:ln>
        </p:spPr>
      </p:cxnSp>
      <p:sp>
        <p:nvSpPr>
          <p:cNvPr id="849" name="TextBox 43"/>
          <p:cNvSpPr/>
          <p:nvPr/>
        </p:nvSpPr>
        <p:spPr>
          <a:xfrm>
            <a:off x="288000" y="3197880"/>
            <a:ext cx="39888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Agent</a:t>
            </a:r>
            <a:endParaRPr lang="en-US" sz="1000" b="0" u="none" strike="noStrike">
              <a:solidFill>
                <a:srgbClr val="000000"/>
              </a:solidFill>
              <a:effectLst/>
              <a:uFillTx/>
              <a:latin typeface="Arial"/>
            </a:endParaRPr>
          </a:p>
        </p:txBody>
      </p:sp>
      <p:sp>
        <p:nvSpPr>
          <p:cNvPr id="850" name="TextBox 44"/>
          <p:cNvSpPr/>
          <p:nvPr/>
        </p:nvSpPr>
        <p:spPr>
          <a:xfrm>
            <a:off x="1497600" y="3197880"/>
            <a:ext cx="91728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Responsibility</a:t>
            </a:r>
            <a:endParaRPr lang="en-US" sz="1000" b="0" u="none" strike="noStrike">
              <a:solidFill>
                <a:srgbClr val="000000"/>
              </a:solidFill>
              <a:effectLst/>
              <a:uFillTx/>
              <a:latin typeface="Arial"/>
            </a:endParaRPr>
          </a:p>
        </p:txBody>
      </p:sp>
      <p:sp>
        <p:nvSpPr>
          <p:cNvPr id="851" name="TextBox 45"/>
          <p:cNvSpPr/>
          <p:nvPr/>
        </p:nvSpPr>
        <p:spPr>
          <a:xfrm>
            <a:off x="2716920" y="3197880"/>
            <a:ext cx="91728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Key Decisions</a:t>
            </a:r>
            <a:endParaRPr lang="en-US" sz="1000" b="0" u="none" strike="noStrike">
              <a:solidFill>
                <a:srgbClr val="000000"/>
              </a:solidFill>
              <a:effectLst/>
              <a:uFillTx/>
              <a:latin typeface="Arial"/>
            </a:endParaRPr>
          </a:p>
        </p:txBody>
      </p:sp>
      <p:sp>
        <p:nvSpPr>
          <p:cNvPr id="852" name="TextBox 46"/>
          <p:cNvSpPr/>
          <p:nvPr/>
        </p:nvSpPr>
        <p:spPr>
          <a:xfrm>
            <a:off x="288000" y="3363120"/>
            <a:ext cx="5065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Agent 1</a:t>
            </a:r>
            <a:endParaRPr lang="en-US" sz="1000" b="0" u="none" strike="noStrike">
              <a:solidFill>
                <a:srgbClr val="000000"/>
              </a:solidFill>
              <a:effectLst/>
              <a:uFillTx/>
              <a:latin typeface="Arial"/>
            </a:endParaRPr>
          </a:p>
        </p:txBody>
      </p:sp>
      <p:sp>
        <p:nvSpPr>
          <p:cNvPr id="853" name="TextBox 47"/>
          <p:cNvSpPr/>
          <p:nvPr/>
        </p:nvSpPr>
        <p:spPr>
          <a:xfrm>
            <a:off x="288000" y="3528360"/>
            <a:ext cx="96336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Agent 2 (if any)</a:t>
            </a:r>
            <a:endParaRPr lang="en-US" sz="1000" b="0" u="none" strike="noStrike">
              <a:solidFill>
                <a:srgbClr val="000000"/>
              </a:solidFill>
              <a:effectLst/>
              <a:uFillTx/>
              <a:latin typeface="Arial"/>
            </a:endParaRPr>
          </a:p>
        </p:txBody>
      </p:sp>
      <p:sp>
        <p:nvSpPr>
          <p:cNvPr id="854" name="TextBox 48"/>
          <p:cNvSpPr/>
          <p:nvPr/>
        </p:nvSpPr>
        <p:spPr>
          <a:xfrm>
            <a:off x="333720" y="3884400"/>
            <a:ext cx="3489120" cy="6264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Why this architecture?</a:t>
            </a:r>
            <a:endParaRPr lang="en-US" sz="1200" b="0" u="none" strike="noStrike">
              <a:solidFill>
                <a:srgbClr val="000000"/>
              </a:solidFill>
              <a:effectLst/>
              <a:uFillTx/>
              <a:latin typeface="Arial"/>
            </a:endParaRPr>
          </a:p>
          <a:p>
            <a:pPr defTabSz="457200">
              <a:lnSpc>
                <a:spcPts val="1151"/>
              </a:lnSpc>
              <a:spcBef>
                <a:spcPts val="88"/>
              </a:spcBef>
            </a:pPr>
            <a:r>
              <a:rPr lang="en-US" sz="1000" b="0" u="none" strike="noStrike">
                <a:solidFill>
                  <a:srgbClr val="000000"/>
                </a:solidFill>
                <a:effectLst/>
                <a:uFillTx/>
                <a:latin typeface="Arial"/>
              </a:rPr>
              <a:t>What design decisions enable your agent’s capabilities?</a:t>
            </a:r>
            <a:endParaRPr lang="en-US" sz="1000" b="0" u="none" strike="noStrike">
              <a:solidFill>
                <a:srgbClr val="000000"/>
              </a:solidFill>
              <a:effectLst/>
              <a:uFillTx/>
              <a:latin typeface="Arial"/>
            </a:endParaRPr>
          </a:p>
          <a:p>
            <a:pPr defTabSz="457200">
              <a:lnSpc>
                <a:spcPts val="1199"/>
              </a:lnSpc>
            </a:pPr>
            <a:r>
              <a:rPr lang="en-US" sz="1000" b="0" u="none" strike="noStrike">
                <a:solidFill>
                  <a:srgbClr val="000000"/>
                </a:solidFill>
                <a:effectLst/>
                <a:uFillTx/>
                <a:latin typeface="Arial"/>
              </a:rPr>
              <a:t>Can you trace how data flows from input to action? Why are these components necessary?</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 name="TextBox 1"/>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42</a:t>
            </a:r>
            <a:endParaRPr lang="en-US" sz="800" b="0" u="none" strike="noStrike">
              <a:solidFill>
                <a:srgbClr val="000000"/>
              </a:solidFill>
              <a:effectLst/>
              <a:uFillTx/>
              <a:latin typeface="Arial"/>
            </a:endParaRPr>
          </a:p>
        </p:txBody>
      </p:sp>
      <p:sp>
        <p:nvSpPr>
          <p:cNvPr id="856" name="TextBox 2"/>
          <p:cNvSpPr/>
          <p:nvPr/>
        </p:nvSpPr>
        <p:spPr>
          <a:xfrm>
            <a:off x="288000" y="303120"/>
            <a:ext cx="4803480" cy="90144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AI Agent Workflow</a:t>
            </a:r>
            <a:endParaRPr lang="en-US" sz="1400" b="0" u="none" strike="noStrike">
              <a:solidFill>
                <a:srgbClr val="000000"/>
              </a:solidFill>
              <a:effectLst/>
              <a:uFillTx/>
              <a:latin typeface="Arial"/>
            </a:endParaRPr>
          </a:p>
          <a:p>
            <a:pPr defTabSz="457200">
              <a:lnSpc>
                <a:spcPts val="1848"/>
              </a:lnSpc>
            </a:pPr>
            <a:r>
              <a:rPr lang="en-US" sz="1400" b="1" u="none" strike="noStrike">
                <a:solidFill>
                  <a:srgbClr val="000000"/>
                </a:solidFill>
                <a:effectLst/>
                <a:uFillTx/>
                <a:latin typeface="Arial"/>
              </a:rPr>
              <a:t>Purpose: </a:t>
            </a:r>
            <a:r>
              <a:rPr lang="en-US" sz="1400" b="0" u="none" strike="noStrike">
                <a:solidFill>
                  <a:srgbClr val="000000"/>
                </a:solidFill>
                <a:effectLst/>
                <a:uFillTx/>
                <a:latin typeface="Arial"/>
              </a:rPr>
              <a:t>Show the </a:t>
            </a:r>
            <a:r>
              <a:rPr lang="en-US" sz="1400" b="0" i="1" u="none" strike="noStrike">
                <a:solidFill>
                  <a:srgbClr val="000000"/>
                </a:solidFill>
                <a:effectLst/>
                <a:uFillTx/>
                <a:latin typeface="Arial"/>
              </a:rPr>
              <a:t>dynamic process</a:t>
            </a:r>
            <a:r>
              <a:rPr lang="en-US" sz="1400" b="0" u="none" strike="noStrike">
                <a:solidFill>
                  <a:srgbClr val="000000"/>
                </a:solidFill>
                <a:effectLst/>
                <a:uFillTx/>
                <a:latin typeface="Arial"/>
              </a:rPr>
              <a:t> your agent follows to achieve its goals — step by step.</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When:</a:t>
            </a:r>
            <a:r>
              <a:rPr lang="en-US" sz="1400" b="0" u="none" strike="noStrike">
                <a:solidFill>
                  <a:srgbClr val="000000"/>
                </a:solidFill>
                <a:effectLst/>
                <a:uFillTx/>
                <a:latin typeface="Arial"/>
              </a:rPr>
              <a:t> By week 4-5</a:t>
            </a:r>
            <a:endParaRPr lang="en-US" sz="1400" b="0" u="none" strike="noStrike">
              <a:solidFill>
                <a:srgbClr val="000000"/>
              </a:solidFill>
              <a:effectLst/>
              <a:uFillTx/>
              <a:latin typeface="Arial"/>
            </a:endParaRPr>
          </a:p>
        </p:txBody>
      </p:sp>
      <p:sp>
        <p:nvSpPr>
          <p:cNvPr id="857" name="Rectangle 3"/>
          <p:cNvSpPr/>
          <p:nvPr/>
        </p:nvSpPr>
        <p:spPr>
          <a:xfrm>
            <a:off x="4158720" y="1712160"/>
            <a:ext cx="7744320" cy="4675680"/>
          </a:xfrm>
          <a:prstGeom prst="rect">
            <a:avLst/>
          </a:prstGeom>
          <a:noFill/>
          <a:ln w="9523">
            <a:solidFill>
              <a:srgbClr val="000000"/>
            </a:solidFill>
            <a:round/>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58" name="TextBox 4"/>
          <p:cNvSpPr/>
          <p:nvPr/>
        </p:nvSpPr>
        <p:spPr>
          <a:xfrm>
            <a:off x="4204800" y="1768680"/>
            <a:ext cx="129672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Workflow Diagram</a:t>
            </a:r>
            <a:endParaRPr lang="en-US" sz="1200" b="0" u="none" strike="noStrike">
              <a:solidFill>
                <a:srgbClr val="000000"/>
              </a:solidFill>
              <a:effectLst/>
              <a:uFillTx/>
              <a:latin typeface="Arial"/>
            </a:endParaRPr>
          </a:p>
        </p:txBody>
      </p:sp>
      <p:sp>
        <p:nvSpPr>
          <p:cNvPr id="859" name="TextBox 5"/>
          <p:cNvSpPr/>
          <p:nvPr/>
        </p:nvSpPr>
        <p:spPr>
          <a:xfrm>
            <a:off x="4204800" y="2133720"/>
            <a:ext cx="2189160" cy="10555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Flowchart showing:</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User request received</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Interpretation/intent detection</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Planning/Reasoning</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Tool invocation or action execution</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Output &amp; evaluation</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Loop/feedback if needed</a:t>
            </a:r>
            <a:endParaRPr lang="en-US" sz="1000" b="0" u="none" strike="noStrike">
              <a:solidFill>
                <a:srgbClr val="000000"/>
              </a:solidFill>
              <a:effectLst/>
              <a:uFillTx/>
              <a:latin typeface="Arial"/>
            </a:endParaRPr>
          </a:p>
        </p:txBody>
      </p:sp>
      <p:sp>
        <p:nvSpPr>
          <p:cNvPr id="860" name="Rectangle 6"/>
          <p:cNvSpPr/>
          <p:nvPr/>
        </p:nvSpPr>
        <p:spPr>
          <a:xfrm>
            <a:off x="5849640" y="288000"/>
            <a:ext cx="1744920" cy="112716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61" name="TextBox 7"/>
          <p:cNvSpPr/>
          <p:nvPr/>
        </p:nvSpPr>
        <p:spPr>
          <a:xfrm>
            <a:off x="5895360" y="342000"/>
            <a:ext cx="1149480" cy="29376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Key tools:</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IBM Orchestrate</a:t>
            </a:r>
            <a:endParaRPr lang="en-US" sz="1000" b="0" u="none" strike="noStrike">
              <a:solidFill>
                <a:srgbClr val="000000"/>
              </a:solidFill>
              <a:effectLst/>
              <a:uFillTx/>
              <a:latin typeface="Arial"/>
            </a:endParaRPr>
          </a:p>
        </p:txBody>
      </p:sp>
      <p:sp>
        <p:nvSpPr>
          <p:cNvPr id="862" name="Rectangle 8"/>
          <p:cNvSpPr/>
          <p:nvPr/>
        </p:nvSpPr>
        <p:spPr>
          <a:xfrm>
            <a:off x="7595280" y="288000"/>
            <a:ext cx="3869280" cy="112716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63" name="TextBox 9"/>
          <p:cNvSpPr/>
          <p:nvPr/>
        </p:nvSpPr>
        <p:spPr>
          <a:xfrm>
            <a:off x="7641360" y="342000"/>
            <a:ext cx="3848760" cy="29376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Ensure that the sequence clear and logical and that iterations and decision points are indicated indicated.</a:t>
            </a:r>
            <a:endParaRPr lang="en-US" sz="1000" b="0" u="none" strike="noStrike">
              <a:solidFill>
                <a:srgbClr val="000000"/>
              </a:solidFill>
              <a:effectLst/>
              <a:uFillTx/>
              <a:latin typeface="Arial"/>
            </a:endParaRPr>
          </a:p>
        </p:txBody>
      </p:sp>
      <p:pic>
        <p:nvPicPr>
          <p:cNvPr id="864" name="Picture 10" descr="image.png"/>
          <p:cNvPicPr/>
          <p:nvPr/>
        </p:nvPicPr>
        <p:blipFill>
          <a:blip r:embed="rId1"/>
          <a:stretch/>
        </p:blipFill>
        <p:spPr>
          <a:xfrm>
            <a:off x="7564320" y="752040"/>
            <a:ext cx="254160" cy="570960"/>
          </a:xfrm>
          <a:prstGeom prst="rect">
            <a:avLst/>
          </a:prstGeom>
          <a:noFill/>
          <a:ln w="0">
            <a:noFill/>
          </a:ln>
        </p:spPr>
      </p:pic>
      <p:sp>
        <p:nvSpPr>
          <p:cNvPr id="865" name="TextBox 11"/>
          <p:cNvSpPr/>
          <p:nvPr/>
        </p:nvSpPr>
        <p:spPr>
          <a:xfrm>
            <a:off x="7743240" y="799200"/>
            <a:ext cx="301644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 Use clear diagrams (e.g., flowcharts for workflow).</a:t>
            </a:r>
            <a:endParaRPr lang="en-US" sz="1000" b="0" u="none" strike="noStrike">
              <a:solidFill>
                <a:srgbClr val="000000"/>
              </a:solidFill>
              <a:effectLst/>
              <a:uFillTx/>
              <a:latin typeface="Arial"/>
            </a:endParaRPr>
          </a:p>
          <a:p>
            <a:pPr defTabSz="457200">
              <a:lnSpc>
                <a:spcPts val="1151"/>
              </a:lnSpc>
              <a:spcBef>
                <a:spcPts val="48"/>
              </a:spcBef>
            </a:pPr>
            <a:r>
              <a:rPr lang="en-US" sz="1000" b="0" u="none" strike="noStrike">
                <a:solidFill>
                  <a:srgbClr val="000000"/>
                </a:solidFill>
                <a:effectLst/>
                <a:uFillTx/>
                <a:latin typeface="Arial"/>
              </a:rPr>
              <a:t> Keep text concise and diagrams labelled.</a:t>
            </a:r>
            <a:endParaRPr lang="en-US" sz="1000" b="0" u="none" strike="noStrike">
              <a:solidFill>
                <a:srgbClr val="000000"/>
              </a:solidFill>
              <a:effectLst/>
              <a:uFillTx/>
              <a:latin typeface="Arial"/>
            </a:endParaRPr>
          </a:p>
          <a:p>
            <a:pPr defTabSz="457200">
              <a:lnSpc>
                <a:spcPts val="1151"/>
              </a:lnSpc>
              <a:spcBef>
                <a:spcPts val="48"/>
              </a:spcBef>
            </a:pPr>
            <a:r>
              <a:rPr lang="en-US" sz="1000" b="0" u="none" strike="noStrike">
                <a:solidFill>
                  <a:srgbClr val="000000"/>
                </a:solidFill>
                <a:effectLst/>
                <a:uFillTx/>
                <a:latin typeface="Arial"/>
              </a:rPr>
              <a:t> Be ready to explain each component and transition.</a:t>
            </a:r>
            <a:endParaRPr lang="en-US" sz="1000" b="0" u="none" strike="noStrike">
              <a:solidFill>
                <a:srgbClr val="000000"/>
              </a:solidFill>
              <a:effectLst/>
              <a:uFillTx/>
              <a:latin typeface="Arial"/>
            </a:endParaRPr>
          </a:p>
        </p:txBody>
      </p:sp>
      <p:sp>
        <p:nvSpPr>
          <p:cNvPr id="866" name="TextBox 12"/>
          <p:cNvSpPr/>
          <p:nvPr/>
        </p:nvSpPr>
        <p:spPr>
          <a:xfrm>
            <a:off x="333720" y="1746000"/>
            <a:ext cx="2608560" cy="32148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Workflow Description</a:t>
            </a:r>
            <a:endParaRPr lang="en-US" sz="1200" b="0" u="none" strike="noStrike">
              <a:solidFill>
                <a:srgbClr val="000000"/>
              </a:solidFill>
              <a:effectLst/>
              <a:uFillTx/>
              <a:latin typeface="Arial"/>
            </a:endParaRPr>
          </a:p>
          <a:p>
            <a:pPr defTabSz="457200">
              <a:lnSpc>
                <a:spcPts val="1151"/>
              </a:lnSpc>
              <a:spcBef>
                <a:spcPts val="88"/>
              </a:spcBef>
            </a:pPr>
            <a:r>
              <a:rPr lang="en-US" sz="1000" b="0" i="1" u="none" strike="noStrike">
                <a:solidFill>
                  <a:srgbClr val="000000"/>
                </a:solidFill>
                <a:effectLst/>
                <a:uFillTx/>
                <a:latin typeface="Arial"/>
              </a:rPr>
              <a:t>A short explanation of how tasks are handled</a:t>
            </a:r>
            <a:endParaRPr lang="en-US" sz="1000" b="0" u="none" strike="noStrike">
              <a:solidFill>
                <a:srgbClr val="000000"/>
              </a:solidFill>
              <a:effectLst/>
              <a:uFillTx/>
              <a:latin typeface="Arial"/>
            </a:endParaRPr>
          </a:p>
        </p:txBody>
      </p:sp>
      <p:sp>
        <p:nvSpPr>
          <p:cNvPr id="867" name="TextBox 13"/>
          <p:cNvSpPr/>
          <p:nvPr/>
        </p:nvSpPr>
        <p:spPr>
          <a:xfrm>
            <a:off x="333720" y="2264400"/>
            <a:ext cx="3147840" cy="47412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Decision Points</a:t>
            </a:r>
            <a:endParaRPr lang="en-US" sz="1200" b="0" u="none" strike="noStrike">
              <a:solidFill>
                <a:srgbClr val="000000"/>
              </a:solidFill>
              <a:effectLst/>
              <a:uFillTx/>
              <a:latin typeface="Arial"/>
            </a:endParaRPr>
          </a:p>
          <a:p>
            <a:pPr defTabSz="457200">
              <a:lnSpc>
                <a:spcPts val="1199"/>
              </a:lnSpc>
              <a:spcBef>
                <a:spcPts val="40"/>
              </a:spcBef>
            </a:pPr>
            <a:r>
              <a:rPr lang="en-US" sz="1000" b="0" u="none" strike="noStrike">
                <a:solidFill>
                  <a:srgbClr val="000000"/>
                </a:solidFill>
                <a:effectLst/>
                <a:uFillTx/>
                <a:latin typeface="Arial"/>
              </a:rPr>
              <a:t>Explain where and how agents make decisions - what conditions make the agent branch or retry? </a:t>
            </a:r>
            <a:endParaRPr lang="en-US" sz="1000" b="0" u="none" strike="noStrike">
              <a:solidFill>
                <a:srgbClr val="000000"/>
              </a:solidFill>
              <a:effectLst/>
              <a:uFillTx/>
              <a:latin typeface="Arial"/>
            </a:endParaRPr>
          </a:p>
        </p:txBody>
      </p:sp>
      <p:sp>
        <p:nvSpPr>
          <p:cNvPr id="868" name="TextBox 14"/>
          <p:cNvSpPr/>
          <p:nvPr/>
        </p:nvSpPr>
        <p:spPr>
          <a:xfrm>
            <a:off x="333720" y="2904120"/>
            <a:ext cx="2498760" cy="47412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Human-in-the-loop moments</a:t>
            </a:r>
            <a:endParaRPr lang="en-US" sz="1200" b="0" u="none" strike="noStrike">
              <a:solidFill>
                <a:srgbClr val="000000"/>
              </a:solidFill>
              <a:effectLst/>
              <a:uFillTx/>
              <a:latin typeface="Arial"/>
            </a:endParaRPr>
          </a:p>
          <a:p>
            <a:pPr defTabSz="457200">
              <a:lnSpc>
                <a:spcPts val="1151"/>
              </a:lnSpc>
              <a:spcBef>
                <a:spcPts val="88"/>
              </a:spcBef>
            </a:pPr>
            <a:r>
              <a:rPr lang="en-US" sz="1000" b="0" u="none" strike="noStrike">
                <a:solidFill>
                  <a:srgbClr val="000000"/>
                </a:solidFill>
                <a:effectLst/>
                <a:uFillTx/>
                <a:latin typeface="Arial"/>
              </a:rPr>
              <a:t>When does the agent ask for confirmation?</a:t>
            </a:r>
            <a:endParaRPr lang="en-US" sz="1000" b="0" u="none" strike="noStrike">
              <a:solidFill>
                <a:srgbClr val="000000"/>
              </a:solidFill>
              <a:effectLst/>
              <a:uFillTx/>
              <a:latin typeface="Arial"/>
            </a:endParaRPr>
          </a:p>
          <a:p>
            <a:pPr defTabSz="457200">
              <a:lnSpc>
                <a:spcPts val="1151"/>
              </a:lnSpc>
              <a:spcBef>
                <a:spcPts val="48"/>
              </a:spcBef>
            </a:pPr>
            <a:r>
              <a:rPr lang="en-US" sz="1000" b="0" u="none" strike="noStrike">
                <a:solidFill>
                  <a:srgbClr val="000000"/>
                </a:solidFill>
                <a:effectLst/>
                <a:uFillTx/>
                <a:latin typeface="Arial"/>
              </a:rPr>
              <a:t>When does it escalate to a human?</a:t>
            </a:r>
            <a:endParaRPr lang="en-US" sz="1000" b="0" u="none" strike="noStrike">
              <a:solidFill>
                <a:srgbClr val="000000"/>
              </a:solidFill>
              <a:effectLst/>
              <a:uFillTx/>
              <a:latin typeface="Arial"/>
            </a:endParaRPr>
          </a:p>
        </p:txBody>
      </p:sp>
      <p:sp>
        <p:nvSpPr>
          <p:cNvPr id="869" name="TextBox 15"/>
          <p:cNvSpPr/>
          <p:nvPr/>
        </p:nvSpPr>
        <p:spPr>
          <a:xfrm>
            <a:off x="333720" y="3544560"/>
            <a:ext cx="2231640" cy="47412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Failure strategy nodes</a:t>
            </a:r>
            <a:endParaRPr lang="en-US" sz="1200" b="0" u="none" strike="noStrike">
              <a:solidFill>
                <a:srgbClr val="000000"/>
              </a:solidFill>
              <a:effectLst/>
              <a:uFillTx/>
              <a:latin typeface="Arial"/>
            </a:endParaRPr>
          </a:p>
          <a:p>
            <a:pPr defTabSz="457200">
              <a:lnSpc>
                <a:spcPts val="1151"/>
              </a:lnSpc>
              <a:spcBef>
                <a:spcPts val="88"/>
              </a:spcBef>
            </a:pPr>
            <a:r>
              <a:rPr lang="en-US" sz="1000" b="0" u="none" strike="noStrike">
                <a:solidFill>
                  <a:srgbClr val="000000"/>
                </a:solidFill>
                <a:effectLst/>
                <a:uFillTx/>
                <a:latin typeface="Arial"/>
              </a:rPr>
              <a:t>What happens if the agent lacks data?</a:t>
            </a:r>
            <a:endParaRPr lang="en-US" sz="1000" b="0" u="none" strike="noStrike">
              <a:solidFill>
                <a:srgbClr val="000000"/>
              </a:solidFill>
              <a:effectLst/>
              <a:uFillTx/>
              <a:latin typeface="Arial"/>
            </a:endParaRPr>
          </a:p>
          <a:p>
            <a:pPr defTabSz="457200">
              <a:lnSpc>
                <a:spcPts val="1151"/>
              </a:lnSpc>
              <a:spcBef>
                <a:spcPts val="48"/>
              </a:spcBef>
            </a:pPr>
            <a:r>
              <a:rPr lang="en-US" sz="1000" b="0" u="none" strike="noStrike">
                <a:solidFill>
                  <a:srgbClr val="000000"/>
                </a:solidFill>
                <a:effectLst/>
                <a:uFillTx/>
                <a:latin typeface="Arial"/>
              </a:rPr>
              <a:t>What happens if a task fails?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0" name="TextBox 1"/>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43</a:t>
            </a:r>
            <a:endParaRPr lang="en-US" sz="800" b="0" u="none" strike="noStrike">
              <a:solidFill>
                <a:srgbClr val="000000"/>
              </a:solidFill>
              <a:effectLst/>
              <a:uFillTx/>
              <a:latin typeface="Arial"/>
            </a:endParaRPr>
          </a:p>
        </p:txBody>
      </p:sp>
      <p:sp>
        <p:nvSpPr>
          <p:cNvPr id="871" name="TextBox 2"/>
          <p:cNvSpPr/>
          <p:nvPr/>
        </p:nvSpPr>
        <p:spPr>
          <a:xfrm>
            <a:off x="288000" y="303120"/>
            <a:ext cx="4491360" cy="90144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Tools &amp; Integrations</a:t>
            </a:r>
            <a:endParaRPr lang="en-US" sz="1400" b="0" u="none" strike="noStrike">
              <a:solidFill>
                <a:srgbClr val="000000"/>
              </a:solidFill>
              <a:effectLst/>
              <a:uFillTx/>
              <a:latin typeface="Arial"/>
            </a:endParaRPr>
          </a:p>
          <a:p>
            <a:pPr defTabSz="457200">
              <a:lnSpc>
                <a:spcPts val="1848"/>
              </a:lnSpc>
            </a:pPr>
            <a:r>
              <a:rPr lang="en-US" sz="1400" b="1" u="none" strike="noStrike">
                <a:solidFill>
                  <a:srgbClr val="000000"/>
                </a:solidFill>
                <a:effectLst/>
                <a:uFillTx/>
                <a:latin typeface="Arial"/>
              </a:rPr>
              <a:t>Purpose: </a:t>
            </a:r>
            <a:r>
              <a:rPr lang="en-US" sz="1400" b="0" u="none" strike="noStrike">
                <a:solidFill>
                  <a:srgbClr val="000000"/>
                </a:solidFill>
                <a:effectLst/>
                <a:uFillTx/>
                <a:latin typeface="Arial"/>
              </a:rPr>
              <a:t>List the external systems your agent uses — APIs, data sources, models, or libraries.</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When:</a:t>
            </a:r>
            <a:r>
              <a:rPr lang="en-US" sz="1400" b="0" u="none" strike="noStrike">
                <a:solidFill>
                  <a:srgbClr val="000000"/>
                </a:solidFill>
                <a:effectLst/>
                <a:uFillTx/>
                <a:latin typeface="Arial"/>
              </a:rPr>
              <a:t> By week 4-5</a:t>
            </a:r>
            <a:endParaRPr lang="en-US" sz="1400" b="0" u="none" strike="noStrike">
              <a:solidFill>
                <a:srgbClr val="000000"/>
              </a:solidFill>
              <a:effectLst/>
              <a:uFillTx/>
              <a:latin typeface="Arial"/>
            </a:endParaRPr>
          </a:p>
        </p:txBody>
      </p:sp>
      <p:sp>
        <p:nvSpPr>
          <p:cNvPr id="872" name="Rectangle 3"/>
          <p:cNvSpPr/>
          <p:nvPr/>
        </p:nvSpPr>
        <p:spPr>
          <a:xfrm>
            <a:off x="287280" y="1767240"/>
            <a:ext cx="1773000" cy="50220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73" name="Rectangle 4"/>
          <p:cNvSpPr/>
          <p:nvPr/>
        </p:nvSpPr>
        <p:spPr>
          <a:xfrm>
            <a:off x="2061000" y="1767240"/>
            <a:ext cx="3814560" cy="50220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74" name="Rectangle 5"/>
          <p:cNvSpPr/>
          <p:nvPr/>
        </p:nvSpPr>
        <p:spPr>
          <a:xfrm>
            <a:off x="5876280" y="1767240"/>
            <a:ext cx="2793600" cy="50220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75" name="Rectangle 6"/>
          <p:cNvSpPr/>
          <p:nvPr/>
        </p:nvSpPr>
        <p:spPr>
          <a:xfrm>
            <a:off x="8670600" y="1767240"/>
            <a:ext cx="2793600" cy="50220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76" name="Rectangle 7"/>
          <p:cNvSpPr/>
          <p:nvPr/>
        </p:nvSpPr>
        <p:spPr>
          <a:xfrm>
            <a:off x="287280" y="2270160"/>
            <a:ext cx="17730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77" name="Rectangle 8"/>
          <p:cNvSpPr/>
          <p:nvPr/>
        </p:nvSpPr>
        <p:spPr>
          <a:xfrm>
            <a:off x="2061000" y="2270160"/>
            <a:ext cx="381456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78" name="Rectangle 9"/>
          <p:cNvSpPr/>
          <p:nvPr/>
        </p:nvSpPr>
        <p:spPr>
          <a:xfrm>
            <a:off x="5876280" y="227016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79" name="Rectangle 10"/>
          <p:cNvSpPr/>
          <p:nvPr/>
        </p:nvSpPr>
        <p:spPr>
          <a:xfrm>
            <a:off x="8670600" y="227016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80" name="Rectangle 11"/>
          <p:cNvSpPr/>
          <p:nvPr/>
        </p:nvSpPr>
        <p:spPr>
          <a:xfrm>
            <a:off x="287280" y="2468160"/>
            <a:ext cx="17730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81" name="Rectangle 12"/>
          <p:cNvSpPr/>
          <p:nvPr/>
        </p:nvSpPr>
        <p:spPr>
          <a:xfrm>
            <a:off x="2061000" y="2468160"/>
            <a:ext cx="381456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82" name="Rectangle 13"/>
          <p:cNvSpPr/>
          <p:nvPr/>
        </p:nvSpPr>
        <p:spPr>
          <a:xfrm>
            <a:off x="5876280" y="246816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83" name="Rectangle 14"/>
          <p:cNvSpPr/>
          <p:nvPr/>
        </p:nvSpPr>
        <p:spPr>
          <a:xfrm>
            <a:off x="8670600" y="246816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84" name="Rectangle 15"/>
          <p:cNvSpPr/>
          <p:nvPr/>
        </p:nvSpPr>
        <p:spPr>
          <a:xfrm>
            <a:off x="287280" y="2666160"/>
            <a:ext cx="17730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85" name="Rectangle 16"/>
          <p:cNvSpPr/>
          <p:nvPr/>
        </p:nvSpPr>
        <p:spPr>
          <a:xfrm>
            <a:off x="2061000" y="2666160"/>
            <a:ext cx="381456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86" name="Rectangle 17"/>
          <p:cNvSpPr/>
          <p:nvPr/>
        </p:nvSpPr>
        <p:spPr>
          <a:xfrm>
            <a:off x="5876280" y="266616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87" name="Rectangle 18"/>
          <p:cNvSpPr/>
          <p:nvPr/>
        </p:nvSpPr>
        <p:spPr>
          <a:xfrm>
            <a:off x="8670600" y="266616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88" name="Rectangle 19"/>
          <p:cNvSpPr/>
          <p:nvPr/>
        </p:nvSpPr>
        <p:spPr>
          <a:xfrm>
            <a:off x="287280" y="2864160"/>
            <a:ext cx="17730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89" name="Rectangle 20"/>
          <p:cNvSpPr/>
          <p:nvPr/>
        </p:nvSpPr>
        <p:spPr>
          <a:xfrm>
            <a:off x="2061000" y="2864160"/>
            <a:ext cx="381456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90" name="Rectangle 21"/>
          <p:cNvSpPr/>
          <p:nvPr/>
        </p:nvSpPr>
        <p:spPr>
          <a:xfrm>
            <a:off x="5876280" y="286416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91" name="Rectangle 22"/>
          <p:cNvSpPr/>
          <p:nvPr/>
        </p:nvSpPr>
        <p:spPr>
          <a:xfrm>
            <a:off x="8670600" y="286416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92" name="Rectangle 23"/>
          <p:cNvSpPr/>
          <p:nvPr/>
        </p:nvSpPr>
        <p:spPr>
          <a:xfrm>
            <a:off x="287280" y="3062520"/>
            <a:ext cx="17730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93" name="Rectangle 24"/>
          <p:cNvSpPr/>
          <p:nvPr/>
        </p:nvSpPr>
        <p:spPr>
          <a:xfrm>
            <a:off x="2061000" y="3062520"/>
            <a:ext cx="381456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94" name="Rectangle 25"/>
          <p:cNvSpPr/>
          <p:nvPr/>
        </p:nvSpPr>
        <p:spPr>
          <a:xfrm>
            <a:off x="5876280" y="306252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895" name="Rectangle 26"/>
          <p:cNvSpPr/>
          <p:nvPr/>
        </p:nvSpPr>
        <p:spPr>
          <a:xfrm>
            <a:off x="8670600" y="3062520"/>
            <a:ext cx="2793600" cy="197280"/>
          </a:xfrm>
          <a:prstGeom prst="rect">
            <a:avLst/>
          </a:prstGeom>
          <a:solidFill>
            <a:srgbClr val="FFFFFF"/>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cxnSp>
        <p:nvCxnSpPr>
          <p:cNvPr id="896" name="Connector 27"/>
          <p:cNvCxnSpPr/>
          <p:nvPr/>
        </p:nvCxnSpPr>
        <p:spPr>
          <a:xfrm>
            <a:off x="2061000" y="1764000"/>
            <a:ext cx="720" cy="1500120"/>
          </a:xfrm>
          <a:prstGeom prst="straightConnector1">
            <a:avLst/>
          </a:prstGeom>
          <a:ln w="6349">
            <a:solidFill>
              <a:srgbClr val="000000"/>
            </a:solidFill>
            <a:round/>
          </a:ln>
        </p:spPr>
      </p:cxnSp>
      <p:cxnSp>
        <p:nvCxnSpPr>
          <p:cNvPr id="897" name="Connector 28"/>
          <p:cNvCxnSpPr/>
          <p:nvPr/>
        </p:nvCxnSpPr>
        <p:spPr>
          <a:xfrm>
            <a:off x="5875920" y="1764000"/>
            <a:ext cx="720" cy="1500120"/>
          </a:xfrm>
          <a:prstGeom prst="straightConnector1">
            <a:avLst/>
          </a:prstGeom>
          <a:ln w="6349">
            <a:solidFill>
              <a:srgbClr val="000000"/>
            </a:solidFill>
            <a:round/>
          </a:ln>
        </p:spPr>
      </p:cxnSp>
      <p:cxnSp>
        <p:nvCxnSpPr>
          <p:cNvPr id="898" name="Connector 29"/>
          <p:cNvCxnSpPr/>
          <p:nvPr/>
        </p:nvCxnSpPr>
        <p:spPr>
          <a:xfrm>
            <a:off x="8670600" y="1764000"/>
            <a:ext cx="720" cy="1500120"/>
          </a:xfrm>
          <a:prstGeom prst="straightConnector1">
            <a:avLst/>
          </a:prstGeom>
          <a:ln w="6349">
            <a:solidFill>
              <a:srgbClr val="000000"/>
            </a:solidFill>
            <a:round/>
          </a:ln>
        </p:spPr>
      </p:cxnSp>
      <p:cxnSp>
        <p:nvCxnSpPr>
          <p:cNvPr id="899" name="Connector 30"/>
          <p:cNvCxnSpPr/>
          <p:nvPr/>
        </p:nvCxnSpPr>
        <p:spPr>
          <a:xfrm>
            <a:off x="284040" y="2269800"/>
            <a:ext cx="11184840" cy="720"/>
          </a:xfrm>
          <a:prstGeom prst="straightConnector1">
            <a:avLst/>
          </a:prstGeom>
          <a:ln w="6349">
            <a:solidFill>
              <a:srgbClr val="000000"/>
            </a:solidFill>
            <a:round/>
          </a:ln>
        </p:spPr>
      </p:cxnSp>
      <p:cxnSp>
        <p:nvCxnSpPr>
          <p:cNvPr id="900" name="Connector 31"/>
          <p:cNvCxnSpPr/>
          <p:nvPr/>
        </p:nvCxnSpPr>
        <p:spPr>
          <a:xfrm>
            <a:off x="284040" y="2467800"/>
            <a:ext cx="11184840" cy="720"/>
          </a:xfrm>
          <a:prstGeom prst="straightConnector1">
            <a:avLst/>
          </a:prstGeom>
          <a:ln w="6349">
            <a:solidFill>
              <a:srgbClr val="000000"/>
            </a:solidFill>
            <a:round/>
          </a:ln>
        </p:spPr>
      </p:cxnSp>
      <p:cxnSp>
        <p:nvCxnSpPr>
          <p:cNvPr id="901" name="Connector 32"/>
          <p:cNvCxnSpPr/>
          <p:nvPr/>
        </p:nvCxnSpPr>
        <p:spPr>
          <a:xfrm>
            <a:off x="284040" y="2666160"/>
            <a:ext cx="11184840" cy="720"/>
          </a:xfrm>
          <a:prstGeom prst="straightConnector1">
            <a:avLst/>
          </a:prstGeom>
          <a:ln w="6349">
            <a:solidFill>
              <a:srgbClr val="000000"/>
            </a:solidFill>
            <a:round/>
          </a:ln>
        </p:spPr>
      </p:cxnSp>
      <p:cxnSp>
        <p:nvCxnSpPr>
          <p:cNvPr id="902" name="Connector 33"/>
          <p:cNvCxnSpPr/>
          <p:nvPr/>
        </p:nvCxnSpPr>
        <p:spPr>
          <a:xfrm>
            <a:off x="284040" y="2864160"/>
            <a:ext cx="11184840" cy="720"/>
          </a:xfrm>
          <a:prstGeom prst="straightConnector1">
            <a:avLst/>
          </a:prstGeom>
          <a:ln w="6349">
            <a:solidFill>
              <a:srgbClr val="000000"/>
            </a:solidFill>
            <a:round/>
          </a:ln>
        </p:spPr>
      </p:cxnSp>
      <p:cxnSp>
        <p:nvCxnSpPr>
          <p:cNvPr id="903" name="Connector 34"/>
          <p:cNvCxnSpPr/>
          <p:nvPr/>
        </p:nvCxnSpPr>
        <p:spPr>
          <a:xfrm>
            <a:off x="284040" y="3062160"/>
            <a:ext cx="11184840" cy="720"/>
          </a:xfrm>
          <a:prstGeom prst="straightConnector1">
            <a:avLst/>
          </a:prstGeom>
          <a:ln w="6349">
            <a:solidFill>
              <a:srgbClr val="000000"/>
            </a:solidFill>
            <a:round/>
          </a:ln>
        </p:spPr>
      </p:cxnSp>
      <p:cxnSp>
        <p:nvCxnSpPr>
          <p:cNvPr id="904" name="Connector 35"/>
          <p:cNvCxnSpPr/>
          <p:nvPr/>
        </p:nvCxnSpPr>
        <p:spPr>
          <a:xfrm>
            <a:off x="287280" y="1764000"/>
            <a:ext cx="720" cy="1500120"/>
          </a:xfrm>
          <a:prstGeom prst="straightConnector1">
            <a:avLst/>
          </a:prstGeom>
          <a:ln w="6349">
            <a:solidFill>
              <a:srgbClr val="000000"/>
            </a:solidFill>
            <a:round/>
          </a:ln>
        </p:spPr>
      </p:cxnSp>
      <p:cxnSp>
        <p:nvCxnSpPr>
          <p:cNvPr id="905" name="Connector 36"/>
          <p:cNvCxnSpPr/>
          <p:nvPr/>
        </p:nvCxnSpPr>
        <p:spPr>
          <a:xfrm>
            <a:off x="11464920" y="1764000"/>
            <a:ext cx="720" cy="1500120"/>
          </a:xfrm>
          <a:prstGeom prst="straightConnector1">
            <a:avLst/>
          </a:prstGeom>
          <a:ln w="6349">
            <a:solidFill>
              <a:srgbClr val="000000"/>
            </a:solidFill>
            <a:round/>
          </a:ln>
        </p:spPr>
      </p:cxnSp>
      <p:cxnSp>
        <p:nvCxnSpPr>
          <p:cNvPr id="906" name="Connector 37"/>
          <p:cNvCxnSpPr/>
          <p:nvPr/>
        </p:nvCxnSpPr>
        <p:spPr>
          <a:xfrm>
            <a:off x="284040" y="1766880"/>
            <a:ext cx="11184840" cy="720"/>
          </a:xfrm>
          <a:prstGeom prst="straightConnector1">
            <a:avLst/>
          </a:prstGeom>
          <a:ln w="6349">
            <a:solidFill>
              <a:srgbClr val="000000"/>
            </a:solidFill>
            <a:round/>
          </a:ln>
        </p:spPr>
      </p:cxnSp>
      <p:cxnSp>
        <p:nvCxnSpPr>
          <p:cNvPr id="907" name="Connector 38"/>
          <p:cNvCxnSpPr/>
          <p:nvPr/>
        </p:nvCxnSpPr>
        <p:spPr>
          <a:xfrm>
            <a:off x="284040" y="3260160"/>
            <a:ext cx="11184840" cy="720"/>
          </a:xfrm>
          <a:prstGeom prst="straightConnector1">
            <a:avLst/>
          </a:prstGeom>
          <a:ln w="6349">
            <a:solidFill>
              <a:srgbClr val="000000"/>
            </a:solidFill>
            <a:round/>
          </a:ln>
        </p:spPr>
      </p:cxnSp>
      <p:sp>
        <p:nvSpPr>
          <p:cNvPr id="908" name="TextBox 39"/>
          <p:cNvSpPr/>
          <p:nvPr/>
        </p:nvSpPr>
        <p:spPr>
          <a:xfrm>
            <a:off x="333000" y="1798560"/>
            <a:ext cx="80064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Tool/Service</a:t>
            </a:r>
            <a:endParaRPr lang="en-US" sz="1000" b="0" u="none" strike="noStrike">
              <a:solidFill>
                <a:srgbClr val="000000"/>
              </a:solidFill>
              <a:effectLst/>
              <a:uFillTx/>
              <a:latin typeface="Arial"/>
            </a:endParaRPr>
          </a:p>
        </p:txBody>
      </p:sp>
      <p:sp>
        <p:nvSpPr>
          <p:cNvPr id="909" name="TextBox 40"/>
          <p:cNvSpPr/>
          <p:nvPr/>
        </p:nvSpPr>
        <p:spPr>
          <a:xfrm>
            <a:off x="2106720" y="1798560"/>
            <a:ext cx="55656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Used for</a:t>
            </a:r>
            <a:endParaRPr lang="en-US" sz="1000" b="0" u="none" strike="noStrike">
              <a:solidFill>
                <a:srgbClr val="000000"/>
              </a:solidFill>
              <a:effectLst/>
              <a:uFillTx/>
              <a:latin typeface="Arial"/>
            </a:endParaRPr>
          </a:p>
        </p:txBody>
      </p:sp>
      <p:sp>
        <p:nvSpPr>
          <p:cNvPr id="910" name="TextBox 41"/>
          <p:cNvSpPr/>
          <p:nvPr/>
        </p:nvSpPr>
        <p:spPr>
          <a:xfrm>
            <a:off x="5922360" y="1798560"/>
            <a:ext cx="10357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Integration Type</a:t>
            </a:r>
            <a:endParaRPr lang="en-US" sz="1000" b="0" u="none" strike="noStrike">
              <a:solidFill>
                <a:srgbClr val="000000"/>
              </a:solidFill>
              <a:effectLst/>
              <a:uFillTx/>
              <a:latin typeface="Arial"/>
            </a:endParaRPr>
          </a:p>
        </p:txBody>
      </p:sp>
      <p:sp>
        <p:nvSpPr>
          <p:cNvPr id="911" name="TextBox 42"/>
          <p:cNvSpPr/>
          <p:nvPr/>
        </p:nvSpPr>
        <p:spPr>
          <a:xfrm>
            <a:off x="8716680" y="1798560"/>
            <a:ext cx="162216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Executables vs autonomy</a:t>
            </a:r>
            <a:endParaRPr lang="en-US" sz="1000" b="0" u="none" strike="noStrike">
              <a:solidFill>
                <a:srgbClr val="000000"/>
              </a:solidFill>
              <a:effectLst/>
              <a:uFillTx/>
              <a:latin typeface="Arial"/>
            </a:endParaRPr>
          </a:p>
        </p:txBody>
      </p:sp>
      <p:sp>
        <p:nvSpPr>
          <p:cNvPr id="912" name="TextBox 43"/>
          <p:cNvSpPr/>
          <p:nvPr/>
        </p:nvSpPr>
        <p:spPr>
          <a:xfrm>
            <a:off x="8716680" y="1950840"/>
            <a:ext cx="183708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Invoked by agents or workflows</a:t>
            </a:r>
            <a:endParaRPr lang="en-US" sz="1000" b="0" u="none" strike="noStrike">
              <a:solidFill>
                <a:srgbClr val="000000"/>
              </a:solidFill>
              <a:effectLst/>
              <a:uFillTx/>
              <a:latin typeface="Arial"/>
            </a:endParaRPr>
          </a:p>
        </p:txBody>
      </p:sp>
      <p:sp>
        <p:nvSpPr>
          <p:cNvPr id="913" name="TextBox 44"/>
          <p:cNvSpPr/>
          <p:nvPr/>
        </p:nvSpPr>
        <p:spPr>
          <a:xfrm>
            <a:off x="8716680" y="2103480"/>
            <a:ext cx="2217600" cy="14076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Automated action or user-verified step</a:t>
            </a:r>
            <a:endParaRPr lang="en-US" sz="1000" b="0" u="none" strike="noStrike">
              <a:solidFill>
                <a:srgbClr val="000000"/>
              </a:solidFill>
              <a:effectLst/>
              <a:uFillTx/>
              <a:latin typeface="Arial"/>
            </a:endParaRPr>
          </a:p>
        </p:txBody>
      </p:sp>
      <p:sp>
        <p:nvSpPr>
          <p:cNvPr id="914" name="TextBox 45"/>
          <p:cNvSpPr/>
          <p:nvPr/>
        </p:nvSpPr>
        <p:spPr>
          <a:xfrm>
            <a:off x="333000" y="2301480"/>
            <a:ext cx="83556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e.g., Chat API</a:t>
            </a:r>
            <a:endParaRPr lang="en-US" sz="1000" b="0" u="none" strike="noStrike">
              <a:solidFill>
                <a:srgbClr val="000000"/>
              </a:solidFill>
              <a:effectLst/>
              <a:uFillTx/>
              <a:latin typeface="Arial"/>
            </a:endParaRPr>
          </a:p>
        </p:txBody>
      </p:sp>
      <p:sp>
        <p:nvSpPr>
          <p:cNvPr id="915" name="TextBox 46"/>
          <p:cNvSpPr/>
          <p:nvPr/>
        </p:nvSpPr>
        <p:spPr>
          <a:xfrm>
            <a:off x="2106720" y="2301480"/>
            <a:ext cx="171756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Natural language interactions</a:t>
            </a:r>
            <a:endParaRPr lang="en-US" sz="1000" b="0" u="none" strike="noStrike">
              <a:solidFill>
                <a:srgbClr val="000000"/>
              </a:solidFill>
              <a:effectLst/>
              <a:uFillTx/>
              <a:latin typeface="Arial"/>
            </a:endParaRPr>
          </a:p>
        </p:txBody>
      </p:sp>
      <p:sp>
        <p:nvSpPr>
          <p:cNvPr id="916" name="TextBox 47"/>
          <p:cNvSpPr/>
          <p:nvPr/>
        </p:nvSpPr>
        <p:spPr>
          <a:xfrm>
            <a:off x="5922360" y="2301480"/>
            <a:ext cx="62208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REST API</a:t>
            </a:r>
            <a:endParaRPr lang="en-US" sz="1000" b="0" u="none" strike="noStrike">
              <a:solidFill>
                <a:srgbClr val="000000"/>
              </a:solidFill>
              <a:effectLst/>
              <a:uFillTx/>
              <a:latin typeface="Arial"/>
            </a:endParaRPr>
          </a:p>
        </p:txBody>
      </p:sp>
      <p:sp>
        <p:nvSpPr>
          <p:cNvPr id="917" name="TextBox 48"/>
          <p:cNvSpPr/>
          <p:nvPr/>
        </p:nvSpPr>
        <p:spPr>
          <a:xfrm>
            <a:off x="333000" y="2499480"/>
            <a:ext cx="58716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Database</a:t>
            </a:r>
            <a:endParaRPr lang="en-US" sz="1000" b="0" u="none" strike="noStrike">
              <a:solidFill>
                <a:srgbClr val="000000"/>
              </a:solidFill>
              <a:effectLst/>
              <a:uFillTx/>
              <a:latin typeface="Arial"/>
            </a:endParaRPr>
          </a:p>
        </p:txBody>
      </p:sp>
      <p:sp>
        <p:nvSpPr>
          <p:cNvPr id="918" name="TextBox 49"/>
          <p:cNvSpPr/>
          <p:nvPr/>
        </p:nvSpPr>
        <p:spPr>
          <a:xfrm>
            <a:off x="2106720" y="2499480"/>
            <a:ext cx="153468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Store &amp; retrieve memories</a:t>
            </a:r>
            <a:endParaRPr lang="en-US" sz="1000" b="0" u="none" strike="noStrike">
              <a:solidFill>
                <a:srgbClr val="000000"/>
              </a:solidFill>
              <a:effectLst/>
              <a:uFillTx/>
              <a:latin typeface="Arial"/>
            </a:endParaRPr>
          </a:p>
        </p:txBody>
      </p:sp>
      <p:sp>
        <p:nvSpPr>
          <p:cNvPr id="919" name="TextBox 50"/>
          <p:cNvSpPr/>
          <p:nvPr/>
        </p:nvSpPr>
        <p:spPr>
          <a:xfrm>
            <a:off x="5922360" y="2499480"/>
            <a:ext cx="91548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SQL/Vector DB</a:t>
            </a:r>
            <a:endParaRPr lang="en-US" sz="1000" b="0" u="none" strike="noStrike">
              <a:solidFill>
                <a:srgbClr val="000000"/>
              </a:solidFill>
              <a:effectLst/>
              <a:uFillTx/>
              <a:latin typeface="Arial"/>
            </a:endParaRPr>
          </a:p>
        </p:txBody>
      </p:sp>
      <p:sp>
        <p:nvSpPr>
          <p:cNvPr id="920" name="TextBox 51"/>
          <p:cNvSpPr/>
          <p:nvPr/>
        </p:nvSpPr>
        <p:spPr>
          <a:xfrm>
            <a:off x="333000" y="2697840"/>
            <a:ext cx="16092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u="none" strike="noStrike">
                <a:solidFill>
                  <a:srgbClr val="000000"/>
                </a:solidFill>
                <a:effectLst/>
                <a:uFillTx/>
                <a:latin typeface="Arial"/>
              </a:rPr>
              <a:t>…</a:t>
            </a:r>
            <a:endParaRPr lang="en-US" sz="1000" b="0" u="none" strike="noStrike">
              <a:solidFill>
                <a:srgbClr val="000000"/>
              </a:solidFill>
              <a:effectLst/>
              <a:uFillTx/>
              <a:latin typeface="Arial"/>
            </a:endParaRPr>
          </a:p>
        </p:txBody>
      </p:sp>
      <p:sp>
        <p:nvSpPr>
          <p:cNvPr id="921" name="TextBox 52"/>
          <p:cNvSpPr/>
          <p:nvPr/>
        </p:nvSpPr>
        <p:spPr>
          <a:xfrm>
            <a:off x="333000" y="1488960"/>
            <a:ext cx="144720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Tools List &amp; Purpose</a:t>
            </a:r>
            <a:endParaRPr lang="en-US" sz="1200" b="0" u="none" strike="noStrike">
              <a:solidFill>
                <a:srgbClr val="000000"/>
              </a:solidFill>
              <a:effectLst/>
              <a:uFillTx/>
              <a:latin typeface="Arial"/>
            </a:endParaRPr>
          </a:p>
        </p:txBody>
      </p:sp>
      <p:sp>
        <p:nvSpPr>
          <p:cNvPr id="922" name="TextBox 53"/>
          <p:cNvSpPr/>
          <p:nvPr/>
        </p:nvSpPr>
        <p:spPr>
          <a:xfrm>
            <a:off x="333000" y="3727800"/>
            <a:ext cx="4589640" cy="32148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Notes on Constraints</a:t>
            </a:r>
            <a:endParaRPr lang="en-US" sz="1200" b="0" u="none" strike="noStrike">
              <a:solidFill>
                <a:srgbClr val="000000"/>
              </a:solidFill>
              <a:effectLst/>
              <a:uFillTx/>
              <a:latin typeface="Arial"/>
            </a:endParaRPr>
          </a:p>
          <a:p>
            <a:pPr defTabSz="457200">
              <a:lnSpc>
                <a:spcPts val="1151"/>
              </a:lnSpc>
              <a:spcBef>
                <a:spcPts val="88"/>
              </a:spcBef>
            </a:pPr>
            <a:r>
              <a:rPr lang="en-US" sz="1000" b="0" i="1" u="none" strike="noStrike">
                <a:solidFill>
                  <a:srgbClr val="000000"/>
                </a:solidFill>
                <a:effectLst/>
                <a:uFillTx/>
                <a:latin typeface="Arial"/>
              </a:rPr>
              <a:t>List the constraints of your agent – e.g., latency, quotas, security considerations</a:t>
            </a:r>
            <a:endParaRPr lang="en-US" sz="1000" b="0" u="none" strike="noStrike">
              <a:solidFill>
                <a:srgbClr val="000000"/>
              </a:solidFill>
              <a:effectLst/>
              <a:uFillTx/>
              <a:latin typeface="Arial"/>
            </a:endParaRPr>
          </a:p>
        </p:txBody>
      </p:sp>
      <p:sp>
        <p:nvSpPr>
          <p:cNvPr id="923" name="Rectangle 54"/>
          <p:cNvSpPr/>
          <p:nvPr/>
        </p:nvSpPr>
        <p:spPr>
          <a:xfrm>
            <a:off x="5849640" y="288000"/>
            <a:ext cx="174492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924" name="TextBox 55"/>
          <p:cNvSpPr/>
          <p:nvPr/>
        </p:nvSpPr>
        <p:spPr>
          <a:xfrm>
            <a:off x="5895360" y="342000"/>
            <a:ext cx="1149480" cy="29376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Key tools:</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IBM Orchestrate</a:t>
            </a:r>
            <a:endParaRPr lang="en-US" sz="1000" b="0" u="none" strike="noStrike">
              <a:solidFill>
                <a:srgbClr val="000000"/>
              </a:solidFill>
              <a:effectLst/>
              <a:uFillTx/>
              <a:latin typeface="Arial"/>
            </a:endParaRPr>
          </a:p>
        </p:txBody>
      </p:sp>
      <p:sp>
        <p:nvSpPr>
          <p:cNvPr id="925" name="Rectangle 56"/>
          <p:cNvSpPr/>
          <p:nvPr/>
        </p:nvSpPr>
        <p:spPr>
          <a:xfrm>
            <a:off x="7595280" y="288000"/>
            <a:ext cx="3869280" cy="7444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926" name="TextBox 57"/>
          <p:cNvSpPr/>
          <p:nvPr/>
        </p:nvSpPr>
        <p:spPr>
          <a:xfrm>
            <a:off x="7641360" y="342000"/>
            <a:ext cx="3828600" cy="59868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Tip:</a:t>
            </a:r>
            <a:r>
              <a:rPr lang="en-US" sz="1000" b="0" u="none" strike="noStrike">
                <a:solidFill>
                  <a:srgbClr val="000000"/>
                </a:solidFill>
                <a:effectLst/>
                <a:uFillTx/>
                <a:latin typeface="Arial"/>
              </a:rPr>
              <a:t> You can combine any supported external tool &amp; integration to create and/or enhance your agentic AI solution. Keep in mind: Are the tools necessary and justified? How does integration affect performance?</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927" name="Connector 1"/>
          <p:cNvCxnSpPr/>
          <p:nvPr/>
        </p:nvCxnSpPr>
        <p:spPr>
          <a:xfrm>
            <a:off x="284040" y="1441800"/>
            <a:ext cx="11621160" cy="720"/>
          </a:xfrm>
          <a:prstGeom prst="straightConnector1">
            <a:avLst/>
          </a:prstGeom>
          <a:ln w="6349">
            <a:solidFill>
              <a:srgbClr val="000000"/>
            </a:solidFill>
            <a:round/>
          </a:ln>
        </p:spPr>
      </p:cxnSp>
      <p:cxnSp>
        <p:nvCxnSpPr>
          <p:cNvPr id="928" name="Connector 2"/>
          <p:cNvCxnSpPr/>
          <p:nvPr/>
        </p:nvCxnSpPr>
        <p:spPr>
          <a:xfrm>
            <a:off x="3047400" y="1441800"/>
            <a:ext cx="720" cy="4479480"/>
          </a:xfrm>
          <a:prstGeom prst="straightConnector1">
            <a:avLst/>
          </a:prstGeom>
          <a:ln w="6349">
            <a:solidFill>
              <a:srgbClr val="000000"/>
            </a:solidFill>
            <a:round/>
          </a:ln>
        </p:spPr>
      </p:cxnSp>
      <p:cxnSp>
        <p:nvCxnSpPr>
          <p:cNvPr id="929" name="Connector 3"/>
          <p:cNvCxnSpPr/>
          <p:nvPr/>
        </p:nvCxnSpPr>
        <p:spPr>
          <a:xfrm>
            <a:off x="6093360" y="1444320"/>
            <a:ext cx="720" cy="4494600"/>
          </a:xfrm>
          <a:prstGeom prst="straightConnector1">
            <a:avLst/>
          </a:prstGeom>
          <a:ln w="6349">
            <a:solidFill>
              <a:srgbClr val="000000"/>
            </a:solidFill>
            <a:round/>
          </a:ln>
        </p:spPr>
      </p:cxnSp>
      <p:cxnSp>
        <p:nvCxnSpPr>
          <p:cNvPr id="930" name="Connector 4"/>
          <p:cNvCxnSpPr/>
          <p:nvPr/>
        </p:nvCxnSpPr>
        <p:spPr>
          <a:xfrm>
            <a:off x="9142560" y="1441800"/>
            <a:ext cx="720" cy="4477680"/>
          </a:xfrm>
          <a:prstGeom prst="straightConnector1">
            <a:avLst/>
          </a:prstGeom>
          <a:ln w="6349">
            <a:solidFill>
              <a:srgbClr val="000000"/>
            </a:solidFill>
            <a:round/>
          </a:ln>
        </p:spPr>
      </p:cxnSp>
      <p:sp>
        <p:nvSpPr>
          <p:cNvPr id="931" name="TextBox 5"/>
          <p:cNvSpPr/>
          <p:nvPr/>
        </p:nvSpPr>
        <p:spPr>
          <a:xfrm>
            <a:off x="9429120" y="1618200"/>
            <a:ext cx="138600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Risks &amp; Constraints</a:t>
            </a:r>
            <a:endParaRPr lang="en-US" sz="1200" b="0" u="none" strike="noStrike">
              <a:solidFill>
                <a:srgbClr val="000000"/>
              </a:solidFill>
              <a:effectLst/>
              <a:uFillTx/>
              <a:latin typeface="Arial"/>
            </a:endParaRPr>
          </a:p>
        </p:txBody>
      </p:sp>
      <p:sp>
        <p:nvSpPr>
          <p:cNvPr id="932" name="TextBox 6"/>
          <p:cNvSpPr/>
          <p:nvPr/>
        </p:nvSpPr>
        <p:spPr>
          <a:xfrm>
            <a:off x="9429120" y="2487600"/>
            <a:ext cx="2536560" cy="644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What to include:</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Technical risks</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Data &amp; model risks</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Autonomous vs supervised risk tradeoffs</a:t>
            </a:r>
            <a:endParaRPr lang="en-US" sz="1000" b="0" u="none" strike="noStrike">
              <a:solidFill>
                <a:srgbClr val="000000"/>
              </a:solidFill>
              <a:effectLst/>
              <a:uFillTx/>
              <a:latin typeface="Arial"/>
            </a:endParaRPr>
          </a:p>
        </p:txBody>
      </p:sp>
      <p:sp>
        <p:nvSpPr>
          <p:cNvPr id="933" name="TextBox 7"/>
          <p:cNvSpPr/>
          <p:nvPr/>
        </p:nvSpPr>
        <p:spPr>
          <a:xfrm>
            <a:off x="9429120" y="3325680"/>
            <a:ext cx="2399400" cy="308520"/>
          </a:xfrm>
          <a:prstGeom prst="rect">
            <a:avLst/>
          </a:prstGeom>
          <a:noFill/>
          <a:ln w="0">
            <a:noFill/>
          </a:ln>
        </p:spPr>
        <p:style>
          <a:lnRef idx="0"/>
          <a:fillRef idx="0"/>
          <a:effectRef idx="0"/>
          <a:fontRef idx="minor"/>
        </p:style>
        <p:txBody>
          <a:bodyPr lIns="0" tIns="0" rIns="0" bIns="0" anchor="t">
            <a:noAutofit/>
          </a:bodyPr>
          <a:p>
            <a:pPr defTabSz="457200">
              <a:lnSpc>
                <a:spcPts val="1318"/>
              </a:lnSpc>
            </a:pPr>
            <a:r>
              <a:rPr lang="en-US" sz="1000" b="0" i="1" u="none" strike="noStrike">
                <a:solidFill>
                  <a:srgbClr val="000000"/>
                </a:solidFill>
                <a:effectLst/>
                <a:uFillTx/>
                <a:latin typeface="Arial"/>
              </a:rPr>
              <a:t>Mitigation strategies: how will these risks and constrains be mitigated?</a:t>
            </a:r>
            <a:endParaRPr lang="en-US" sz="1000" b="0" u="none" strike="noStrike">
              <a:solidFill>
                <a:srgbClr val="000000"/>
              </a:solidFill>
              <a:effectLst/>
              <a:uFillTx/>
              <a:latin typeface="Arial"/>
            </a:endParaRPr>
          </a:p>
        </p:txBody>
      </p:sp>
      <p:sp>
        <p:nvSpPr>
          <p:cNvPr id="934" name="TextBox 8"/>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44</a:t>
            </a:r>
            <a:endParaRPr lang="en-US" sz="800" b="0" u="none" strike="noStrike">
              <a:solidFill>
                <a:srgbClr val="000000"/>
              </a:solidFill>
              <a:effectLst/>
              <a:uFillTx/>
              <a:latin typeface="Arial"/>
            </a:endParaRPr>
          </a:p>
        </p:txBody>
      </p:sp>
      <p:sp>
        <p:nvSpPr>
          <p:cNvPr id="935" name="TextBox 9"/>
          <p:cNvSpPr/>
          <p:nvPr/>
        </p:nvSpPr>
        <p:spPr>
          <a:xfrm>
            <a:off x="313920" y="239400"/>
            <a:ext cx="4522320" cy="10504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i="1" u="none" strike="noStrike">
                <a:solidFill>
                  <a:srgbClr val="000000"/>
                </a:solidFill>
                <a:effectLst/>
                <a:uFillTx/>
                <a:latin typeface="Arial"/>
              </a:rPr>
              <a:t>Optional </a:t>
            </a:r>
            <a:endParaRPr lang="en-US" sz="1400" b="0" u="none" strike="noStrike">
              <a:solidFill>
                <a:srgbClr val="000000"/>
              </a:solidFill>
              <a:effectLst/>
              <a:uFillTx/>
              <a:latin typeface="Arial"/>
            </a:endParaRPr>
          </a:p>
          <a:p>
            <a:pPr defTabSz="457200">
              <a:lnSpc>
                <a:spcPts val="1607"/>
              </a:lnSpc>
              <a:spcBef>
                <a:spcPts val="71"/>
              </a:spcBef>
            </a:pPr>
            <a:r>
              <a:rPr lang="en-US" sz="1400" b="1" u="none" strike="noStrike">
                <a:solidFill>
                  <a:srgbClr val="000000"/>
                </a:solidFill>
                <a:effectLst/>
                <a:uFillTx/>
                <a:latin typeface="Arial"/>
              </a:rPr>
              <a:t>Intelligence &amp; Reasoning Design</a:t>
            </a:r>
            <a:endParaRPr lang="en-US" sz="1400" b="0" u="none" strike="noStrike">
              <a:solidFill>
                <a:srgbClr val="000000"/>
              </a:solidFill>
              <a:effectLst/>
              <a:uFillTx/>
              <a:latin typeface="Arial"/>
            </a:endParaRPr>
          </a:p>
          <a:p>
            <a:pPr defTabSz="457200">
              <a:lnSpc>
                <a:spcPts val="1678"/>
              </a:lnSpc>
            </a:pPr>
            <a:r>
              <a:rPr lang="en-US" sz="1400" b="1" u="none" strike="noStrike">
                <a:solidFill>
                  <a:srgbClr val="000000"/>
                </a:solidFill>
                <a:effectLst/>
                <a:uFillTx/>
                <a:latin typeface="Arial"/>
              </a:rPr>
              <a:t>Purpose:</a:t>
            </a:r>
            <a:r>
              <a:rPr lang="en-US" sz="1400" b="0" u="none" strike="noStrike">
                <a:solidFill>
                  <a:srgbClr val="000000"/>
                </a:solidFill>
                <a:effectLst/>
                <a:uFillTx/>
                <a:latin typeface="Arial"/>
              </a:rPr>
              <a:t> Define the technical depth – the brains of the agent apart from just architecture and workflow.</a:t>
            </a:r>
            <a:endParaRPr lang="en-US" sz="1400" b="0" u="none" strike="noStrike">
              <a:solidFill>
                <a:srgbClr val="000000"/>
              </a:solidFill>
              <a:effectLst/>
              <a:uFillTx/>
              <a:latin typeface="Arial"/>
            </a:endParaRPr>
          </a:p>
          <a:p>
            <a:pPr defTabSz="457200">
              <a:lnSpc>
                <a:spcPts val="1607"/>
              </a:lnSpc>
              <a:spcBef>
                <a:spcPts val="71"/>
              </a:spcBef>
            </a:pPr>
            <a:r>
              <a:rPr lang="en-US" sz="1400" b="1" u="none" strike="noStrike">
                <a:solidFill>
                  <a:srgbClr val="000000"/>
                </a:solidFill>
                <a:effectLst/>
                <a:uFillTx/>
                <a:latin typeface="Arial"/>
              </a:rPr>
              <a:t>When:</a:t>
            </a:r>
            <a:r>
              <a:rPr lang="en-US" sz="1400" b="0" u="none" strike="noStrike">
                <a:solidFill>
                  <a:srgbClr val="000000"/>
                </a:solidFill>
                <a:effectLst/>
                <a:uFillTx/>
                <a:latin typeface="Arial"/>
              </a:rPr>
              <a:t> By week 5</a:t>
            </a:r>
            <a:endParaRPr lang="en-US" sz="1400" b="0" u="none" strike="noStrike">
              <a:solidFill>
                <a:srgbClr val="000000"/>
              </a:solidFill>
              <a:effectLst/>
              <a:uFillTx/>
              <a:latin typeface="Arial"/>
            </a:endParaRPr>
          </a:p>
        </p:txBody>
      </p:sp>
      <p:sp>
        <p:nvSpPr>
          <p:cNvPr id="936" name="TextBox 10"/>
          <p:cNvSpPr/>
          <p:nvPr/>
        </p:nvSpPr>
        <p:spPr>
          <a:xfrm>
            <a:off x="290520" y="1618200"/>
            <a:ext cx="16034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Knowledge &amp; Retrieval</a:t>
            </a:r>
            <a:endParaRPr lang="en-US" sz="1200" b="0" u="none" strike="noStrike">
              <a:solidFill>
                <a:srgbClr val="000000"/>
              </a:solidFill>
              <a:effectLst/>
              <a:uFillTx/>
              <a:latin typeface="Arial"/>
            </a:endParaRPr>
          </a:p>
        </p:txBody>
      </p:sp>
      <p:sp>
        <p:nvSpPr>
          <p:cNvPr id="937" name="TextBox 11"/>
          <p:cNvSpPr/>
          <p:nvPr/>
        </p:nvSpPr>
        <p:spPr>
          <a:xfrm>
            <a:off x="290520" y="2487600"/>
            <a:ext cx="2378160" cy="47628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318"/>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What the agent needs to know (docs, policies, historical data)</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RAG strategy</a:t>
            </a:r>
            <a:endParaRPr lang="en-US" sz="1000" b="0" u="none" strike="noStrike">
              <a:solidFill>
                <a:srgbClr val="000000"/>
              </a:solidFill>
              <a:effectLst/>
              <a:uFillTx/>
              <a:latin typeface="Arial"/>
            </a:endParaRPr>
          </a:p>
        </p:txBody>
      </p:sp>
      <p:sp>
        <p:nvSpPr>
          <p:cNvPr id="938" name="TextBox 12"/>
          <p:cNvSpPr/>
          <p:nvPr/>
        </p:nvSpPr>
        <p:spPr>
          <a:xfrm>
            <a:off x="519120" y="2990520"/>
            <a:ext cx="1976400" cy="47628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Source type (DBs, files, APIs)</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Retrieval logic</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Freshness &amp; accuracy controls</a:t>
            </a:r>
            <a:endParaRPr lang="en-US" sz="1000" b="0" u="none" strike="noStrike">
              <a:solidFill>
                <a:srgbClr val="000000"/>
              </a:solidFill>
              <a:effectLst/>
              <a:uFillTx/>
              <a:latin typeface="Arial"/>
            </a:endParaRPr>
          </a:p>
        </p:txBody>
      </p:sp>
      <p:sp>
        <p:nvSpPr>
          <p:cNvPr id="939" name="TextBox 13"/>
          <p:cNvSpPr/>
          <p:nvPr/>
        </p:nvSpPr>
        <p:spPr>
          <a:xfrm>
            <a:off x="3338280" y="1618920"/>
            <a:ext cx="163764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Reasoning &amp; Decisions</a:t>
            </a:r>
            <a:endParaRPr lang="en-US" sz="1200" b="0" u="none" strike="noStrike">
              <a:solidFill>
                <a:srgbClr val="000000"/>
              </a:solidFill>
              <a:effectLst/>
              <a:uFillTx/>
              <a:latin typeface="Arial"/>
            </a:endParaRPr>
          </a:p>
        </p:txBody>
      </p:sp>
      <p:sp>
        <p:nvSpPr>
          <p:cNvPr id="940" name="TextBox 14"/>
          <p:cNvSpPr/>
          <p:nvPr/>
        </p:nvSpPr>
        <p:spPr>
          <a:xfrm>
            <a:off x="3338280" y="2488320"/>
            <a:ext cx="1998720" cy="30888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Key decisions the agent makes</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Reasoning patterns</a:t>
            </a:r>
            <a:endParaRPr lang="en-US" sz="1000" b="0" u="none" strike="noStrike">
              <a:solidFill>
                <a:srgbClr val="000000"/>
              </a:solidFill>
              <a:effectLst/>
              <a:uFillTx/>
              <a:latin typeface="Arial"/>
            </a:endParaRPr>
          </a:p>
        </p:txBody>
      </p:sp>
      <p:sp>
        <p:nvSpPr>
          <p:cNvPr id="941" name="TextBox 15"/>
          <p:cNvSpPr/>
          <p:nvPr/>
        </p:nvSpPr>
        <p:spPr>
          <a:xfrm>
            <a:off x="3338280" y="2823480"/>
            <a:ext cx="2498760" cy="476280"/>
          </a:xfrm>
          <a:prstGeom prst="rect">
            <a:avLst/>
          </a:prstGeom>
          <a:noFill/>
          <a:ln w="0">
            <a:noFill/>
          </a:ln>
        </p:spPr>
        <p:style>
          <a:lnRef idx="0"/>
          <a:fillRef idx="0"/>
          <a:effectRef idx="0"/>
          <a:fontRef idx="minor"/>
        </p:style>
        <p:txBody>
          <a:bodyPr lIns="0" tIns="0" rIns="0" bIns="0" anchor="t">
            <a:noAutofit/>
          </a:bodyPr>
          <a:p>
            <a:pPr marL="399960" indent="-171360" defTabSz="457200">
              <a:lnSpc>
                <a:spcPts val="1318"/>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Classification, planning, evaluation, multi-step logic</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Outcome evaluation</a:t>
            </a:r>
            <a:endParaRPr lang="en-US" sz="1000" b="0" u="none" strike="noStrike">
              <a:solidFill>
                <a:srgbClr val="000000"/>
              </a:solidFill>
              <a:effectLst/>
              <a:uFillTx/>
              <a:latin typeface="Arial"/>
            </a:endParaRPr>
          </a:p>
        </p:txBody>
      </p:sp>
      <p:sp>
        <p:nvSpPr>
          <p:cNvPr id="942" name="TextBox 16"/>
          <p:cNvSpPr/>
          <p:nvPr/>
        </p:nvSpPr>
        <p:spPr>
          <a:xfrm>
            <a:off x="3566880" y="3326400"/>
            <a:ext cx="2149920" cy="30924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32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Confidence thresholds, validation logic</a:t>
            </a:r>
            <a:endParaRPr lang="en-US" sz="1000" b="0" u="none" strike="noStrike">
              <a:solidFill>
                <a:srgbClr val="000000"/>
              </a:solidFill>
              <a:effectLst/>
              <a:uFillTx/>
              <a:latin typeface="Arial"/>
            </a:endParaRPr>
          </a:p>
        </p:txBody>
      </p:sp>
      <p:sp>
        <p:nvSpPr>
          <p:cNvPr id="943" name="TextBox 17"/>
          <p:cNvSpPr/>
          <p:nvPr/>
        </p:nvSpPr>
        <p:spPr>
          <a:xfrm>
            <a:off x="6405480" y="2487600"/>
            <a:ext cx="2542320" cy="47628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Why multiple agents?</a:t>
            </a:r>
            <a:endParaRPr lang="en-US" sz="1000" b="0" u="none" strike="noStrike">
              <a:solidFill>
                <a:srgbClr val="000000"/>
              </a:solidFill>
              <a:effectLst/>
              <a:uFillTx/>
              <a:latin typeface="Arial"/>
            </a:endParaRPr>
          </a:p>
          <a:p>
            <a:pPr marL="171360" indent="-171360" defTabSz="457200">
              <a:lnSpc>
                <a:spcPts val="1318"/>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Interaction pattern: sequential / parallel / supervisory</a:t>
            </a:r>
            <a:endParaRPr lang="en-US" sz="1000" b="0" u="none" strike="noStrike">
              <a:solidFill>
                <a:srgbClr val="000000"/>
              </a:solidFill>
              <a:effectLst/>
              <a:uFillTx/>
              <a:latin typeface="Arial"/>
            </a:endParaRPr>
          </a:p>
        </p:txBody>
      </p:sp>
      <p:sp>
        <p:nvSpPr>
          <p:cNvPr id="944" name="TextBox 18"/>
          <p:cNvSpPr/>
          <p:nvPr/>
        </p:nvSpPr>
        <p:spPr>
          <a:xfrm>
            <a:off x="6405480" y="1618200"/>
            <a:ext cx="1838160" cy="16920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Multi-Agent Logic (if used)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5" name="TextBox 1"/>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45</a:t>
            </a:r>
            <a:endParaRPr lang="en-US" sz="800" b="0" u="none" strike="noStrike">
              <a:solidFill>
                <a:srgbClr val="000000"/>
              </a:solidFill>
              <a:effectLst/>
              <a:uFillTx/>
              <a:latin typeface="Arial"/>
            </a:endParaRPr>
          </a:p>
        </p:txBody>
      </p:sp>
      <p:sp>
        <p:nvSpPr>
          <p:cNvPr id="946" name="TextBox 2"/>
          <p:cNvSpPr/>
          <p:nvPr/>
        </p:nvSpPr>
        <p:spPr>
          <a:xfrm>
            <a:off x="288000" y="303120"/>
            <a:ext cx="6439320" cy="113616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1" u="none" strike="noStrike">
                <a:solidFill>
                  <a:srgbClr val="000000"/>
                </a:solidFill>
                <a:effectLst/>
                <a:uFillTx/>
                <a:latin typeface="Arial"/>
              </a:rPr>
              <a:t>Governance &amp; Ethics</a:t>
            </a:r>
            <a:endParaRPr lang="en-US" sz="1400" b="0" u="none" strike="noStrike">
              <a:solidFill>
                <a:srgbClr val="000000"/>
              </a:solidFill>
              <a:effectLst/>
              <a:uFillTx/>
              <a:latin typeface="Arial"/>
            </a:endParaRPr>
          </a:p>
          <a:p>
            <a:pPr defTabSz="457200">
              <a:lnSpc>
                <a:spcPts val="1848"/>
              </a:lnSpc>
            </a:pPr>
            <a:r>
              <a:rPr lang="en-US" sz="1400" b="1" u="none" strike="noStrike">
                <a:solidFill>
                  <a:srgbClr val="000000"/>
                </a:solidFill>
                <a:effectLst/>
                <a:uFillTx/>
                <a:latin typeface="Arial"/>
              </a:rPr>
              <a:t>Purpose: </a:t>
            </a:r>
            <a:r>
              <a:rPr lang="en-US" sz="1400" b="0" u="none" strike="noStrike">
                <a:solidFill>
                  <a:srgbClr val="000000"/>
                </a:solidFill>
                <a:effectLst/>
                <a:uFillTx/>
                <a:latin typeface="Arial"/>
              </a:rPr>
              <a:t>Explain how your AI agent is designed to behave </a:t>
            </a:r>
            <a:r>
              <a:rPr lang="en-US" sz="1400" b="0" i="1" u="none" strike="noStrike">
                <a:solidFill>
                  <a:srgbClr val="000000"/>
                </a:solidFill>
                <a:effectLst/>
                <a:uFillTx/>
                <a:latin typeface="Arial"/>
              </a:rPr>
              <a:t>safely, responsibly, ethically</a:t>
            </a:r>
            <a:r>
              <a:rPr lang="en-US" sz="1400" b="0" u="none" strike="noStrike">
                <a:solidFill>
                  <a:srgbClr val="000000"/>
                </a:solidFill>
                <a:effectLst/>
                <a:uFillTx/>
                <a:latin typeface="Arial"/>
              </a:rPr>
              <a:t> and in compliance with privacy and governance expectations. Include mechanisms that </a:t>
            </a:r>
            <a:r>
              <a:rPr lang="en-US" sz="1400" b="0" i="1" u="none" strike="noStrike">
                <a:solidFill>
                  <a:srgbClr val="000000"/>
                </a:solidFill>
                <a:effectLst/>
                <a:uFillTx/>
                <a:latin typeface="Arial"/>
              </a:rPr>
              <a:t>prevent harm</a:t>
            </a:r>
            <a:r>
              <a:rPr lang="en-US" sz="1400" b="0" u="none" strike="noStrike">
                <a:solidFill>
                  <a:srgbClr val="000000"/>
                </a:solidFill>
                <a:effectLst/>
                <a:uFillTx/>
                <a:latin typeface="Arial"/>
              </a:rPr>
              <a:t>, </a:t>
            </a:r>
            <a:r>
              <a:rPr lang="en-US" sz="1400" b="0" i="1" u="none" strike="noStrike">
                <a:solidFill>
                  <a:srgbClr val="000000"/>
                </a:solidFill>
                <a:effectLst/>
                <a:uFillTx/>
                <a:latin typeface="Arial"/>
              </a:rPr>
              <a:t>protect users</a:t>
            </a:r>
            <a:r>
              <a:rPr lang="en-US" sz="1400" b="0" u="none" strike="noStrike">
                <a:solidFill>
                  <a:srgbClr val="000000"/>
                </a:solidFill>
                <a:effectLst/>
                <a:uFillTx/>
                <a:latin typeface="Arial"/>
              </a:rPr>
              <a:t>, and </a:t>
            </a:r>
            <a:r>
              <a:rPr lang="en-US" sz="1400" b="0" i="1" u="none" strike="noStrike">
                <a:solidFill>
                  <a:srgbClr val="000000"/>
                </a:solidFill>
                <a:effectLst/>
                <a:uFillTx/>
                <a:latin typeface="Arial"/>
              </a:rPr>
              <a:t>build trust</a:t>
            </a:r>
            <a:r>
              <a:rPr lang="en-US" sz="1400" b="0" u="none" strike="noStrike">
                <a:solidFill>
                  <a:srgbClr val="000000"/>
                </a:solidFill>
                <a:effectLst/>
                <a:uFillTx/>
                <a:latin typeface="Arial"/>
              </a:rPr>
              <a:t>.</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When:</a:t>
            </a:r>
            <a:r>
              <a:rPr lang="en-US" sz="1400" b="0" u="none" strike="noStrike">
                <a:solidFill>
                  <a:srgbClr val="000000"/>
                </a:solidFill>
                <a:effectLst/>
                <a:uFillTx/>
                <a:latin typeface="Arial"/>
              </a:rPr>
              <a:t> by Week 5</a:t>
            </a:r>
            <a:endParaRPr lang="en-US" sz="1400" b="0" u="none" strike="noStrike">
              <a:solidFill>
                <a:srgbClr val="000000"/>
              </a:solidFill>
              <a:effectLst/>
              <a:uFillTx/>
              <a:latin typeface="Arial"/>
            </a:endParaRPr>
          </a:p>
        </p:txBody>
      </p:sp>
      <p:sp>
        <p:nvSpPr>
          <p:cNvPr id="947" name="TextBox 3"/>
          <p:cNvSpPr/>
          <p:nvPr/>
        </p:nvSpPr>
        <p:spPr>
          <a:xfrm>
            <a:off x="333720" y="2117160"/>
            <a:ext cx="4503960" cy="32148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Ethical Considerations</a:t>
            </a:r>
            <a:endParaRPr lang="en-US" sz="1200" b="0" u="none" strike="noStrike">
              <a:solidFill>
                <a:srgbClr val="000000"/>
              </a:solidFill>
              <a:effectLst/>
              <a:uFillTx/>
              <a:latin typeface="Arial"/>
            </a:endParaRPr>
          </a:p>
          <a:p>
            <a:pPr defTabSz="457200">
              <a:lnSpc>
                <a:spcPts val="1151"/>
              </a:lnSpc>
              <a:spcBef>
                <a:spcPts val="88"/>
              </a:spcBef>
            </a:pPr>
            <a:r>
              <a:rPr lang="en-US" sz="1000" b="0" i="1" u="none" strike="noStrike">
                <a:solidFill>
                  <a:srgbClr val="000000"/>
                </a:solidFill>
                <a:effectLst/>
                <a:uFillTx/>
                <a:latin typeface="Arial"/>
              </a:rPr>
              <a:t>Show how the agent is designed to respect rights, fairness, and human values</a:t>
            </a:r>
            <a:endParaRPr lang="en-US" sz="1000" b="0" u="none" strike="noStrike">
              <a:solidFill>
                <a:srgbClr val="000000"/>
              </a:solidFill>
              <a:effectLst/>
              <a:uFillTx/>
              <a:latin typeface="Arial"/>
            </a:endParaRPr>
          </a:p>
        </p:txBody>
      </p:sp>
      <p:sp>
        <p:nvSpPr>
          <p:cNvPr id="948" name="TextBox 4"/>
          <p:cNvSpPr/>
          <p:nvPr/>
        </p:nvSpPr>
        <p:spPr>
          <a:xfrm>
            <a:off x="333720" y="2602440"/>
            <a:ext cx="2811240" cy="44604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i="1" u="none" strike="noStrike">
                <a:solidFill>
                  <a:srgbClr val="000000"/>
                </a:solidFill>
                <a:effectLst/>
                <a:uFillTx/>
                <a:latin typeface="Arial"/>
              </a:rPr>
              <a:t>a) Fairness &amp; Anti-bias</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Strategies to detect or avoid biased decisions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Testing plans or mitigation steps for bias</a:t>
            </a:r>
            <a:endParaRPr lang="en-US" sz="1000" b="0" u="none" strike="noStrike">
              <a:solidFill>
                <a:srgbClr val="000000"/>
              </a:solidFill>
              <a:effectLst/>
              <a:uFillTx/>
              <a:latin typeface="Arial"/>
            </a:endParaRPr>
          </a:p>
        </p:txBody>
      </p:sp>
      <p:sp>
        <p:nvSpPr>
          <p:cNvPr id="949" name="TextBox 5"/>
          <p:cNvSpPr/>
          <p:nvPr/>
        </p:nvSpPr>
        <p:spPr>
          <a:xfrm>
            <a:off x="333720" y="3212280"/>
            <a:ext cx="307692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i="1" u="none" strike="noStrike">
                <a:solidFill>
                  <a:srgbClr val="000000"/>
                </a:solidFill>
                <a:effectLst/>
                <a:uFillTx/>
                <a:latin typeface="Arial"/>
              </a:rPr>
              <a:t>b) Transparency &amp; Explainability</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How outcomes can be explained to users/mentors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Audit logs or decision traces. </a:t>
            </a:r>
            <a:endParaRPr lang="en-US" sz="1000" b="0" u="none" strike="noStrike">
              <a:solidFill>
                <a:srgbClr val="000000"/>
              </a:solidFill>
              <a:effectLst/>
              <a:uFillTx/>
              <a:latin typeface="Arial"/>
            </a:endParaRPr>
          </a:p>
        </p:txBody>
      </p:sp>
      <p:sp>
        <p:nvSpPr>
          <p:cNvPr id="950" name="TextBox 6"/>
          <p:cNvSpPr/>
          <p:nvPr/>
        </p:nvSpPr>
        <p:spPr>
          <a:xfrm>
            <a:off x="333720" y="3821760"/>
            <a:ext cx="270900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i="1" u="none" strike="noStrike">
                <a:solidFill>
                  <a:srgbClr val="000000"/>
                </a:solidFill>
                <a:effectLst/>
                <a:uFillTx/>
                <a:latin typeface="Arial"/>
              </a:rPr>
              <a:t>d) Respect for Rights</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Avoiding discriminatory or harmful practices</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Ensuring dignity and user autonomy</a:t>
            </a:r>
            <a:endParaRPr lang="en-US" sz="1000" b="0" u="none" strike="noStrike">
              <a:solidFill>
                <a:srgbClr val="000000"/>
              </a:solidFill>
              <a:effectLst/>
              <a:uFillTx/>
              <a:latin typeface="Arial"/>
            </a:endParaRPr>
          </a:p>
        </p:txBody>
      </p:sp>
      <p:sp>
        <p:nvSpPr>
          <p:cNvPr id="951" name="TextBox 7"/>
          <p:cNvSpPr/>
          <p:nvPr/>
        </p:nvSpPr>
        <p:spPr>
          <a:xfrm>
            <a:off x="333720" y="4431600"/>
            <a:ext cx="145188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i="1" u="none" strike="noStrike">
                <a:solidFill>
                  <a:srgbClr val="000000"/>
                </a:solidFill>
                <a:effectLst/>
                <a:uFillTx/>
                <a:latin typeface="Arial"/>
              </a:rPr>
              <a:t>e) Privacy&amp; Security </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Ensuring data privacy</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Avoiding harmful use </a:t>
            </a:r>
            <a:endParaRPr lang="en-US" sz="1000" b="0" u="none" strike="noStrike">
              <a:solidFill>
                <a:srgbClr val="000000"/>
              </a:solidFill>
              <a:effectLst/>
              <a:uFillTx/>
              <a:latin typeface="Arial"/>
            </a:endParaRPr>
          </a:p>
        </p:txBody>
      </p:sp>
      <p:sp>
        <p:nvSpPr>
          <p:cNvPr id="952" name="TextBox 8"/>
          <p:cNvSpPr/>
          <p:nvPr/>
        </p:nvSpPr>
        <p:spPr>
          <a:xfrm>
            <a:off x="333720" y="5041080"/>
            <a:ext cx="3126600" cy="44604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i="1" u="none" strike="noStrike">
                <a:solidFill>
                  <a:srgbClr val="000000"/>
                </a:solidFill>
                <a:effectLst/>
                <a:uFillTx/>
                <a:latin typeface="Arial"/>
              </a:rPr>
              <a:t>c) Accountability &amp; Human Oversight</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Who is responsible for decisions the agent makes?</a:t>
            </a:r>
            <a:endParaRPr lang="en-US" sz="1000" b="0" u="none" strike="noStrike">
              <a:solidFill>
                <a:srgbClr val="000000"/>
              </a:solidFill>
              <a:effectLst/>
              <a:uFillTx/>
              <a:latin typeface="Arial"/>
            </a:endParaRPr>
          </a:p>
          <a:p>
            <a:pPr marL="171360" indent="-171360" defTabSz="457200">
              <a:lnSpc>
                <a:spcPts val="1154"/>
              </a:lnSpc>
              <a:spcBef>
                <a:spcPts val="45"/>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What happens if something goes wrong?</a:t>
            </a:r>
            <a:endParaRPr lang="en-US" sz="1000" b="0" u="none" strike="noStrike">
              <a:solidFill>
                <a:srgbClr val="000000"/>
              </a:solidFill>
              <a:effectLst/>
              <a:uFillTx/>
              <a:latin typeface="Arial"/>
            </a:endParaRPr>
          </a:p>
        </p:txBody>
      </p:sp>
      <p:sp>
        <p:nvSpPr>
          <p:cNvPr id="953" name="TextBox 9"/>
          <p:cNvSpPr/>
          <p:nvPr/>
        </p:nvSpPr>
        <p:spPr>
          <a:xfrm>
            <a:off x="6401520" y="2117160"/>
            <a:ext cx="3969360" cy="47376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Governance &amp; Compliance</a:t>
            </a:r>
            <a:endParaRPr lang="en-US" sz="1200" b="0" u="none" strike="noStrike">
              <a:solidFill>
                <a:srgbClr val="000000"/>
              </a:solidFill>
              <a:effectLst/>
              <a:uFillTx/>
              <a:latin typeface="Arial"/>
            </a:endParaRPr>
          </a:p>
          <a:p>
            <a:pPr defTabSz="457200">
              <a:lnSpc>
                <a:spcPts val="1199"/>
              </a:lnSpc>
              <a:spcBef>
                <a:spcPts val="40"/>
              </a:spcBef>
            </a:pPr>
            <a:r>
              <a:rPr lang="en-US" sz="1000" b="0" i="1" u="none" strike="noStrike">
                <a:solidFill>
                  <a:srgbClr val="000000"/>
                </a:solidFill>
                <a:effectLst/>
                <a:uFillTx/>
                <a:latin typeface="Arial"/>
              </a:rPr>
              <a:t>Explain how the design aligns with internal and external policies and frameworks:</a:t>
            </a:r>
            <a:endParaRPr lang="en-US" sz="1000" b="0" u="none" strike="noStrike">
              <a:solidFill>
                <a:srgbClr val="000000"/>
              </a:solidFill>
              <a:effectLst/>
              <a:uFillTx/>
              <a:latin typeface="Arial"/>
            </a:endParaRPr>
          </a:p>
        </p:txBody>
      </p:sp>
      <p:sp>
        <p:nvSpPr>
          <p:cNvPr id="954" name="TextBox 10"/>
          <p:cNvSpPr/>
          <p:nvPr/>
        </p:nvSpPr>
        <p:spPr>
          <a:xfrm>
            <a:off x="6401520" y="2754720"/>
            <a:ext cx="3953880" cy="2934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99"/>
              </a:lnSpc>
              <a:tabLst>
                <a:tab pos="0" algn="l"/>
              </a:tabLst>
            </a:pPr>
            <a:r>
              <a:rPr lang="en-US" sz="1000" b="0" u="none" strike="noStrike">
                <a:solidFill>
                  <a:srgbClr val="000000"/>
                </a:solidFill>
                <a:effectLst/>
                <a:uFillTx/>
                <a:latin typeface="Arial"/>
              </a:rPr>
              <a:t>•</a:t>
            </a:r>
            <a:r>
              <a:rPr lang="en-US" sz="1000" b="1" i="1" u="none" strike="noStrike">
                <a:solidFill>
                  <a:srgbClr val="000000"/>
                </a:solidFill>
                <a:effectLst/>
                <a:uFillTx/>
                <a:latin typeface="Arial"/>
              </a:rPr>
              <a:t>	</a:t>
            </a:r>
            <a:r>
              <a:rPr lang="en-US" sz="1000" b="1" i="1" u="none" strike="noStrike">
                <a:solidFill>
                  <a:srgbClr val="000000"/>
                </a:solidFill>
                <a:effectLst/>
                <a:uFillTx/>
                <a:latin typeface="Arial"/>
              </a:rPr>
              <a:t>Internal governance rules</a:t>
            </a:r>
            <a:r>
              <a:rPr lang="en-US" sz="1000" b="0" i="1" u="none" strike="noStrike">
                <a:solidFill>
                  <a:srgbClr val="000000"/>
                </a:solidFill>
                <a:effectLst/>
                <a:uFillTx/>
                <a:latin typeface="Arial"/>
              </a:rPr>
              <a:t> — who approves launch, changes or deployment?</a:t>
            </a:r>
            <a:endParaRPr lang="en-US" sz="1000" b="0" u="none" strike="noStrike">
              <a:solidFill>
                <a:srgbClr val="000000"/>
              </a:solidFill>
              <a:effectLst/>
              <a:uFillTx/>
              <a:latin typeface="Arial"/>
            </a:endParaRPr>
          </a:p>
        </p:txBody>
      </p:sp>
      <p:sp>
        <p:nvSpPr>
          <p:cNvPr id="955" name="TextBox 11"/>
          <p:cNvSpPr/>
          <p:nvPr/>
        </p:nvSpPr>
        <p:spPr>
          <a:xfrm>
            <a:off x="6401520" y="3212280"/>
            <a:ext cx="2617560" cy="14112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1" i="1" u="none" strike="noStrike">
                <a:solidFill>
                  <a:srgbClr val="000000"/>
                </a:solidFill>
                <a:effectLst/>
                <a:uFillTx/>
                <a:latin typeface="Arial"/>
              </a:rPr>
              <a:t>	</a:t>
            </a:r>
            <a:r>
              <a:rPr lang="en-US" sz="1000" b="1" i="1" u="none" strike="noStrike">
                <a:solidFill>
                  <a:srgbClr val="000000"/>
                </a:solidFill>
                <a:effectLst/>
                <a:uFillTx/>
                <a:latin typeface="Arial"/>
              </a:rPr>
              <a:t>Standards &amp; frameworks you reference</a:t>
            </a:r>
            <a:endParaRPr lang="en-US" sz="1000" b="0" u="none" strike="noStrike">
              <a:solidFill>
                <a:srgbClr val="000000"/>
              </a:solidFill>
              <a:effectLst/>
              <a:uFillTx/>
              <a:latin typeface="Arial"/>
            </a:endParaRPr>
          </a:p>
        </p:txBody>
      </p:sp>
      <p:sp>
        <p:nvSpPr>
          <p:cNvPr id="956" name="TextBox 12"/>
          <p:cNvSpPr/>
          <p:nvPr/>
        </p:nvSpPr>
        <p:spPr>
          <a:xfrm>
            <a:off x="6630120" y="3364560"/>
            <a:ext cx="3927600" cy="29340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Trustworthy AI principles (fairness, accountability, transparency). </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Ethical guidelines (e.g., UNESCO, OECD, organizational policies</a:t>
            </a:r>
            <a:endParaRPr lang="en-US" sz="1000" b="0" u="none" strike="noStrike">
              <a:solidFill>
                <a:srgbClr val="000000"/>
              </a:solidFill>
              <a:effectLst/>
              <a:uFillTx/>
              <a:latin typeface="Arial"/>
            </a:endParaRPr>
          </a:p>
        </p:txBody>
      </p:sp>
      <p:sp>
        <p:nvSpPr>
          <p:cNvPr id="957" name="TextBox 13"/>
          <p:cNvSpPr/>
          <p:nvPr/>
        </p:nvSpPr>
        <p:spPr>
          <a:xfrm>
            <a:off x="6401520" y="3821760"/>
            <a:ext cx="3997440" cy="14112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1" i="1" u="none" strike="noStrike">
                <a:solidFill>
                  <a:srgbClr val="000000"/>
                </a:solidFill>
                <a:effectLst/>
                <a:uFillTx/>
                <a:latin typeface="Arial"/>
              </a:rPr>
              <a:t>	</a:t>
            </a:r>
            <a:r>
              <a:rPr lang="en-US" sz="1000" b="1" i="1" u="none" strike="noStrike">
                <a:solidFill>
                  <a:srgbClr val="000000"/>
                </a:solidFill>
                <a:effectLst/>
                <a:uFillTx/>
                <a:latin typeface="Arial"/>
              </a:rPr>
              <a:t>Audit &amp; monitoring plans</a:t>
            </a:r>
            <a:r>
              <a:rPr lang="en-US" sz="1000" b="0" i="1" u="none" strike="noStrike">
                <a:solidFill>
                  <a:srgbClr val="000000"/>
                </a:solidFill>
                <a:effectLst/>
                <a:uFillTx/>
                <a:latin typeface="Arial"/>
              </a:rPr>
              <a:t> — how you check ongoing compliance</a:t>
            </a:r>
            <a:endParaRPr lang="en-US" sz="1000" b="0" u="none" strike="noStrike">
              <a:solidFill>
                <a:srgbClr val="000000"/>
              </a:solidFill>
              <a:effectLst/>
              <a:uFillTx/>
              <a:latin typeface="Arial"/>
            </a:endParaRPr>
          </a:p>
        </p:txBody>
      </p:sp>
      <p:cxnSp>
        <p:nvCxnSpPr>
          <p:cNvPr id="958" name="Connector 14"/>
          <p:cNvCxnSpPr/>
          <p:nvPr/>
        </p:nvCxnSpPr>
        <p:spPr>
          <a:xfrm>
            <a:off x="6090120" y="1982520"/>
            <a:ext cx="720" cy="4609800"/>
          </a:xfrm>
          <a:prstGeom prst="straightConnector1">
            <a:avLst/>
          </a:prstGeom>
          <a:ln w="6349">
            <a:solidFill>
              <a:srgbClr val="000000"/>
            </a:solidFill>
            <a:round/>
          </a:ln>
        </p:spPr>
      </p:cxn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959" name="Connector 1"/>
          <p:cNvCxnSpPr/>
          <p:nvPr/>
        </p:nvCxnSpPr>
        <p:spPr>
          <a:xfrm>
            <a:off x="3047400" y="284760"/>
            <a:ext cx="720" cy="5715720"/>
          </a:xfrm>
          <a:prstGeom prst="straightConnector1">
            <a:avLst/>
          </a:prstGeom>
          <a:ln w="6349">
            <a:solidFill>
              <a:srgbClr val="000000"/>
            </a:solidFill>
            <a:round/>
          </a:ln>
        </p:spPr>
      </p:cxnSp>
      <p:cxnSp>
        <p:nvCxnSpPr>
          <p:cNvPr id="960" name="Connector 2"/>
          <p:cNvCxnSpPr/>
          <p:nvPr/>
        </p:nvCxnSpPr>
        <p:spPr>
          <a:xfrm>
            <a:off x="6093360" y="283320"/>
            <a:ext cx="720" cy="5715720"/>
          </a:xfrm>
          <a:prstGeom prst="straightConnector1">
            <a:avLst/>
          </a:prstGeom>
          <a:ln w="6349">
            <a:solidFill>
              <a:srgbClr val="000000"/>
            </a:solidFill>
            <a:round/>
          </a:ln>
        </p:spPr>
      </p:cxnSp>
      <p:cxnSp>
        <p:nvCxnSpPr>
          <p:cNvPr id="961" name="Connector 3"/>
          <p:cNvCxnSpPr/>
          <p:nvPr/>
        </p:nvCxnSpPr>
        <p:spPr>
          <a:xfrm>
            <a:off x="9142560" y="284760"/>
            <a:ext cx="720" cy="5715720"/>
          </a:xfrm>
          <a:prstGeom prst="straightConnector1">
            <a:avLst/>
          </a:prstGeom>
          <a:ln w="6349">
            <a:solidFill>
              <a:srgbClr val="000000"/>
            </a:solidFill>
            <a:round/>
          </a:ln>
        </p:spPr>
      </p:cxnSp>
      <p:sp>
        <p:nvSpPr>
          <p:cNvPr id="962" name="TextBox 4"/>
          <p:cNvSpPr/>
          <p:nvPr/>
        </p:nvSpPr>
        <p:spPr>
          <a:xfrm>
            <a:off x="288000" y="303120"/>
            <a:ext cx="2369160" cy="432000"/>
          </a:xfrm>
          <a:prstGeom prst="rect">
            <a:avLst/>
          </a:prstGeom>
          <a:noFill/>
          <a:ln w="0">
            <a:noFill/>
          </a:ln>
        </p:spPr>
        <p:style>
          <a:lnRef idx="0"/>
          <a:fillRef idx="0"/>
          <a:effectRef idx="0"/>
          <a:fontRef idx="minor"/>
        </p:style>
        <p:txBody>
          <a:bodyPr lIns="0" tIns="0" rIns="0" bIns="0" anchor="t">
            <a:noAutofit/>
          </a:bodyPr>
          <a:p>
            <a:pPr defTabSz="457200">
              <a:lnSpc>
                <a:spcPts val="1848"/>
              </a:lnSpc>
            </a:pPr>
            <a:r>
              <a:rPr lang="en-US" sz="1400" b="1" u="none" strike="noStrike">
                <a:solidFill>
                  <a:srgbClr val="000000"/>
                </a:solidFill>
                <a:effectLst/>
                <a:uFillTx/>
                <a:latin typeface="Arial"/>
              </a:rPr>
              <a:t>Scope &amp; Limitations of the MVP</a:t>
            </a:r>
            <a:endParaRPr lang="en-US" sz="1400" b="0" u="none" strike="noStrike">
              <a:solidFill>
                <a:srgbClr val="000000"/>
              </a:solidFill>
              <a:effectLst/>
              <a:uFillTx/>
              <a:latin typeface="Arial"/>
            </a:endParaRPr>
          </a:p>
        </p:txBody>
      </p:sp>
      <p:sp>
        <p:nvSpPr>
          <p:cNvPr id="963" name="TextBox 5"/>
          <p:cNvSpPr/>
          <p:nvPr/>
        </p:nvSpPr>
        <p:spPr>
          <a:xfrm>
            <a:off x="288000" y="1007640"/>
            <a:ext cx="2352240" cy="666720"/>
          </a:xfrm>
          <a:prstGeom prst="rect">
            <a:avLst/>
          </a:prstGeom>
          <a:noFill/>
          <a:ln w="0">
            <a:noFill/>
          </a:ln>
        </p:spPr>
        <p:style>
          <a:lnRef idx="0"/>
          <a:fillRef idx="0"/>
          <a:effectRef idx="0"/>
          <a:fontRef idx="minor"/>
        </p:style>
        <p:txBody>
          <a:bodyPr lIns="0" tIns="0" rIns="0" bIns="0" anchor="t">
            <a:noAutofit/>
          </a:bodyPr>
          <a:p>
            <a:pPr defTabSz="457200">
              <a:lnSpc>
                <a:spcPts val="1848"/>
              </a:lnSpc>
            </a:pPr>
            <a:r>
              <a:rPr lang="en-US" sz="1400" b="1" u="none" strike="noStrike">
                <a:solidFill>
                  <a:srgbClr val="000000"/>
                </a:solidFill>
                <a:effectLst/>
                <a:uFillTx/>
                <a:latin typeface="Arial"/>
              </a:rPr>
              <a:t>Purpose:</a:t>
            </a:r>
            <a:r>
              <a:rPr lang="en-US" sz="1400" b="0" u="none" strike="noStrike">
                <a:solidFill>
                  <a:srgbClr val="000000"/>
                </a:solidFill>
                <a:effectLst/>
                <a:uFillTx/>
                <a:latin typeface="Arial"/>
              </a:rPr>
              <a:t> Explain what your MVP will and will not do.</a:t>
            </a:r>
            <a:endParaRPr lang="en-US" sz="1400" b="0" u="none" strike="noStrike">
              <a:solidFill>
                <a:srgbClr val="000000"/>
              </a:solidFill>
              <a:effectLst/>
              <a:uFillTx/>
              <a:latin typeface="Arial"/>
            </a:endParaRPr>
          </a:p>
          <a:p>
            <a:pPr defTabSz="457200">
              <a:lnSpc>
                <a:spcPts val="1607"/>
              </a:lnSpc>
              <a:spcBef>
                <a:spcPts val="241"/>
              </a:spcBef>
            </a:pPr>
            <a:r>
              <a:rPr lang="en-US" sz="1400" b="1" u="none" strike="noStrike">
                <a:solidFill>
                  <a:srgbClr val="000000"/>
                </a:solidFill>
                <a:effectLst/>
                <a:uFillTx/>
                <a:latin typeface="Arial"/>
              </a:rPr>
              <a:t>When:</a:t>
            </a:r>
            <a:r>
              <a:rPr lang="en-US" sz="1400" b="0" u="none" strike="noStrike">
                <a:solidFill>
                  <a:srgbClr val="000000"/>
                </a:solidFill>
                <a:effectLst/>
                <a:uFillTx/>
                <a:latin typeface="Arial"/>
              </a:rPr>
              <a:t> by Week 5</a:t>
            </a:r>
            <a:endParaRPr lang="en-US" sz="1400" b="0" u="none" strike="noStrike">
              <a:solidFill>
                <a:srgbClr val="000000"/>
              </a:solidFill>
              <a:effectLst/>
              <a:uFillTx/>
              <a:latin typeface="Arial"/>
            </a:endParaRPr>
          </a:p>
        </p:txBody>
      </p:sp>
      <p:sp>
        <p:nvSpPr>
          <p:cNvPr id="964" name="TextBox 6"/>
          <p:cNvSpPr/>
          <p:nvPr/>
        </p:nvSpPr>
        <p:spPr>
          <a:xfrm>
            <a:off x="3333600" y="303120"/>
            <a:ext cx="9878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MVP Scope</a:t>
            </a:r>
            <a:endParaRPr lang="en-US" sz="1400" b="0" u="none" strike="noStrike">
              <a:solidFill>
                <a:srgbClr val="000000"/>
              </a:solidFill>
              <a:effectLst/>
              <a:uFillTx/>
              <a:latin typeface="Arial"/>
            </a:endParaRPr>
          </a:p>
        </p:txBody>
      </p:sp>
      <p:sp>
        <p:nvSpPr>
          <p:cNvPr id="965" name="TextBox 7"/>
          <p:cNvSpPr/>
          <p:nvPr/>
        </p:nvSpPr>
        <p:spPr>
          <a:xfrm>
            <a:off x="3333600" y="1724760"/>
            <a:ext cx="2571120" cy="476640"/>
          </a:xfrm>
          <a:prstGeom prst="rect">
            <a:avLst/>
          </a:prstGeom>
          <a:noFill/>
          <a:ln w="0">
            <a:noFill/>
          </a:ln>
        </p:spPr>
        <p:style>
          <a:lnRef idx="0"/>
          <a:fillRef idx="0"/>
          <a:effectRef idx="0"/>
          <a:fontRef idx="minor"/>
        </p:style>
        <p:txBody>
          <a:bodyPr lIns="0" tIns="0" rIns="0" bIns="0" anchor="t">
            <a:noAutofit/>
          </a:bodyPr>
          <a:p>
            <a:pPr defTabSz="457200">
              <a:lnSpc>
                <a:spcPts val="1321"/>
              </a:lnSpc>
            </a:pPr>
            <a:r>
              <a:rPr lang="en-US" sz="1000" b="0" i="1" u="none" strike="noStrike">
                <a:solidFill>
                  <a:srgbClr val="000000"/>
                </a:solidFill>
                <a:effectLst/>
                <a:uFillTx/>
                <a:latin typeface="Arial"/>
              </a:rPr>
              <a:t>What will your team deliver by the end of Week 10? List specific outputs and features and explain why focus on these (user value)</a:t>
            </a:r>
            <a:endParaRPr lang="en-US" sz="1000" b="0" u="none" strike="noStrike">
              <a:solidFill>
                <a:srgbClr val="000000"/>
              </a:solidFill>
              <a:effectLst/>
              <a:uFillTx/>
              <a:latin typeface="Arial"/>
            </a:endParaRPr>
          </a:p>
        </p:txBody>
      </p:sp>
      <p:sp>
        <p:nvSpPr>
          <p:cNvPr id="966" name="TextBox 8"/>
          <p:cNvSpPr/>
          <p:nvPr/>
        </p:nvSpPr>
        <p:spPr>
          <a:xfrm>
            <a:off x="9430560" y="303120"/>
            <a:ext cx="102888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What is next</a:t>
            </a:r>
            <a:endParaRPr lang="en-US" sz="1400" b="0" u="none" strike="noStrike">
              <a:solidFill>
                <a:srgbClr val="000000"/>
              </a:solidFill>
              <a:effectLst/>
              <a:uFillTx/>
              <a:latin typeface="Arial"/>
            </a:endParaRPr>
          </a:p>
        </p:txBody>
      </p:sp>
      <p:sp>
        <p:nvSpPr>
          <p:cNvPr id="967" name="TextBox 9"/>
          <p:cNvSpPr/>
          <p:nvPr/>
        </p:nvSpPr>
        <p:spPr>
          <a:xfrm>
            <a:off x="9430560" y="1724760"/>
            <a:ext cx="2577960" cy="644040"/>
          </a:xfrm>
          <a:prstGeom prst="rect">
            <a:avLst/>
          </a:prstGeom>
          <a:noFill/>
          <a:ln w="0">
            <a:noFill/>
          </a:ln>
        </p:spPr>
        <p:style>
          <a:lnRef idx="0"/>
          <a:fillRef idx="0"/>
          <a:effectRef idx="0"/>
          <a:fontRef idx="minor"/>
        </p:style>
        <p:txBody>
          <a:bodyPr lIns="0" tIns="0" rIns="0" bIns="0" anchor="t">
            <a:noAutofit/>
          </a:bodyPr>
          <a:p>
            <a:pPr defTabSz="457200">
              <a:lnSpc>
                <a:spcPts val="1321"/>
              </a:lnSpc>
            </a:pPr>
            <a:r>
              <a:rPr lang="en-US" sz="1000" b="0" i="1" u="none" strike="noStrike">
                <a:solidFill>
                  <a:srgbClr val="000000"/>
                </a:solidFill>
                <a:effectLst/>
                <a:uFillTx/>
                <a:latin typeface="Arial"/>
              </a:rPr>
              <a:t>How can you test and improve your solution in the future? Define the future stages of your solution development, from MVP to scale.</a:t>
            </a:r>
            <a:endParaRPr lang="en-US" sz="1000" b="0" u="none" strike="noStrike">
              <a:solidFill>
                <a:srgbClr val="000000"/>
              </a:solidFill>
              <a:effectLst/>
              <a:uFillTx/>
              <a:latin typeface="Arial"/>
            </a:endParaRPr>
          </a:p>
        </p:txBody>
      </p:sp>
      <p:sp>
        <p:nvSpPr>
          <p:cNvPr id="968" name="TextBox 10"/>
          <p:cNvSpPr/>
          <p:nvPr/>
        </p:nvSpPr>
        <p:spPr>
          <a:xfrm>
            <a:off x="6381360" y="303120"/>
            <a:ext cx="897840" cy="197280"/>
          </a:xfrm>
          <a:prstGeom prst="rect">
            <a:avLst/>
          </a:prstGeom>
          <a:noFill/>
          <a:ln w="0">
            <a:noFill/>
          </a:ln>
        </p:spPr>
        <p:style>
          <a:lnRef idx="0"/>
          <a:fillRef idx="0"/>
          <a:effectRef idx="0"/>
          <a:fontRef idx="minor"/>
        </p:style>
        <p:txBody>
          <a:bodyPr lIns="0" tIns="0" rIns="0" bIns="0" anchor="t">
            <a:noAutofit/>
          </a:bodyPr>
          <a:p>
            <a:pPr defTabSz="457200">
              <a:lnSpc>
                <a:spcPts val="1607"/>
              </a:lnSpc>
            </a:pPr>
            <a:r>
              <a:rPr lang="en-US" sz="1400" b="0" u="none" strike="noStrike">
                <a:solidFill>
                  <a:srgbClr val="0F62FE"/>
                </a:solidFill>
                <a:effectLst/>
                <a:uFillTx/>
                <a:latin typeface="Arial"/>
              </a:rPr>
              <a:t>Limitations</a:t>
            </a:r>
            <a:endParaRPr lang="en-US" sz="1400" b="0" u="none" strike="noStrike">
              <a:solidFill>
                <a:srgbClr val="000000"/>
              </a:solidFill>
              <a:effectLst/>
              <a:uFillTx/>
              <a:latin typeface="Arial"/>
            </a:endParaRPr>
          </a:p>
        </p:txBody>
      </p:sp>
      <p:sp>
        <p:nvSpPr>
          <p:cNvPr id="969" name="TextBox 11"/>
          <p:cNvSpPr/>
          <p:nvPr/>
        </p:nvSpPr>
        <p:spPr>
          <a:xfrm>
            <a:off x="6381360" y="1724760"/>
            <a:ext cx="2557080" cy="476640"/>
          </a:xfrm>
          <a:prstGeom prst="rect">
            <a:avLst/>
          </a:prstGeom>
          <a:noFill/>
          <a:ln w="0">
            <a:noFill/>
          </a:ln>
        </p:spPr>
        <p:style>
          <a:lnRef idx="0"/>
          <a:fillRef idx="0"/>
          <a:effectRef idx="0"/>
          <a:fontRef idx="minor"/>
        </p:style>
        <p:txBody>
          <a:bodyPr lIns="0" tIns="0" rIns="0" bIns="0" anchor="t">
            <a:noAutofit/>
          </a:bodyPr>
          <a:p>
            <a:pPr defTabSz="457200">
              <a:lnSpc>
                <a:spcPts val="1321"/>
              </a:lnSpc>
            </a:pPr>
            <a:r>
              <a:rPr lang="en-US" sz="1000" b="0" i="1" u="none" strike="noStrike">
                <a:solidFill>
                  <a:srgbClr val="000000"/>
                </a:solidFill>
                <a:effectLst/>
                <a:uFillTx/>
                <a:latin typeface="Arial"/>
              </a:rPr>
              <a:t>What are the known constraints of your MVP? List what is NOT included or partially implemented</a:t>
            </a:r>
            <a:endParaRPr lang="en-US" sz="1000" b="0" u="none" strike="noStrike">
              <a:solidFill>
                <a:srgbClr val="000000"/>
              </a:solidFill>
              <a:effectLst/>
              <a:uFillTx/>
              <a:latin typeface="Arial"/>
            </a:endParaRPr>
          </a:p>
        </p:txBody>
      </p:sp>
      <p:sp>
        <p:nvSpPr>
          <p:cNvPr id="970" name="TextBox 12"/>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46</a:t>
            </a:r>
            <a:endParaRPr lang="en-US" sz="800" b="0" u="none" strike="noStrike">
              <a:solidFill>
                <a:srgbClr val="000000"/>
              </a:solidFill>
              <a:effectLst/>
              <a:uFillTx/>
              <a:latin typeface="Arial"/>
            </a:endParaRPr>
          </a:p>
        </p:txBody>
      </p:sp>
      <p:sp>
        <p:nvSpPr>
          <p:cNvPr id="971" name="Rectangle 13"/>
          <p:cNvSpPr/>
          <p:nvPr/>
        </p:nvSpPr>
        <p:spPr>
          <a:xfrm>
            <a:off x="285840" y="2047320"/>
            <a:ext cx="2477160" cy="395208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972" name="TextBox 14"/>
          <p:cNvSpPr/>
          <p:nvPr/>
        </p:nvSpPr>
        <p:spPr>
          <a:xfrm>
            <a:off x="331560" y="2101320"/>
            <a:ext cx="2457720" cy="598680"/>
          </a:xfrm>
          <a:prstGeom prst="rect">
            <a:avLst/>
          </a:prstGeom>
          <a:noFill/>
          <a:ln w="0">
            <a:noFill/>
          </a:ln>
        </p:spPr>
        <p:style>
          <a:lnRef idx="0"/>
          <a:fillRef idx="0"/>
          <a:effectRef idx="0"/>
          <a:fontRef idx="minor"/>
        </p:style>
        <p:txBody>
          <a:bodyPr lIns="0" tIns="0" rIns="0" bIns="0" anchor="t">
            <a:noAutofit/>
          </a:bodyPr>
          <a:p>
            <a:pPr defTabSz="457200">
              <a:lnSpc>
                <a:spcPts val="1154"/>
              </a:lnSpc>
            </a:pP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At the end, you only have 10 weeks. </a:t>
            </a:r>
            <a:endParaRPr lang="en-US" sz="1000" b="0" u="none" strike="noStrike">
              <a:solidFill>
                <a:srgbClr val="000000"/>
              </a:solidFill>
              <a:effectLst/>
              <a:uFillTx/>
              <a:latin typeface="Arial"/>
            </a:endParaRPr>
          </a:p>
          <a:p>
            <a:pPr defTabSz="457200">
              <a:lnSpc>
                <a:spcPts val="1199"/>
              </a:lnSpc>
            </a:pPr>
            <a:r>
              <a:rPr lang="en-US" sz="1000" b="0" u="none" strike="noStrike">
                <a:solidFill>
                  <a:srgbClr val="000000"/>
                </a:solidFill>
                <a:effectLst/>
                <a:uFillTx/>
                <a:latin typeface="Arial"/>
              </a:rPr>
              <a:t>You will need to prioritise – focus on the 2-3 functionalities that will deliver the greatest user value for your MVP. </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73" name="Picture 1" descr="image.png"/>
          <p:cNvPicPr/>
          <p:nvPr/>
        </p:nvPicPr>
        <p:blipFill>
          <a:blip r:embed="rId1"/>
          <a:stretch/>
        </p:blipFill>
        <p:spPr>
          <a:xfrm>
            <a:off x="44280" y="70200"/>
            <a:ext cx="1044360" cy="852840"/>
          </a:xfrm>
          <a:prstGeom prst="rect">
            <a:avLst/>
          </a:prstGeom>
          <a:noFill/>
          <a:ln w="0">
            <a:noFill/>
          </a:ln>
        </p:spPr>
      </p:pic>
      <p:sp>
        <p:nvSpPr>
          <p:cNvPr id="974" name="TextBox 2"/>
          <p:cNvSpPr/>
          <p:nvPr/>
        </p:nvSpPr>
        <p:spPr>
          <a:xfrm>
            <a:off x="288000" y="1123920"/>
            <a:ext cx="7205040" cy="14112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1" u="none" strike="noStrike">
                <a:solidFill>
                  <a:srgbClr val="000000"/>
                </a:solidFill>
                <a:effectLst/>
                <a:uFillTx/>
                <a:latin typeface="Arial"/>
              </a:rPr>
              <a:t>At this stage, you should be clear about the MVP that you are building and will submit at the end of the this program.</a:t>
            </a:r>
            <a:endParaRPr lang="en-US" sz="1000" b="0" u="none" strike="noStrike">
              <a:solidFill>
                <a:srgbClr val="000000"/>
              </a:solidFill>
              <a:effectLst/>
              <a:uFillTx/>
              <a:latin typeface="Arial"/>
            </a:endParaRPr>
          </a:p>
        </p:txBody>
      </p:sp>
      <p:sp>
        <p:nvSpPr>
          <p:cNvPr id="975" name="TextBox 3"/>
          <p:cNvSpPr/>
          <p:nvPr/>
        </p:nvSpPr>
        <p:spPr>
          <a:xfrm>
            <a:off x="288000" y="1459080"/>
            <a:ext cx="7774200" cy="97956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Is the architecture modular, scalable, and aligned with solution goals? Does it supports performance, scalability, and maintainability?</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Are workflows clear, efficient, and user-centric? Does it aligns with user experience and business objectives?</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Are tools and integrations secure, compitble (interoperable), and cost-effective?</a:t>
            </a:r>
            <a:endParaRPr lang="en-US" sz="1000" b="0" u="none" strike="noStrike">
              <a:solidFill>
                <a:srgbClr val="000000"/>
              </a:solidFill>
              <a:effectLst/>
              <a:uFillTx/>
              <a:latin typeface="Arial"/>
            </a:endParaRPr>
          </a:p>
          <a:p>
            <a:pPr marL="171360" indent="-171360" defTabSz="457200">
              <a:lnSpc>
                <a:spcPts val="1151"/>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Is the intelligence logic well-though and justified?</a:t>
            </a:r>
            <a:endParaRPr lang="en-US" sz="1000" b="0" u="none" strike="noStrike">
              <a:solidFill>
                <a:srgbClr val="000000"/>
              </a:solidFill>
              <a:effectLst/>
              <a:uFillTx/>
              <a:latin typeface="Arial"/>
            </a:endParaRPr>
          </a:p>
          <a:p>
            <a:pPr marL="171360" indent="-171360" defTabSz="457200">
              <a:lnSpc>
                <a:spcPts val="1154"/>
              </a:lnSpc>
              <a:spcBef>
                <a:spcPts val="167"/>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Does the design ensures data privacy, fairness, explainability, and bias mitigation?</a:t>
            </a:r>
            <a:endParaRPr lang="en-US" sz="1000" b="0" u="none" strike="noStrike">
              <a:solidFill>
                <a:srgbClr val="000000"/>
              </a:solidFill>
              <a:effectLst/>
              <a:uFillTx/>
              <a:latin typeface="Arial"/>
            </a:endParaRPr>
          </a:p>
          <a:p>
            <a:pPr marL="171360" indent="-171360" defTabSz="457200">
              <a:lnSpc>
                <a:spcPts val="1151"/>
              </a:lnSpc>
              <a:spcBef>
                <a:spcPts val="170"/>
              </a:spcBef>
              <a:tabLst>
                <a:tab pos="0" algn="l"/>
              </a:tabLst>
            </a:pPr>
            <a:r>
              <a:rPr lang="en-US" sz="1000" b="0" u="none" strike="noStrike">
                <a:solidFill>
                  <a:srgbClr val="000000"/>
                </a:solidFill>
                <a:effectLst/>
                <a:uFillTx/>
                <a:latin typeface="Arial"/>
              </a:rPr>
              <a:t>❑</a:t>
            </a:r>
            <a:r>
              <a:rPr lang="en-US" sz="1000" b="0" u="none" strike="noStrike">
                <a:solidFill>
                  <a:srgbClr val="000000"/>
                </a:solidFill>
                <a:effectLst/>
                <a:uFillTx/>
                <a:latin typeface="Arial"/>
              </a:rPr>
              <a:t>	</a:t>
            </a:r>
            <a:r>
              <a:rPr lang="en-US" sz="1000" b="0" u="none" strike="noStrike">
                <a:solidFill>
                  <a:srgbClr val="000000"/>
                </a:solidFill>
                <a:effectLst/>
                <a:uFillTx/>
                <a:latin typeface="Arial"/>
              </a:rPr>
              <a:t>Does the governance framework addresses compliance, and accountability?</a:t>
            </a:r>
            <a:endParaRPr lang="en-US" sz="1000" b="0" u="none" strike="noStrike">
              <a:solidFill>
                <a:srgbClr val="000000"/>
              </a:solidFill>
              <a:effectLst/>
              <a:uFillTx/>
              <a:latin typeface="Arial"/>
            </a:endParaRPr>
          </a:p>
        </p:txBody>
      </p:sp>
      <p:sp>
        <p:nvSpPr>
          <p:cNvPr id="976" name="TextBox 4"/>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47</a:t>
            </a:r>
            <a:endParaRPr lang="en-US" sz="800" b="0" u="none" strike="noStrike">
              <a:solidFill>
                <a:srgbClr val="000000"/>
              </a:solidFill>
              <a:effectLst/>
              <a:uFillTx/>
              <a:latin typeface="Arial"/>
            </a:endParaRPr>
          </a:p>
        </p:txBody>
      </p:sp>
      <p:sp>
        <p:nvSpPr>
          <p:cNvPr id="977" name="TextBox 5"/>
          <p:cNvSpPr/>
          <p:nvPr/>
        </p:nvSpPr>
        <p:spPr>
          <a:xfrm>
            <a:off x="288000" y="2854440"/>
            <a:ext cx="2412000" cy="16920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1" u="none" strike="noStrike">
                <a:solidFill>
                  <a:srgbClr val="000000"/>
                </a:solidFill>
                <a:effectLst/>
                <a:uFillTx/>
                <a:latin typeface="Arial"/>
              </a:rPr>
              <a:t>Open Questions &amp; Assumptions</a:t>
            </a:r>
            <a:endParaRPr lang="en-US" sz="1200" b="0" u="none" strike="noStrike">
              <a:solidFill>
                <a:srgbClr val="000000"/>
              </a:solidFill>
              <a:effectLst/>
              <a:uFillTx/>
              <a:latin typeface="Arial"/>
            </a:endParaRPr>
          </a:p>
        </p:txBody>
      </p:sp>
      <p:sp>
        <p:nvSpPr>
          <p:cNvPr id="978" name="TextBox 6"/>
          <p:cNvSpPr/>
          <p:nvPr/>
        </p:nvSpPr>
        <p:spPr>
          <a:xfrm>
            <a:off x="288000" y="3256920"/>
            <a:ext cx="2535840" cy="339480"/>
          </a:xfrm>
          <a:prstGeom prst="rect">
            <a:avLst/>
          </a:prstGeom>
          <a:noFill/>
          <a:ln w="0">
            <a:noFill/>
          </a:ln>
        </p:spPr>
        <p:style>
          <a:lnRef idx="0"/>
          <a:fillRef idx="0"/>
          <a:effectRef idx="0"/>
          <a:fontRef idx="minor"/>
        </p:style>
        <p:txBody>
          <a:bodyPr lIns="0" tIns="0" rIns="0" bIns="0" anchor="t">
            <a:noAutofit/>
          </a:bodyPr>
          <a:p>
            <a:pPr defTabSz="457200">
              <a:lnSpc>
                <a:spcPts val="1378"/>
              </a:lnSpc>
            </a:pPr>
            <a:r>
              <a:rPr lang="en-US" sz="1200" b="0" u="none" strike="noStrike">
                <a:solidFill>
                  <a:srgbClr val="0F62FE"/>
                </a:solidFill>
                <a:effectLst/>
                <a:uFillTx/>
                <a:latin typeface="Arial"/>
              </a:rPr>
              <a:t>What we don’t know yet</a:t>
            </a:r>
            <a:endParaRPr lang="en-US" sz="1200" b="0" u="none" strike="noStrike">
              <a:solidFill>
                <a:srgbClr val="000000"/>
              </a:solidFill>
              <a:effectLst/>
              <a:uFillTx/>
              <a:latin typeface="Arial"/>
            </a:endParaRPr>
          </a:p>
          <a:p>
            <a:pPr defTabSz="457200">
              <a:lnSpc>
                <a:spcPts val="1151"/>
              </a:lnSpc>
              <a:spcBef>
                <a:spcPts val="232"/>
              </a:spcBef>
            </a:pPr>
            <a:r>
              <a:rPr lang="en-US" sz="1000" b="0" i="1" u="none" strike="noStrike">
                <a:solidFill>
                  <a:srgbClr val="000000"/>
                </a:solidFill>
                <a:effectLst/>
                <a:uFillTx/>
                <a:latin typeface="Arial"/>
              </a:rPr>
              <a:t>List gaps in knowledge that need validation.</a:t>
            </a:r>
            <a:endParaRPr lang="en-US" sz="1000" b="0" u="none" strike="noStrike">
              <a:solidFill>
                <a:srgbClr val="000000"/>
              </a:solidFill>
              <a:effectLst/>
              <a:uFillTx/>
              <a:latin typeface="Arial"/>
            </a:endParaRPr>
          </a:p>
        </p:txBody>
      </p:sp>
      <p:sp>
        <p:nvSpPr>
          <p:cNvPr id="979" name="TextBox 7"/>
          <p:cNvSpPr/>
          <p:nvPr/>
        </p:nvSpPr>
        <p:spPr>
          <a:xfrm>
            <a:off x="288000" y="3791160"/>
            <a:ext cx="139320" cy="476280"/>
          </a:xfrm>
          <a:prstGeom prst="rect">
            <a:avLst/>
          </a:prstGeom>
          <a:noFill/>
          <a:ln w="0">
            <a:noFill/>
          </a:ln>
        </p:spPr>
        <p:style>
          <a:lnRef idx="0"/>
          <a:fillRef idx="0"/>
          <a:effectRef idx="0"/>
          <a:fontRef idx="minor"/>
        </p:style>
        <p:txBody>
          <a:bodyPr lIns="0" tIns="0" rIns="0" bIns="0" anchor="t">
            <a:noAutofit/>
          </a:bodyPr>
          <a:p>
            <a:pPr defTabSz="457200">
              <a:lnSpc>
                <a:spcPts val="1151"/>
              </a:lnSpc>
            </a:pP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defTabSz="457200">
              <a:lnSpc>
                <a:spcPts val="1151"/>
              </a:lnSpc>
              <a:spcBef>
                <a:spcPts val="167"/>
              </a:spcBef>
            </a:pP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defTabSz="457200">
              <a:lnSpc>
                <a:spcPts val="1154"/>
              </a:lnSpc>
              <a:spcBef>
                <a:spcPts val="167"/>
              </a:spcBef>
            </a:pPr>
            <a:r>
              <a:rPr lang="en-US" sz="1000" b="0" i="1" u="none" strike="noStrike">
                <a:solidFill>
                  <a:srgbClr val="000000"/>
                </a:solidFill>
                <a:effectLst/>
                <a:uFillTx/>
                <a:latin typeface="Arial"/>
              </a:rPr>
              <a:t>3.</a:t>
            </a:r>
            <a:endParaRPr lang="en-US" sz="1000" b="0" u="none" strike="noStrike">
              <a:solidFill>
                <a:srgbClr val="000000"/>
              </a:solidFill>
              <a:effectLst/>
              <a:uFillTx/>
              <a:latin typeface="Arial"/>
            </a:endParaRPr>
          </a:p>
        </p:txBody>
      </p:sp>
      <p:sp>
        <p:nvSpPr>
          <p:cNvPr id="980" name="TextBox 8"/>
          <p:cNvSpPr/>
          <p:nvPr/>
        </p:nvSpPr>
        <p:spPr>
          <a:xfrm>
            <a:off x="3926160" y="3254760"/>
            <a:ext cx="3074400" cy="47412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Assumptions we are making</a:t>
            </a:r>
            <a:endParaRPr lang="en-US" sz="1200" b="0" u="none" strike="noStrike">
              <a:solidFill>
                <a:srgbClr val="000000"/>
              </a:solidFill>
              <a:effectLst/>
              <a:uFillTx/>
              <a:latin typeface="Arial"/>
            </a:endParaRPr>
          </a:p>
          <a:p>
            <a:pPr defTabSz="457200">
              <a:lnSpc>
                <a:spcPts val="1199"/>
              </a:lnSpc>
              <a:spcBef>
                <a:spcPts val="43"/>
              </a:spcBef>
            </a:pPr>
            <a:r>
              <a:rPr lang="en-US" sz="1000" b="0" i="1" u="none" strike="noStrike">
                <a:solidFill>
                  <a:srgbClr val="000000"/>
                </a:solidFill>
                <a:effectLst/>
                <a:uFillTx/>
                <a:latin typeface="Arial"/>
              </a:rPr>
              <a:t>Document any assumptions about users, processes, or technology.</a:t>
            </a:r>
            <a:endParaRPr lang="en-US" sz="1000" b="0" u="none" strike="noStrike">
              <a:solidFill>
                <a:srgbClr val="000000"/>
              </a:solidFill>
              <a:effectLst/>
              <a:uFillTx/>
              <a:latin typeface="Arial"/>
            </a:endParaRPr>
          </a:p>
        </p:txBody>
      </p:sp>
      <p:sp>
        <p:nvSpPr>
          <p:cNvPr id="981" name="TextBox 9"/>
          <p:cNvSpPr/>
          <p:nvPr/>
        </p:nvSpPr>
        <p:spPr>
          <a:xfrm>
            <a:off x="7650360" y="3254760"/>
            <a:ext cx="2798640" cy="474120"/>
          </a:xfrm>
          <a:prstGeom prst="rect">
            <a:avLst/>
          </a:prstGeom>
          <a:noFill/>
          <a:ln w="0">
            <a:noFill/>
          </a:ln>
        </p:spPr>
        <p:style>
          <a:lnRef idx="0"/>
          <a:fillRef idx="0"/>
          <a:effectRef idx="0"/>
          <a:fontRef idx="minor"/>
        </p:style>
        <p:txBody>
          <a:bodyPr lIns="0" tIns="0" rIns="0" bIns="0" anchor="t">
            <a:noAutofit/>
          </a:bodyPr>
          <a:p>
            <a:pPr defTabSz="457200">
              <a:lnSpc>
                <a:spcPts val="1380"/>
              </a:lnSpc>
            </a:pPr>
            <a:r>
              <a:rPr lang="en-US" sz="1200" b="0" u="none" strike="noStrike">
                <a:solidFill>
                  <a:srgbClr val="0F62FE"/>
                </a:solidFill>
                <a:effectLst/>
                <a:uFillTx/>
                <a:latin typeface="Arial"/>
              </a:rPr>
              <a:t>Validation research</a:t>
            </a:r>
            <a:endParaRPr lang="en-US" sz="1200" b="0" u="none" strike="noStrike">
              <a:solidFill>
                <a:srgbClr val="000000"/>
              </a:solidFill>
              <a:effectLst/>
              <a:uFillTx/>
              <a:latin typeface="Arial"/>
            </a:endParaRPr>
          </a:p>
          <a:p>
            <a:pPr defTabSz="457200">
              <a:lnSpc>
                <a:spcPts val="1199"/>
              </a:lnSpc>
              <a:spcBef>
                <a:spcPts val="43"/>
              </a:spcBef>
            </a:pPr>
            <a:r>
              <a:rPr lang="en-US" sz="1000" b="0" i="1" u="none" strike="noStrike">
                <a:solidFill>
                  <a:srgbClr val="000000"/>
                </a:solidFill>
                <a:effectLst/>
                <a:uFillTx/>
                <a:latin typeface="Arial"/>
              </a:rPr>
              <a:t>List what tests are needed to gather information and/or validate assumptions</a:t>
            </a:r>
            <a:endParaRPr lang="en-US" sz="1000" b="0" u="none" strike="noStrike">
              <a:solidFill>
                <a:srgbClr val="000000"/>
              </a:solidFill>
              <a:effectLst/>
              <a:uFillTx/>
              <a:latin typeface="Arial"/>
            </a:endParaRPr>
          </a:p>
        </p:txBody>
      </p:sp>
      <p:sp>
        <p:nvSpPr>
          <p:cNvPr id="982" name="TextBox 10"/>
          <p:cNvSpPr/>
          <p:nvPr/>
        </p:nvSpPr>
        <p:spPr>
          <a:xfrm>
            <a:off x="7650360" y="3892320"/>
            <a:ext cx="335520" cy="597960"/>
          </a:xfrm>
          <a:prstGeom prst="rect">
            <a:avLst/>
          </a:prstGeom>
          <a:noFill/>
          <a:ln w="0">
            <a:noFill/>
          </a:ln>
        </p:spPr>
        <p:style>
          <a:lnRef idx="0"/>
          <a:fillRef idx="0"/>
          <a:effectRef idx="0"/>
          <a:fontRef idx="minor"/>
        </p:style>
        <p:txBody>
          <a:bodyPr lIns="0" tIns="0" rIns="0" bIns="0" anchor="t">
            <a:noAutofit/>
          </a:bodyPr>
          <a:p>
            <a:pPr marL="171360" indent="-171360" defTabSz="457200">
              <a:lnSpc>
                <a:spcPts val="1151"/>
              </a:lnSpc>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1.</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2.</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3.</a:t>
            </a:r>
            <a:endParaRPr lang="en-US" sz="1000" b="0" u="none" strike="noStrike">
              <a:solidFill>
                <a:srgbClr val="000000"/>
              </a:solidFill>
              <a:effectLst/>
              <a:uFillTx/>
              <a:latin typeface="Arial"/>
            </a:endParaRPr>
          </a:p>
          <a:p>
            <a:pPr marL="171360" indent="-171360" defTabSz="457200">
              <a:lnSpc>
                <a:spcPts val="1151"/>
              </a:lnSpc>
              <a:spcBef>
                <a:spcPts val="48"/>
              </a:spcBef>
              <a:tabLst>
                <a:tab pos="0" algn="l"/>
              </a:tabLst>
            </a:pPr>
            <a:r>
              <a:rPr lang="en-US" sz="1000" b="0" u="none" strike="noStrike">
                <a:solidFill>
                  <a:srgbClr val="000000"/>
                </a:solidFill>
                <a:effectLst/>
                <a:uFillTx/>
                <a:latin typeface="Arial"/>
              </a:rPr>
              <a:t>❑</a:t>
            </a:r>
            <a:r>
              <a:rPr lang="en-US" sz="1000" b="0" i="1" u="none" strike="noStrike">
                <a:solidFill>
                  <a:srgbClr val="000000"/>
                </a:solidFill>
                <a:effectLst/>
                <a:uFillTx/>
                <a:latin typeface="Arial"/>
              </a:rPr>
              <a:t>	</a:t>
            </a:r>
            <a:r>
              <a:rPr lang="en-US" sz="1000" b="0" i="1" u="none" strike="noStrike">
                <a:solidFill>
                  <a:srgbClr val="000000"/>
                </a:solidFill>
                <a:effectLst/>
                <a:uFillTx/>
                <a:latin typeface="Arial"/>
              </a:rPr>
              <a:t>…</a:t>
            </a:r>
            <a:endParaRPr lang="en-US" sz="1000" b="0" u="none" strike="noStrike">
              <a:solidFill>
                <a:srgbClr val="000000"/>
              </a:solidFill>
              <a:effectLst/>
              <a:uFillTx/>
              <a:latin typeface="Arial"/>
            </a:endParaRPr>
          </a:p>
        </p:txBody>
      </p:sp>
      <p:cxnSp>
        <p:nvCxnSpPr>
          <p:cNvPr id="983" name="Connector 11"/>
          <p:cNvCxnSpPr/>
          <p:nvPr/>
        </p:nvCxnSpPr>
        <p:spPr>
          <a:xfrm>
            <a:off x="3656880" y="3276360"/>
            <a:ext cx="720" cy="3040920"/>
          </a:xfrm>
          <a:prstGeom prst="straightConnector1">
            <a:avLst/>
          </a:prstGeom>
          <a:ln w="6349">
            <a:solidFill>
              <a:srgbClr val="000000"/>
            </a:solidFill>
            <a:round/>
          </a:ln>
        </p:spPr>
      </p:cxnSp>
      <p:cxnSp>
        <p:nvCxnSpPr>
          <p:cNvPr id="984" name="Connector 12"/>
          <p:cNvCxnSpPr/>
          <p:nvPr/>
        </p:nvCxnSpPr>
        <p:spPr>
          <a:xfrm>
            <a:off x="7381080" y="3276360"/>
            <a:ext cx="720" cy="3040920"/>
          </a:xfrm>
          <a:prstGeom prst="straightConnector1">
            <a:avLst/>
          </a:prstGeom>
          <a:ln w="6349">
            <a:solidFill>
              <a:srgbClr val="000000"/>
            </a:solidFill>
            <a:round/>
          </a:ln>
        </p:spPr>
      </p:cxnSp>
      <p:sp>
        <p:nvSpPr>
          <p:cNvPr id="985" name="Rectangle 13"/>
          <p:cNvSpPr/>
          <p:nvPr/>
        </p:nvSpPr>
        <p:spPr>
          <a:xfrm>
            <a:off x="5968080" y="280800"/>
            <a:ext cx="5935320" cy="454320"/>
          </a:xfrm>
          <a:prstGeom prst="rect">
            <a:avLst/>
          </a:prstGeom>
          <a:solidFill>
            <a:srgbClr val="F4F4F4"/>
          </a:solidFill>
          <a:ln w="0">
            <a:noFill/>
          </a:ln>
        </p:spPr>
        <p:style>
          <a:lnRef idx="0"/>
          <a:fillRef idx="0"/>
          <a:effectRef idx="0"/>
          <a:fontRef idx="minor"/>
        </p:style>
        <p:txBody>
          <a:bodyPr lIns="90000" tIns="45000" rIns="90000" bIns="45000" anchor="ctr">
            <a:noAutofit/>
          </a:bodyPr>
          <a:p>
            <a:pPr/>
            <a:endParaRPr lang="en-US" sz="1800" b="0" u="none" strike="noStrike">
              <a:solidFill>
                <a:schemeClr val="dk1"/>
              </a:solidFill>
              <a:effectLst/>
              <a:uFillTx/>
              <a:latin typeface="Calibri"/>
            </a:endParaRPr>
          </a:p>
        </p:txBody>
      </p:sp>
      <p:sp>
        <p:nvSpPr>
          <p:cNvPr id="986" name="TextBox 14"/>
          <p:cNvSpPr/>
          <p:nvPr/>
        </p:nvSpPr>
        <p:spPr>
          <a:xfrm>
            <a:off x="6014520" y="334800"/>
            <a:ext cx="5940720" cy="293400"/>
          </a:xfrm>
          <a:prstGeom prst="rect">
            <a:avLst/>
          </a:prstGeom>
          <a:noFill/>
          <a:ln w="0">
            <a:noFill/>
          </a:ln>
        </p:spPr>
        <p:style>
          <a:lnRef idx="0"/>
          <a:fillRef idx="0"/>
          <a:effectRef idx="0"/>
          <a:fontRef idx="minor"/>
        </p:style>
        <p:txBody>
          <a:bodyPr lIns="0" tIns="0" rIns="0" bIns="0" anchor="t">
            <a:noAutofit/>
          </a:bodyPr>
          <a:p>
            <a:pPr defTabSz="457200">
              <a:lnSpc>
                <a:spcPts val="1199"/>
              </a:lnSpc>
            </a:pPr>
            <a:r>
              <a:rPr lang="en-US" sz="1000" b="1" u="none" strike="noStrike">
                <a:solidFill>
                  <a:srgbClr val="000000"/>
                </a:solidFill>
                <a:effectLst/>
                <a:uFillTx/>
                <a:latin typeface="Arial"/>
              </a:rPr>
              <a:t>Tip: </a:t>
            </a:r>
            <a:r>
              <a:rPr lang="en-US" sz="1000" b="0" u="none" strike="noStrike">
                <a:solidFill>
                  <a:srgbClr val="000000"/>
                </a:solidFill>
                <a:effectLst/>
                <a:uFillTx/>
                <a:latin typeface="Arial"/>
              </a:rPr>
              <a:t>Validate technical decisions early with prototypes and stress tests. Ensure ethical and governance considerations are not an afterthought—they should be integrated into design from the start.</a:t>
            </a:r>
            <a:endParaRPr lang="en-US" sz="1000" b="0" u="none" strike="noStrike">
              <a:solidFill>
                <a:srgbClr val="000000"/>
              </a:solidFill>
              <a:effectLst/>
              <a:uFillTx/>
              <a:latin typeface="Arial"/>
            </a:endParaRPr>
          </a:p>
        </p:txBody>
      </p:sp>
      <p:sp>
        <p:nvSpPr>
          <p:cNvPr id="987" name="TextBox 15"/>
          <p:cNvSpPr/>
          <p:nvPr/>
        </p:nvSpPr>
        <p:spPr>
          <a:xfrm>
            <a:off x="845640" y="219600"/>
            <a:ext cx="4086720" cy="452160"/>
          </a:xfrm>
          <a:prstGeom prst="rect">
            <a:avLst/>
          </a:prstGeom>
          <a:noFill/>
          <a:ln w="0">
            <a:noFill/>
          </a:ln>
        </p:spPr>
        <p:style>
          <a:lnRef idx="0"/>
          <a:fillRef idx="0"/>
          <a:effectRef idx="0"/>
          <a:fontRef idx="minor"/>
        </p:style>
        <p:txBody>
          <a:bodyPr lIns="0" tIns="0" rIns="0" bIns="0" anchor="t">
            <a:noAutofit/>
          </a:bodyPr>
          <a:p>
            <a:pPr defTabSz="457200">
              <a:lnSpc>
                <a:spcPts val="3679"/>
              </a:lnSpc>
            </a:pPr>
            <a:r>
              <a:rPr lang="en-US" sz="3200" b="0" u="none" strike="noStrike">
                <a:solidFill>
                  <a:srgbClr val="000000"/>
                </a:solidFill>
                <a:effectLst/>
                <a:uFillTx/>
                <a:latin typeface="Arial"/>
              </a:rPr>
              <a:t> Checkpoint – Week 5</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8" name="TextBox 1"/>
          <p:cNvSpPr/>
          <p:nvPr/>
        </p:nvSpPr>
        <p:spPr>
          <a:xfrm>
            <a:off x="288000" y="3821040"/>
            <a:ext cx="3383280" cy="678960"/>
          </a:xfrm>
          <a:prstGeom prst="rect">
            <a:avLst/>
          </a:prstGeom>
          <a:noFill/>
          <a:ln w="0">
            <a:noFill/>
          </a:ln>
        </p:spPr>
        <p:style>
          <a:lnRef idx="0"/>
          <a:fillRef idx="0"/>
          <a:effectRef idx="0"/>
          <a:fontRef idx="minor"/>
        </p:style>
        <p:txBody>
          <a:bodyPr lIns="0" tIns="0" rIns="0" bIns="0" anchor="t">
            <a:noAutofit/>
          </a:bodyPr>
          <a:p>
            <a:pPr defTabSz="457200">
              <a:lnSpc>
                <a:spcPts val="5519"/>
              </a:lnSpc>
            </a:pPr>
            <a:r>
              <a:rPr lang="en-US" sz="4800" b="0" u="none" strike="noStrike">
                <a:solidFill>
                  <a:srgbClr val="000000"/>
                </a:solidFill>
                <a:effectLst/>
                <a:uFillTx/>
                <a:latin typeface="Arial"/>
              </a:rPr>
              <a:t>Good Luck!!</a:t>
            </a:r>
            <a:endParaRPr lang="en-US" sz="4800" b="0" u="none" strike="noStrike">
              <a:solidFill>
                <a:srgbClr val="000000"/>
              </a:solidFill>
              <a:effectLst/>
              <a:uFillTx/>
              <a:latin typeface="Arial"/>
            </a:endParaRPr>
          </a:p>
        </p:txBody>
      </p:sp>
      <p:sp>
        <p:nvSpPr>
          <p:cNvPr id="989" name="TextBox 2"/>
          <p:cNvSpPr/>
          <p:nvPr/>
        </p:nvSpPr>
        <p:spPr>
          <a:xfrm>
            <a:off x="11792160" y="6477120"/>
            <a:ext cx="146160" cy="112320"/>
          </a:xfrm>
          <a:prstGeom prst="rect">
            <a:avLst/>
          </a:prstGeom>
          <a:noFill/>
          <a:ln w="0">
            <a:noFill/>
          </a:ln>
        </p:spPr>
        <p:style>
          <a:lnRef idx="0"/>
          <a:fillRef idx="0"/>
          <a:effectRef idx="0"/>
          <a:fontRef idx="minor"/>
        </p:style>
        <p:txBody>
          <a:bodyPr lIns="0" tIns="0" rIns="0" bIns="0" anchor="t">
            <a:noAutofit/>
          </a:bodyPr>
          <a:p>
            <a:pPr defTabSz="457200">
              <a:lnSpc>
                <a:spcPts val="916"/>
              </a:lnSpc>
            </a:pPr>
            <a:r>
              <a:rPr lang="en-US" sz="800" b="0" u="none" strike="noStrike">
                <a:solidFill>
                  <a:srgbClr val="000000"/>
                </a:solidFill>
                <a:effectLst/>
                <a:uFillTx/>
                <a:latin typeface="Arial"/>
              </a:rPr>
              <a:t>48</a:t>
            </a:r>
            <a:endParaRPr lang="en-US" sz="800" b="0" u="none" strike="noStrike">
              <a:solidFill>
                <a:srgbClr val="000000"/>
              </a:solidFill>
              <a:effectLst/>
              <a:uFillTx/>
              <a:latin typeface="Arial"/>
            </a:endParaRPr>
          </a:p>
        </p:txBody>
      </p:sp>
      <p:pic>
        <p:nvPicPr>
          <p:cNvPr id="990" name="Picture 3" descr="image.png"/>
          <p:cNvPicPr/>
          <p:nvPr/>
        </p:nvPicPr>
        <p:blipFill>
          <a:blip r:embed="rId1"/>
          <a:stretch/>
        </p:blipFill>
        <p:spPr>
          <a:xfrm>
            <a:off x="287280" y="220680"/>
            <a:ext cx="4187160" cy="2993040"/>
          </a:xfrm>
          <a:prstGeom prst="rect">
            <a:avLst/>
          </a:prstGeom>
          <a:noFill/>
          <a:ln w="0">
            <a:noFill/>
          </a:ln>
        </p:spPr>
      </p:pic>
      <p:sp>
        <p:nvSpPr>
          <p:cNvPr id="991" name="TextBox 4"/>
          <p:cNvSpPr/>
          <p:nvPr/>
        </p:nvSpPr>
        <p:spPr>
          <a:xfrm>
            <a:off x="4724640" y="248040"/>
            <a:ext cx="3616200" cy="424080"/>
          </a:xfrm>
          <a:prstGeom prst="rect">
            <a:avLst/>
          </a:prstGeom>
          <a:noFill/>
          <a:ln w="0">
            <a:noFill/>
          </a:ln>
        </p:spPr>
        <p:style>
          <a:lnRef idx="0"/>
          <a:fillRef idx="0"/>
          <a:effectRef idx="0"/>
          <a:fontRef idx="minor"/>
        </p:style>
        <p:txBody>
          <a:bodyPr lIns="0" tIns="0" rIns="0" bIns="0" anchor="t">
            <a:noAutofit/>
          </a:bodyPr>
          <a:p>
            <a:pPr defTabSz="457200">
              <a:lnSpc>
                <a:spcPts val="3450"/>
              </a:lnSpc>
            </a:pPr>
            <a:r>
              <a:rPr lang="en-US" sz="3000" b="0" u="none" strike="noStrike">
                <a:solidFill>
                  <a:srgbClr val="000000"/>
                </a:solidFill>
                <a:effectLst/>
                <a:uFillTx/>
                <a:latin typeface="Arial"/>
              </a:rPr>
              <a:t>Continue the journey</a:t>
            </a:r>
            <a:endParaRPr lang="en-US" sz="3000" b="0" u="none" strike="noStrike">
              <a:solidFill>
                <a:srgbClr val="000000"/>
              </a:solidFill>
              <a:effectLst/>
              <a:uFillTx/>
              <a:latin typeface="Arial"/>
            </a:endParaRPr>
          </a:p>
        </p:txBody>
      </p:sp>
      <p:sp>
        <p:nvSpPr>
          <p:cNvPr id="992" name="TextBox 5"/>
          <p:cNvSpPr/>
          <p:nvPr/>
        </p:nvSpPr>
        <p:spPr>
          <a:xfrm>
            <a:off x="4724640" y="969480"/>
            <a:ext cx="112680" cy="25416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0" u="none" strike="noStrike">
                <a:solidFill>
                  <a:srgbClr val="000000"/>
                </a:solidFill>
                <a:effectLst/>
                <a:uFillTx/>
                <a:latin typeface="Arial"/>
              </a:rPr>
              <a:t>•</a:t>
            </a:r>
            <a:endParaRPr lang="en-US" sz="1800" b="0" u="none" strike="noStrike">
              <a:solidFill>
                <a:srgbClr val="000000"/>
              </a:solidFill>
              <a:effectLst/>
              <a:uFillTx/>
              <a:latin typeface="Arial"/>
            </a:endParaRPr>
          </a:p>
        </p:txBody>
      </p:sp>
      <p:sp>
        <p:nvSpPr>
          <p:cNvPr id="993" name="TextBox 6"/>
          <p:cNvSpPr/>
          <p:nvPr/>
        </p:nvSpPr>
        <p:spPr>
          <a:xfrm>
            <a:off x="5153760" y="969480"/>
            <a:ext cx="1313640" cy="25416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1" i="1" u="none" strike="noStrike">
                <a:solidFill>
                  <a:srgbClr val="000000"/>
                </a:solidFill>
                <a:effectLst/>
                <a:uFillTx/>
                <a:latin typeface="Arial"/>
              </a:rPr>
              <a:t>Weeks 6-8: </a:t>
            </a:r>
            <a:endParaRPr lang="en-US" sz="1800" b="0" u="none" strike="noStrike">
              <a:solidFill>
                <a:srgbClr val="000000"/>
              </a:solidFill>
              <a:effectLst/>
              <a:uFillTx/>
              <a:latin typeface="Arial"/>
            </a:endParaRPr>
          </a:p>
        </p:txBody>
      </p:sp>
      <p:sp>
        <p:nvSpPr>
          <p:cNvPr id="994" name="TextBox 7"/>
          <p:cNvSpPr/>
          <p:nvPr/>
        </p:nvSpPr>
        <p:spPr>
          <a:xfrm>
            <a:off x="5639040" y="1243440"/>
            <a:ext cx="112680" cy="254160"/>
          </a:xfrm>
          <a:prstGeom prst="rect">
            <a:avLst/>
          </a:prstGeom>
          <a:noFill/>
          <a:ln w="0">
            <a:noFill/>
          </a:ln>
        </p:spPr>
        <p:style>
          <a:lnRef idx="0"/>
          <a:fillRef idx="0"/>
          <a:effectRef idx="0"/>
          <a:fontRef idx="minor"/>
        </p:style>
        <p:txBody>
          <a:bodyPr lIns="0" tIns="0" rIns="0" bIns="0" anchor="t">
            <a:noAutofit/>
          </a:bodyPr>
          <a:p>
            <a:pPr defTabSz="457200">
              <a:lnSpc>
                <a:spcPts val="2072"/>
              </a:lnSpc>
            </a:pPr>
            <a:r>
              <a:rPr lang="en-US" sz="1800" b="0" u="none" strike="noStrike">
                <a:solidFill>
                  <a:srgbClr val="000000"/>
                </a:solidFill>
                <a:effectLst/>
                <a:uFillTx/>
                <a:latin typeface="Arial"/>
              </a:rPr>
              <a:t>•</a:t>
            </a:r>
            <a:endParaRPr lang="en-US" sz="1800" b="0" u="none" strike="noStrike">
              <a:solidFill>
                <a:srgbClr val="000000"/>
              </a:solidFill>
              <a:effectLst/>
              <a:uFillTx/>
              <a:latin typeface="Arial"/>
            </a:endParaRPr>
          </a:p>
        </p:txBody>
      </p:sp>
      <p:sp>
        <p:nvSpPr>
          <p:cNvPr id="995" name="TextBox 8"/>
          <p:cNvSpPr/>
          <p:nvPr/>
        </p:nvSpPr>
        <p:spPr>
          <a:xfrm>
            <a:off x="6068160" y="1243440"/>
            <a:ext cx="3049560" cy="253800"/>
          </a:xfrm>
          <a:prstGeom prst="rect">
            <a:avLst/>
          </a:prstGeom>
          <a:noFill/>
          <a:ln w="0">
            <a:noFill/>
          </a:ln>
        </p:spPr>
        <p:style>
          <a:lnRef idx="0"/>
          <a:fillRef idx="0"/>
          <a:effectRef idx="0"/>
          <a:fontRef idx="minor"/>
        </p:style>
        <p:txBody>
          <a:bodyPr lIns="0" tIns="0" rIns="0" bIns="0" anchor="t">
            <a:noAutofit/>
          </a:bodyPr>
          <a:p>
            <a:pPr defTabSz="457200">
              <a:lnSpc>
                <a:spcPts val="2072"/>
              </a:lnSpc>
            </a:pPr>
            <a:r>
              <a:rPr lang="en-US" sz="1800" b="0" i="1" u="none" strike="noStrike">
                <a:solidFill>
                  <a:srgbClr val="000000"/>
                </a:solidFill>
                <a:effectLst/>
                <a:uFillTx/>
                <a:latin typeface="Arial"/>
              </a:rPr>
              <a:t>Implement the technical work</a:t>
            </a:r>
            <a:endParaRPr lang="en-US" sz="1800" b="0" u="none" strike="noStrike">
              <a:solidFill>
                <a:srgbClr val="000000"/>
              </a:solidFill>
              <a:effectLst/>
              <a:uFillTx/>
              <a:latin typeface="Arial"/>
            </a:endParaRPr>
          </a:p>
        </p:txBody>
      </p:sp>
      <p:sp>
        <p:nvSpPr>
          <p:cNvPr id="996" name="TextBox 9"/>
          <p:cNvSpPr/>
          <p:nvPr/>
        </p:nvSpPr>
        <p:spPr>
          <a:xfrm>
            <a:off x="5639040" y="1518120"/>
            <a:ext cx="112680" cy="25416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0" u="none" strike="noStrike">
                <a:solidFill>
                  <a:srgbClr val="000000"/>
                </a:solidFill>
                <a:effectLst/>
                <a:uFillTx/>
                <a:latin typeface="Arial"/>
              </a:rPr>
              <a:t>•</a:t>
            </a:r>
            <a:endParaRPr lang="en-US" sz="1800" b="0" u="none" strike="noStrike">
              <a:solidFill>
                <a:srgbClr val="000000"/>
              </a:solidFill>
              <a:effectLst/>
              <a:uFillTx/>
              <a:latin typeface="Arial"/>
            </a:endParaRPr>
          </a:p>
        </p:txBody>
      </p:sp>
      <p:sp>
        <p:nvSpPr>
          <p:cNvPr id="997" name="TextBox 10"/>
          <p:cNvSpPr/>
          <p:nvPr/>
        </p:nvSpPr>
        <p:spPr>
          <a:xfrm>
            <a:off x="6068160" y="1518120"/>
            <a:ext cx="2842200" cy="25380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0" i="1" u="none" strike="noStrike">
                <a:solidFill>
                  <a:srgbClr val="000000"/>
                </a:solidFill>
                <a:effectLst/>
                <a:uFillTx/>
                <a:latin typeface="Arial"/>
              </a:rPr>
              <a:t>Ensure depth &amp; robustness</a:t>
            </a:r>
            <a:endParaRPr lang="en-US" sz="1800" b="0" u="none" strike="noStrike">
              <a:solidFill>
                <a:srgbClr val="000000"/>
              </a:solidFill>
              <a:effectLst/>
              <a:uFillTx/>
              <a:latin typeface="Arial"/>
            </a:endParaRPr>
          </a:p>
        </p:txBody>
      </p:sp>
      <p:sp>
        <p:nvSpPr>
          <p:cNvPr id="998" name="TextBox 11"/>
          <p:cNvSpPr/>
          <p:nvPr/>
        </p:nvSpPr>
        <p:spPr>
          <a:xfrm>
            <a:off x="5639040" y="1792440"/>
            <a:ext cx="112680" cy="25416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0" u="none" strike="noStrike">
                <a:solidFill>
                  <a:srgbClr val="000000"/>
                </a:solidFill>
                <a:effectLst/>
                <a:uFillTx/>
                <a:latin typeface="Arial"/>
              </a:rPr>
              <a:t>•</a:t>
            </a:r>
            <a:endParaRPr lang="en-US" sz="1800" b="0" u="none" strike="noStrike">
              <a:solidFill>
                <a:srgbClr val="000000"/>
              </a:solidFill>
              <a:effectLst/>
              <a:uFillTx/>
              <a:latin typeface="Arial"/>
            </a:endParaRPr>
          </a:p>
        </p:txBody>
      </p:sp>
      <p:sp>
        <p:nvSpPr>
          <p:cNvPr id="999" name="TextBox 12"/>
          <p:cNvSpPr/>
          <p:nvPr/>
        </p:nvSpPr>
        <p:spPr>
          <a:xfrm>
            <a:off x="6068160" y="1792440"/>
            <a:ext cx="3373200" cy="253800"/>
          </a:xfrm>
          <a:prstGeom prst="rect">
            <a:avLst/>
          </a:prstGeom>
          <a:noFill/>
          <a:ln w="0">
            <a:noFill/>
          </a:ln>
        </p:spPr>
        <p:style>
          <a:lnRef idx="0"/>
          <a:fillRef idx="0"/>
          <a:effectRef idx="0"/>
          <a:fontRef idx="minor"/>
        </p:style>
        <p:txBody>
          <a:bodyPr lIns="0" tIns="0" rIns="0" bIns="0" anchor="t">
            <a:noAutofit/>
          </a:bodyPr>
          <a:p>
            <a:pPr defTabSz="457200">
              <a:lnSpc>
                <a:spcPts val="2069"/>
              </a:lnSpc>
            </a:pPr>
            <a:r>
              <a:rPr lang="en-US" sz="1800" b="0" i="1" u="none" strike="noStrike">
                <a:solidFill>
                  <a:srgbClr val="000000"/>
                </a:solidFill>
                <a:effectLst/>
                <a:uFillTx/>
                <a:latin typeface="Arial"/>
              </a:rPr>
              <a:t>Carry out user testing &amp; iteration</a:t>
            </a:r>
            <a:endParaRPr lang="en-US" sz="1800" b="0" u="none" strike="noStrike">
              <a:solidFill>
                <a:srgbClr val="000000"/>
              </a:solidFill>
              <a:effectLst/>
              <a:uFillTx/>
              <a:latin typeface="Arial"/>
            </a:endParaRPr>
          </a:p>
        </p:txBody>
      </p:sp>
      <p:sp>
        <p:nvSpPr>
          <p:cNvPr id="1000" name="TextBox 13"/>
          <p:cNvSpPr/>
          <p:nvPr/>
        </p:nvSpPr>
        <p:spPr>
          <a:xfrm>
            <a:off x="4724640" y="2340720"/>
            <a:ext cx="112680" cy="254160"/>
          </a:xfrm>
          <a:prstGeom prst="rect">
            <a:avLst/>
          </a:prstGeom>
          <a:noFill/>
          <a:ln w="0">
            <a:noFill/>
          </a:ln>
        </p:spPr>
        <p:style>
          <a:lnRef idx="0"/>
          <a:fillRef idx="0"/>
          <a:effectRef idx="0"/>
          <a:fontRef idx="minor"/>
        </p:style>
        <p:txBody>
          <a:bodyPr lIns="0" tIns="0" rIns="0" bIns="0" anchor="t">
            <a:noAutofit/>
          </a:bodyPr>
          <a:p>
            <a:pPr defTabSz="457200">
              <a:lnSpc>
                <a:spcPts val="2072"/>
              </a:lnSpc>
            </a:pPr>
            <a:r>
              <a:rPr lang="en-US" sz="1800" b="0" u="none" strike="noStrike">
                <a:solidFill>
                  <a:srgbClr val="000000"/>
                </a:solidFill>
                <a:effectLst/>
                <a:uFillTx/>
                <a:latin typeface="Arial"/>
              </a:rPr>
              <a:t>•</a:t>
            </a:r>
            <a:endParaRPr lang="en-US" sz="1800" b="0" u="none" strike="noStrike">
              <a:solidFill>
                <a:srgbClr val="000000"/>
              </a:solidFill>
              <a:effectLst/>
              <a:uFillTx/>
              <a:latin typeface="Arial"/>
            </a:endParaRPr>
          </a:p>
        </p:txBody>
      </p:sp>
      <p:sp>
        <p:nvSpPr>
          <p:cNvPr id="1001" name="TextBox 14"/>
          <p:cNvSpPr/>
          <p:nvPr/>
        </p:nvSpPr>
        <p:spPr>
          <a:xfrm>
            <a:off x="5153760" y="2340720"/>
            <a:ext cx="6029640" cy="254160"/>
          </a:xfrm>
          <a:prstGeom prst="rect">
            <a:avLst/>
          </a:prstGeom>
          <a:noFill/>
          <a:ln w="0">
            <a:noFill/>
          </a:ln>
        </p:spPr>
        <p:style>
          <a:lnRef idx="0"/>
          <a:fillRef idx="0"/>
          <a:effectRef idx="0"/>
          <a:fontRef idx="minor"/>
        </p:style>
        <p:txBody>
          <a:bodyPr lIns="0" tIns="0" rIns="0" bIns="0" anchor="t">
            <a:noAutofit/>
          </a:bodyPr>
          <a:p>
            <a:pPr defTabSz="457200">
              <a:lnSpc>
                <a:spcPts val="2072"/>
              </a:lnSpc>
            </a:pPr>
            <a:r>
              <a:rPr lang="en-US" sz="1800" b="1" i="1" u="none" strike="noStrike">
                <a:solidFill>
                  <a:srgbClr val="000000"/>
                </a:solidFill>
                <a:effectLst/>
                <a:uFillTx/>
                <a:latin typeface="Arial"/>
              </a:rPr>
              <a:t>Weeks 9-10:</a:t>
            </a:r>
            <a:r>
              <a:rPr lang="en-US" sz="1800" b="0" i="1" u="none" strike="noStrike">
                <a:solidFill>
                  <a:srgbClr val="000000"/>
                </a:solidFill>
                <a:effectLst/>
                <a:uFillTx/>
                <a:latin typeface="Arial"/>
              </a:rPr>
              <a:t> Prepare and finalise your project submission</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TotalTime>
  <Application>LibreOffice/26.8.0.3$Linux_X86_64 LibreOffice_project/680$Build-3</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2026-09-22T21:45:24Z</dcterms:modified>
  <cp:revision>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